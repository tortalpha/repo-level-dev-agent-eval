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c066b3282624760" /><Relationship Type="http://schemas.openxmlformats.org/officeDocument/2006/relationships/extended-properties" Target="/docProps/app.xml" Id="R129799bba070492c" /><Relationship Type="http://schemas.openxmlformats.org/officeDocument/2006/relationships/officeDocument" Target="/ppt/presentation.xml" Id="R4c5737076e2b4e22" /></Relationships>
</file>

<file path=ppt/presentation.xml><?xml version="1.0" encoding="utf-8"?>
<p:presentation xmlns:p="http://schemas.openxmlformats.org/presentationml/2006/main">
  <p:sldMasterIdLst>
    <p:sldMasterId xmlns:r="http://schemas.openxmlformats.org/officeDocument/2006/relationships" id="2147483648" r:id="R012e0c824e4f431a"/>
  </p:sldMasterIdLst>
  <p:notesMasterIdLst>
    <p:notesMasterId xmlns:r="http://schemas.openxmlformats.org/officeDocument/2006/relationships" r:id="Rc91587ad0be845a8"/>
  </p:notesMasterIdLst>
  <p:sldIdLst>
    <p:sldId xmlns:r="http://schemas.openxmlformats.org/officeDocument/2006/relationships" id="256" r:id="R2ba279ed42e3481c"/>
    <p:sldId xmlns:r="http://schemas.openxmlformats.org/officeDocument/2006/relationships" id="257" r:id="R88528525ea3b4a1b"/>
    <p:sldId xmlns:r="http://schemas.openxmlformats.org/officeDocument/2006/relationships" id="258" r:id="Re3f5a4c0f62548bd"/>
    <p:sldId xmlns:r="http://schemas.openxmlformats.org/officeDocument/2006/relationships" id="259" r:id="R96be3c70d878495c"/>
    <p:sldId xmlns:r="http://schemas.openxmlformats.org/officeDocument/2006/relationships" id="260" r:id="Rbced4ca47a714833"/>
    <p:sldId xmlns:r="http://schemas.openxmlformats.org/officeDocument/2006/relationships" id="261" r:id="R03a8c5ed902b496e"/>
    <p:sldId xmlns:r="http://schemas.openxmlformats.org/officeDocument/2006/relationships" id="262" r:id="R900a9499f3914da4"/>
    <p:sldId xmlns:r="http://schemas.openxmlformats.org/officeDocument/2006/relationships" id="263" r:id="Rc6109dfe10444592"/>
    <p:sldId xmlns:r="http://schemas.openxmlformats.org/officeDocument/2006/relationships" id="264" r:id="R74e3e371d52640ea"/>
    <p:sldId xmlns:r="http://schemas.openxmlformats.org/officeDocument/2006/relationships" id="265" r:id="R58afccf2db214f7d"/>
    <p:sldId xmlns:r="http://schemas.openxmlformats.org/officeDocument/2006/relationships" id="266" r:id="R4de083c221c04659"/>
    <p:sldId xmlns:r="http://schemas.openxmlformats.org/officeDocument/2006/relationships" id="267" r:id="Rae2530323ca2486c"/>
    <p:sldId xmlns:r="http://schemas.openxmlformats.org/officeDocument/2006/relationships" id="268" r:id="Rf9ee1c0cba57413a"/>
    <p:sldId xmlns:r="http://schemas.openxmlformats.org/officeDocument/2006/relationships" id="269" r:id="Rfe8825ed64e643f0"/>
    <p:sldId xmlns:r="http://schemas.openxmlformats.org/officeDocument/2006/relationships" id="270" r:id="Rff6a897ba3434c1d"/>
    <p:sldId xmlns:r="http://schemas.openxmlformats.org/officeDocument/2006/relationships" id="271" r:id="R6d6b3540c2534c5a"/>
    <p:sldId xmlns:r="http://schemas.openxmlformats.org/officeDocument/2006/relationships" id="272" r:id="Re29430d306fa4ab0"/>
    <p:sldId xmlns:r="http://schemas.openxmlformats.org/officeDocument/2006/relationships" id="273" r:id="R6cd41606449f4f6b"/>
    <p:sldId xmlns:r="http://schemas.openxmlformats.org/officeDocument/2006/relationships" id="274" r:id="Rec8b2030435b4e4b"/>
    <p:sldId xmlns:r="http://schemas.openxmlformats.org/officeDocument/2006/relationships" id="275" r:id="R95d2a2da99944a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ea454bf455495c" /><Relationship Type="http://schemas.openxmlformats.org/officeDocument/2006/relationships/slideMaster" Target="/ppt/slideMasters/slideMaster1.xml" Id="R012e0c824e4f431a" /><Relationship Type="http://schemas.openxmlformats.org/officeDocument/2006/relationships/notesMaster" Target="/ppt/notesMasters/notesMaster1.xml" Id="Rc91587ad0be845a8" /><Relationship Type="http://schemas.openxmlformats.org/officeDocument/2006/relationships/presProps" Target="/ppt/presProps.xml" Id="R92673f2d4c464f45" /><Relationship Type="http://schemas.openxmlformats.org/officeDocument/2006/relationships/tableStyles" Target="/ppt/tableStyles.xml" Id="R8a4f36ece3df481e" /><Relationship Type="http://schemas.openxmlformats.org/officeDocument/2006/relationships/slide" Target="/ppt/slides/slide1.xml" Id="R2ba279ed42e3481c" /><Relationship Type="http://schemas.openxmlformats.org/officeDocument/2006/relationships/slide" Target="/ppt/slides/slide2.xml" Id="R88528525ea3b4a1b" /><Relationship Type="http://schemas.openxmlformats.org/officeDocument/2006/relationships/slide" Target="/ppt/slides/slide3.xml" Id="Re3f5a4c0f62548bd" /><Relationship Type="http://schemas.openxmlformats.org/officeDocument/2006/relationships/slide" Target="/ppt/slides/slide4.xml" Id="R96be3c70d878495c" /><Relationship Type="http://schemas.openxmlformats.org/officeDocument/2006/relationships/slide" Target="/ppt/slides/slide5.xml" Id="Rbced4ca47a714833" /><Relationship Type="http://schemas.openxmlformats.org/officeDocument/2006/relationships/slide" Target="/ppt/slides/slide6.xml" Id="R03a8c5ed902b496e" /><Relationship Type="http://schemas.openxmlformats.org/officeDocument/2006/relationships/slide" Target="/ppt/slides/slide7.xml" Id="R900a9499f3914da4" /><Relationship Type="http://schemas.openxmlformats.org/officeDocument/2006/relationships/slide" Target="/ppt/slides/slide8.xml" Id="Rc6109dfe10444592" /><Relationship Type="http://schemas.openxmlformats.org/officeDocument/2006/relationships/slide" Target="/ppt/slides/slide9.xml" Id="R74e3e371d52640ea" /><Relationship Type="http://schemas.openxmlformats.org/officeDocument/2006/relationships/slide" Target="/ppt/slides/slide10.xml" Id="R58afccf2db214f7d" /><Relationship Type="http://schemas.openxmlformats.org/officeDocument/2006/relationships/slide" Target="/ppt/slides/slide11.xml" Id="R4de083c221c04659" /><Relationship Type="http://schemas.openxmlformats.org/officeDocument/2006/relationships/slide" Target="/ppt/slides/slide12.xml" Id="Rae2530323ca2486c" /><Relationship Type="http://schemas.openxmlformats.org/officeDocument/2006/relationships/slide" Target="/ppt/slides/slide13.xml" Id="Rf9ee1c0cba57413a" /><Relationship Type="http://schemas.openxmlformats.org/officeDocument/2006/relationships/slide" Target="/ppt/slides/slide14.xml" Id="Rfe8825ed64e643f0" /><Relationship Type="http://schemas.openxmlformats.org/officeDocument/2006/relationships/slide" Target="/ppt/slides/slide15.xml" Id="Rff6a897ba3434c1d" /><Relationship Type="http://schemas.openxmlformats.org/officeDocument/2006/relationships/slide" Target="/ppt/slides/slide16.xml" Id="R6d6b3540c2534c5a" /><Relationship Type="http://schemas.openxmlformats.org/officeDocument/2006/relationships/slide" Target="/ppt/slides/slide17.xml" Id="Re29430d306fa4ab0" /><Relationship Type="http://schemas.openxmlformats.org/officeDocument/2006/relationships/slide" Target="/ppt/slides/slide18.xml" Id="R6cd41606449f4f6b" /><Relationship Type="http://schemas.openxmlformats.org/officeDocument/2006/relationships/slide" Target="/ppt/slides/slide19.xml" Id="Rec8b2030435b4e4b" /><Relationship Type="http://schemas.openxmlformats.org/officeDocument/2006/relationships/slide" Target="/ppt/slides/slide20.xml" Id="R95d2a2da99944a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245d6650a645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Research">
      <a:dk1>
        <a:srgbClr val="000000"/>
      </a:dk1>
      <a:lt1>
        <a:srgbClr val="FFFFFF"/>
      </a:lt1>
      <a:dk2>
        <a:srgbClr val="14243A"/>
      </a:dk2>
      <a:lt2>
        <a:srgbClr val="DCE2E9"/>
      </a:lt2>
      <a:accent1>
        <a:srgbClr val="2468C9"/>
      </a:accent1>
      <a:accent2>
        <a:srgbClr val="D27820"/>
      </a:accent2>
      <a:accent3>
        <a:srgbClr val="147D75"/>
      </a:accent3>
      <a:accent4>
        <a:srgbClr val="A44D51"/>
      </a:accent4>
      <a:accent5>
        <a:srgbClr val="705DA6"/>
      </a:accent5>
      <a:accent6>
        <a:srgbClr val="8093A8"/>
      </a:accent6>
      <a:hlink>
        <a:srgbClr val="2468C9"/>
      </a:hlink>
      <a:folHlink>
        <a:srgbClr val="705DA6"/>
      </a:folHlink>
    </a:clrScheme>
    <a:fontScheme name="Office">
      <a:majorFont>
        <a:latin typeface="Calibri Light"/>
        <a:ea typeface="Calibri Light"/>
        <a:cs typeface="Calibri Light"/>
      </a:majorFont>
      <a:minorFont>
        <a:latin typeface="Calibri"/>
        <a:ea typeface="Calibri"/>
        <a:cs typeface="Calibri"/>
      </a:minorFont>
    </a:fontScheme>
    <a:fmtScheme name="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abf6989ae845a3" /><Relationship Type="http://schemas.openxmlformats.org/officeDocument/2006/relationships/notesMaster" Target="/ppt/notesMasters/notesMaster1.xml" Id="R7f909b6ee0e04e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3b33d688c4473e" /><Relationship Type="http://schemas.openxmlformats.org/officeDocument/2006/relationships/notesMaster" Target="/ppt/notesMasters/notesMaster1.xml" Id="Rabc8cf621d2849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dcbb69640f45a8" /><Relationship Type="http://schemas.openxmlformats.org/officeDocument/2006/relationships/notesMaster" Target="/ppt/notesMasters/notesMaster1.xml" Id="Rc70ef70937bc47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dd0b7e63804a80" /><Relationship Type="http://schemas.openxmlformats.org/officeDocument/2006/relationships/notesMaster" Target="/ppt/notesMasters/notesMaster1.xml" Id="R8474ddf737484d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71a5820cfd4ca9" /><Relationship Type="http://schemas.openxmlformats.org/officeDocument/2006/relationships/notesMaster" Target="/ppt/notesMasters/notesMaster1.xml" Id="Ra84bedbc9dcd47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87c2f2b9fd4fa9" /><Relationship Type="http://schemas.openxmlformats.org/officeDocument/2006/relationships/notesMaster" Target="/ppt/notesMasters/notesMaster1.xml" Id="Rfcd5a19ade3e49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8514c1ee714931" /><Relationship Type="http://schemas.openxmlformats.org/officeDocument/2006/relationships/notesMaster" Target="/ppt/notesMasters/notesMaster1.xml" Id="R245ea179d3344d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eedc61cc3a4965" /><Relationship Type="http://schemas.openxmlformats.org/officeDocument/2006/relationships/notesMaster" Target="/ppt/notesMasters/notesMaster1.xml" Id="R91855dc5c1e346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593688001a4f24" /><Relationship Type="http://schemas.openxmlformats.org/officeDocument/2006/relationships/notesMaster" Target="/ppt/notesMasters/notesMaster1.xml" Id="Rd5b48e56356f41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1c2a680c5e4dd3" /><Relationship Type="http://schemas.openxmlformats.org/officeDocument/2006/relationships/notesMaster" Target="/ppt/notesMasters/notesMaster1.xml" Id="Rf190585a1dbb42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4b72a53cdbc4b92" /><Relationship Type="http://schemas.openxmlformats.org/officeDocument/2006/relationships/notesMaster" Target="/ppt/notesMasters/notesMaster1.xml" Id="Re3965c9bd1e04c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39227f79f14636" /><Relationship Type="http://schemas.openxmlformats.org/officeDocument/2006/relationships/notesMaster" Target="/ppt/notesMasters/notesMaster1.xml" Id="R5f89ca81c7f74a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b00a81e3a84200" /><Relationship Type="http://schemas.openxmlformats.org/officeDocument/2006/relationships/notesMaster" Target="/ppt/notesMasters/notesMaster1.xml" Id="Rd893524d6aa34e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05186eea774c68" /><Relationship Type="http://schemas.openxmlformats.org/officeDocument/2006/relationships/notesMaster" Target="/ppt/notesMasters/notesMaster1.xml" Id="Ra8f5dfa74fe5406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241da081b4b42d4" /><Relationship Type="http://schemas.openxmlformats.org/officeDocument/2006/relationships/notesMaster" Target="/ppt/notesMasters/notesMaster1.xml" Id="R26dbc2330ac247f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22c86b11a4c406e" /><Relationship Type="http://schemas.openxmlformats.org/officeDocument/2006/relationships/notesMaster" Target="/ppt/notesMasters/notesMaster1.xml" Id="R76b6ad83d9e9436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9f7b329bada4f80" /><Relationship Type="http://schemas.openxmlformats.org/officeDocument/2006/relationships/notesMaster" Target="/ppt/notesMasters/notesMaster1.xml" Id="R5042cb186953458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1e256e94107406a" /><Relationship Type="http://schemas.openxmlformats.org/officeDocument/2006/relationships/notesMaster" Target="/ppt/notesMasters/notesMaster1.xml" Id="R8460d86f17894da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3e845ec1f4d4bbc" /><Relationship Type="http://schemas.openxmlformats.org/officeDocument/2006/relationships/notesMaster" Target="/ppt/notesMasters/notesMaster1.xml" Id="R222b73eb52444fe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6d5daa787e549ea" /><Relationship Type="http://schemas.openxmlformats.org/officeDocument/2006/relationships/notesMaster" Target="/ppt/notesMasters/notesMaster1.xml" Id="Rff400c2345db4e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project evaluates single-agent and multi-agent LLM architectures for autonomous software development at repository level. The defense primarily covers origin/master at commit 8da3f3f. I will also show a separately labeled extension from kernel/v2. The question is whether specialized roles improve the final solution enough to justify their resource cost. The contribution is an executable evaluation framework and an empirical comparison, rather than training a new language model.</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/Users/tortalpha/.codex/visualizations/2026/09/04/01a06dd1-979e-7b72-a300-c6b646057748/defense-master/source/README.md</a:t>
            </a:r>
          </a:p>
          <a:p xmlns:a="http://schemas.openxmlformats.org/drawingml/2006/main">
            <a:r>
              <a:t>/Users/tortalpha/.codex/visualizations/2026/09/04/01a06dd1-979e-7b72-a300-c6b646057748/defense-master/source/docs/final_benchmark_results.md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hypothesis was that a single agent would be more cost-effective on simple tasks, while specialized roles would become more useful as complexity increased. Existing research argues that a strong single-agent baseline can match homogeneous multi-agent workflows when computation and context are considered. This project examines that question in an existing repository, where the agent must find files, modify code, run tests, and repair failures. These are hypotheses and motivations, not conclusions established in advance.</a:t>
            </a:r>
          </a:p>
          <a:p xmlns:a="http://schemas.openxmlformats.org/drawingml/2006/main">
            <a:r>
              <a:t/>
            </a:r>
          </a:p>
          <a:p xmlns:a="http://schemas.openxmlformats.org/drawingml/2006/main">
            <a:r>
              <a:t>Sources:</a:t>
            </a:r>
          </a:p>
          <a:p xmlns:a="http://schemas.openxmlformats.org/drawingml/2006/main">
            <a:r>
              <a:t>https://arxiv.org/abs/2601.12307</a:t>
            </a:r>
          </a:p>
          <a:p xmlns:a="http://schemas.openxmlformats.org/drawingml/2006/main">
            <a:r>
              <a:t>https://arxiv.org/abs/2604.02460</a:t>
            </a:r>
          </a:p>
          <a:p xmlns:a="http://schemas.openxmlformats.org/drawingml/2006/main">
            <a:r>
              <a:t>/Users/tortalpha/.codex/visualizations/2026/09/04/01a06dd1-979e-7b72-a300-c6b646057748/defense-master/source/docs/spec.md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run starts from a task description and an initial repository state. The model proposes structured actions. File tools operate within the working repository, while shell commands and tests run in Docker. The agent receives observations and revises its plan or code. After the run, an external evaluator checks the final workspace and records the result. The agent runtime, executor, and evaluator are separate modules. This separation lets the experiment compare workflow policies while reusing much of the execution infrastructure.</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/Users/tortalpha/.codex/visualizations/2026/09/04/01a06dd1-979e-7b72-a300-c6b646057748/defense-master/source/src/benchmark/runner.py</a:t>
            </a:r>
          </a:p>
          <a:p xmlns:a="http://schemas.openxmlformats.org/drawingml/2006/main">
            <a:r>
              <a:t>/Users/tortalpha/.codex/visualizations/2026/09/04/01a06dd1-979e-7b72-a300-c6b646057748/defense-master/source/src/agents/executor.py</a:t>
            </a:r>
          </a:p>
          <a:p xmlns:a="http://schemas.openxmlformats.org/drawingml/2006/main">
            <a:r>
              <a:t>/Users/tortalpha/.codex/visualizations/2026/09/04/01a06dd1-979e-7b72-a300-c6b646057748/defense-master/source/src/benchmark/evaluation.py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comparison contains 39 tasks and 102 scored runs. The core has 24 tasks from 17 Python repositories, split into 12 small and 12 medium tasks. These are tasks, not 24 distinct repositories. The extension contains 15 selected tasks from an adapted SWE-bench Pro subset. Two selected local-large SQLGlot tasks did not produce a completed paired comparison and are excluded. The task count met the project minimum, but it was not a statistical power calculation.</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/Users/tortalpha/.codex/visualizations/2026/09/04/01a06dd1-979e-7b72-a300-c6b646057748/defense-master/source/eval/task_sets/final_v1.json</a:t>
            </a:r>
          </a:p>
          <a:p xmlns:a="http://schemas.openxmlformats.org/drawingml/2006/main">
            <a:r>
              <a:t>/Users/tortalpha/.codex/visualizations/2026/09/04/01a06dd1-979e-7b72-a300-c6b646057748/defense-master/source/repositories/collection.csv</a:t>
            </a:r>
          </a:p>
          <a:p xmlns:a="http://schemas.openxmlformats.org/drawingml/2006/main">
            <a:r>
              <a:t>/Users/tortalpha/.codex/visualizations/2026/09/04/01a06dd1-979e-7b72-a300-c6b646057748/defense-master/source/docs/final_benchmark_results.md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reconstructs real upstream changes, mainly merged pull requests. The starting commit precedes the change. The task description explains the expected behavior without providing the solution diff. Visible tests should pass before the task. Semantic hidden tests should fail before the change and pass with the reference solution. Compatibility checks should pass in both states. Local task selection and descriptions involve manual preparation, while validation and execution are automated. An importer automates the SWE Pro adaptation.</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/Users/tortalpha/.codex/visualizations/2026/09/04/01a06dd1-979e-7b72-a300-c6b646057748/defense-master/source/repositories/COLLECT_INSTRUCTION.md</a:t>
            </a:r>
          </a:p>
          <a:p xmlns:a="http://schemas.openxmlformats.org/drawingml/2006/main">
            <a:r>
              <a:t>/Users/tortalpha/.codex/visualizations/2026/09/04/01a06dd1-979e-7b72-a300-c6b646057748/defense-master/source/src/benchmark/validate.py</a:t>
            </a:r>
          </a:p>
          <a:p xmlns:a="http://schemas.openxmlformats.org/drawingml/2006/main">
            <a:r>
              <a:t>/Users/tortalpha/.codex/visualizations/2026/09/04/01a06dd1-979e-7b72-a300-c6b646057748/defense-master/source/src/benchmark/import_swebench_pro.py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single agent handles the complete cycle and includes guards against prolonged research without progress and a compatibility check before finishing. Multi-graph executes planner, developer, tester, and reviewer roles with deterministic routing. The guarded orchestrator delegates through an LLM supervisor, while code enforces phase constraints and reserves verification steps. The multi-agent roles execute sequentially and share the repository and global budget, with separate role contexts. These are concrete systems with different control rules, not an isolated test of agent count.</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/Users/tortalpha/.codex/visualizations/2026/09/04/01a06dd1-979e-7b72-a300-c6b646057748/defense-master/source/src/agents/single_agent.py</a:t>
            </a:r>
          </a:p>
          <a:p xmlns:a="http://schemas.openxmlformats.org/drawingml/2006/main">
            <a:r>
              <a:t>/Users/tortalpha/.codex/visualizations/2026/09/04/01a06dd1-979e-7b72-a300-c6b646057748/defense-master/source/src/agents/multi_agent.py</a:t>
            </a:r>
          </a:p>
          <a:p xmlns:a="http://schemas.openxmlformats.org/drawingml/2006/main">
            <a:r>
              <a:t>/Users/tortalpha/.codex/visualizations/2026/09/04/01a06dd1-979e-7b72-a300-c6b646057748/defense-master/source/src/agents/roles.py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outcome is task_success from the evaluator, not the agent saying it is solved. Success requires visible tests, every required hidden suite, no measured regressions, and no detected test-oracle tampering. Resolved at one summarizes the first final attempt. The system also records tool-use validity, repair behavior, tokens, calls, duration, and cost. Some named AI metrics are operational proxies. For example, patch validity measures whether files changed, and hallucinated references counts malformed or invalid actions. Those limitations are documented explicitly.</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/Users/tortalpha/.codex/visualizations/2026/09/04/01a06dd1-979e-7b72-a300-c6b646057748/defense-master/source/src/benchmark/evaluation.py</a:t>
            </a:r>
          </a:p>
          <a:p xmlns:a="http://schemas.openxmlformats.org/drawingml/2006/main">
            <a:r>
              <a:t>/Users/tortalpha/.codex/visualizations/2026/09/04/01a06dd1-979e-7b72-a300-c6b646057748/defense-master/source/src/metrics/compute.py</a:t>
            </a:r>
          </a:p>
          <a:p xmlns:a="http://schemas.openxmlformats.org/drawingml/2006/main">
            <a:r>
              <a:t>/Users/tortalpha/.codex/visualizations/2026/09/04/01a06dd1-979e-7b72-a300-c6b646057748/defense-master/source/src/metrics/records.py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 reports that preliminary local trials were too slow and produced insufficient solution quality for the selected repository tasks. This was a qualitative feasibility observation, without a quantified pilot table in the saved master artifacts. The primary comparison therefore uses hosted GLM-5.2 through OpenRouter. Core-small uses the same 50-step cap for all architectures. Medium and SWE Pro allow multi-agent systems 75 steps. Equal steps still do not mean equal token usage or compute, so results are reported by block and actual resource use.</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/Users/tortalpha/.codex/visualizations/2026/09/04/01a06dd1-979e-7b72-a300-c6b646057748/defense-master/source/docs/final_benchmark_results.md</a:t>
            </a:r>
          </a:p>
          <a:p xmlns:a="http://schemas.openxmlformats.org/drawingml/2006/main">
            <a:r>
              <a:t>/Users/tortalpha/.codex/visualizations/2026/09/04/01a06dd1-979e-7b72-a300-c6b646057748/defense-master/source/docs/final_benchmark_task_set.md</a:t>
            </a:r>
          </a:p>
          <a:p xmlns:a="http://schemas.openxmlformats.org/drawingml/2006/main">
            <a:r>
              <a:t>Author-provided explanation of preliminary local trials, September 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architectures resolve 11 of the 12 small tasks. On medium tasks, single resolves 11 while graph and guarded resolve 10 each. On the selected SWE Pro subset, single and graph both resolve 9 of 15, with identical paired outcomes. Guarded was not run on that extension. The figure presents recorded outcomes, not a statistically established ranking. There is one final attempt per task and architecture. The medium and SWE blocks use different step caps across architectures, so the small block is the strict equal-step comparison.</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/Users/tortalpha/.codex/visualizations/2026/09/04/01a06dd1-979e-7b72-a300-c6b646057748/defense-master/source/experiments/results/final_report/summary.csv</a:t>
            </a:r>
          </a:p>
          <a:p xmlns:a="http://schemas.openxmlformats.org/drawingml/2006/main">
            <a:r>
              <a:t>/Users/tortalpha/.codex/visualizations/2026/09/04/01a06dd1-979e-7b72-a300-c6b646057748/defense-master/source/docs/final_benchmark_results.md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reaggregate the 72 primary core runs: 24 tasks for each of the three architectures. Resolved at one is 22 of 24 for single and 21 of 24 for graph and guarded. Visible suites pass in 24, 22, and 23 runs respectively. Required hidden suites pass in 22, 21, and 21 runs. These rates count complete suites per run, not individual test cases. One graph run on sqlparse_pr_746 records three regressed tests, so its regression-run rate is 1 of 24. No handoffs occurred. The aggregate combines equal 50-step caps on small tasks and unequal 50/75-step caps on medium tasks. The rubric quality score is unavailable for all 102 primary final runs. The existing reviewer produces one overall 0-to-5 LLM-judge score from the task and diff, guided by correctness, minimality, maintainability, robustness, and safety. None of the historical review run IDs matches a primary final run. Functional test evidence therefore does not establish superior maintainability, robustness, or safety.</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/Users/tortalpha/.codex/visualizations/2026/09/04/01a06dd1-979e-7b72-a300-c6b646057748/defense-master/source/experiments/results/runs.jsonl</a:t>
            </a:r>
          </a:p>
          <a:p xmlns:a="http://schemas.openxmlformats.org/drawingml/2006/main">
            <a:r>
              <a:t>/Users/tortalpha/.codex/visualizations/2026/09/04/01a06dd1-979e-7b72-a300-c6b646057748/defense-master/source/src/metrics/compute.py</a:t>
            </a:r>
          </a:p>
          <a:p xmlns:a="http://schemas.openxmlformats.org/drawingml/2006/main">
            <a:r>
              <a:t>/Users/tortalpha/.codex/visualizations/2026/09/04/01a06dd1-979e-7b72-a300-c6b646057748/defense-master/source/src/metrics/quality.py</a:t>
            </a:r>
          </a:p>
          <a:p xmlns:a="http://schemas.openxmlformats.org/drawingml/2006/main">
            <a:r>
              <a:t>/Users/tortalpha/.codex/visualizations/2026/09/04/01a06dd1-979e-7b72-a300-c6b646057748/defense-master/source/docs/final_benchmark_results.md</a:t>
            </a:r>
          </a:p>
          <a:p xmlns:a="http://schemas.openxmlformats.org/drawingml/2006/main">
            <a:r>
              <a:t>/Users/tortalpha/.codex/visualizations/2026/09/04/01a06dd1-979e-7b72-a300-c6b646057748/defense-master/quality_metrics_audit.json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use the same 24 core tasks per architecture. Tool-use validity pools categorized actions: single 462 of 481, graph 729 of 765, guarded 692 of 719. It measures whether the action is categorized as valid, not whether every tool call achieves its goal. The remaining starred metrics are proxies whose definitions matter. Patch validity means a nonempty changed-files list and is 100 percent for all three systems. Hallucinated references means invalid, malformed, or missing actions per run: 19/24, 32/24, and 25/24, rounded to 0.79, 1.33, and 1.04. It does not count verified nonexistent APIs. Test overfitting is the final-failure fraction among visible-pass runs: 2/24, 1/22, and 2/23. A smaller visible/final gap does not establish better overall performance because denominators differ. Repair success means visible-pass among runs with more than one test iteration: 21/21, 16/17, and 18/19. The metric does not establish that a failure preceded the final pass. Mean test iterations are 3.00, 2.29, and 2.38, and mean LLM calls are 20.71, 37.00, and 40.00. These diagnostics show behavior within this implementation, not a general code-quality ranking.</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/Users/tortalpha/.codex/visualizations/2026/09/04/01a06dd1-979e-7b72-a300-c6b646057748/defense-master/source/src/metrics/compute.py</a:t>
            </a:r>
          </a:p>
          <a:p xmlns:a="http://schemas.openxmlformats.org/drawingml/2006/main">
            <a:r>
              <a:t>/Users/tortalpha/.codex/visualizations/2026/09/04/01a06dd1-979e-7b72-a300-c6b646057748/defense-master/source/src/metrics/records.py</a:t>
            </a:r>
          </a:p>
          <a:p xmlns:a="http://schemas.openxmlformats.org/drawingml/2006/main">
            <a:r>
              <a:t>/Users/tortalpha/.codex/visualizations/2026/09/04/01a06dd1-979e-7b72-a300-c6b646057748/defense-master/quality_metrics_audit.json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the 39 tasks evaluated by both architectures, single resolves 31 and graph resolves 30. Graph costs 18.6 percent more overall. Its cost per solved task is about 0.1644 dollars, compared with 0.1342 for single. The denominator includes solved tasks, while the numerator includes the cost of both successful and unsuccessful attempts. This pooled comparison is secondary because it combines different step policies. It supports an empirical cost-efficiency finding for this configuration, without establishing universal superiority.</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/Users/tortalpha/.codex/visualizations/2026/09/04/01a06dd1-979e-7b72-a300-c6b646057748/defense-master/source/experiments/results/final_report/summary.csv</a:t>
            </a:r>
          </a:p>
          <a:p xmlns:a="http://schemas.openxmlformats.org/drawingml/2006/main">
            <a:r>
              <a:t>/Users/tortalpha/.codex/visualizations/2026/09/04/01a06dd1-979e-7b72-a300-c6b646057748/defense-master/audit.json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paired comparison is more informative than looking at two percentages in isolation. Both systems solve 29 tasks, and neither solves 7. Single uniquely solves 2, while graph uniquely solves 1. That leaves only three disagreements out of 39. The feature subset favors graph by one task, but it is the same graph-only success rather than an independent confirmation. The experiment does not establish a statistically convincing difference or equivalence. Repeated runs and a larger independent task sample would be needed.</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/Users/tortalpha/.codex/visualizations/2026/09/04/01a06dd1-979e-7b72-a300-c6b646057748/defense-master/source/docs/final_benchmark_results.md</a:t>
            </a:r>
          </a:p>
          <a:p xmlns:a="http://schemas.openxmlformats.org/drawingml/2006/main">
            <a:r>
              <a:t>/Users/tortalpha/.codex/visualizations/2026/09/04/01a06dd1-979e-7b72-a300-c6b646057748/defense-master/audit.json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experiment uses one model and one final attempt per configuration. Twenty of the 39 shared tasks had exploratory exposure during system development. Most core reference changes are local: 19 of 24 touch one source file, so larger repositories do not necessarily mean harder cross-module changes. Size labels have ambiguities, and the literal repository-count commitment changed to task counts. Dataset files exist locally but need separate packaging for reproduction. The final patches did not receive a new blinded maintainability review.</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/Users/tortalpha/.codex/visualizations/2026/09/04/01a06dd1-979e-7b72-a300-c6b646057748/defense-master/source/docs/final_benchmark_results.md</a:t>
            </a:r>
          </a:p>
          <a:p xmlns:a="http://schemas.openxmlformats.org/drawingml/2006/main">
            <a:r>
              <a:t>/Users/tortalpha/.codex/visualizations/2026/09/04/01a06dd1-979e-7b72-a300-c6b646057748/defense-master/source/repositories/collection.csv</a:t>
            </a:r>
          </a:p>
          <a:p xmlns:a="http://schemas.openxmlformats.org/drawingml/2006/main">
            <a:r>
              <a:t>/Users/tortalpha/.codex/visualizations/2026/09/04/01a06dd1-979e-7b72-a300-c6b646057748/defense-master/DEFENSE_EN.md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 v2 strengthens context accounting, test-evidence validation, execution isolation, and run fingerprints. Its completed core-small blocks show different architecture rankings across configurations. GLM gives 10, 9, and 10 successes. DeepSeek gives 9, 11, and 11. Codex Mini gives 9, 7, and 8. DeepSeek graph has a slightly lower cost per solved task than its single baseline. However, reasoning and compaction settings differ between model configurations. These observations do not isolate model identity, and they do not establish a complexity effect. The 75-step extension remains separate.</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/Users/tortalpha/.codex/visualizations/2026/09/04/01a06dd1-979e-7b72-a300-c6b646057748/defense-master/kernel_v2_interim_snapshot.json</a:t>
            </a:r>
          </a:p>
          <a:p xmlns:a="http://schemas.openxmlformats.org/drawingml/2006/main">
            <a:r>
              <a:t>/Users/tortalpha/Code/repo-level-dev-agent-eval/docs/agent_kernel_v2.md</a:t>
            </a:r>
          </a:p>
          <a:p xmlns:a="http://schemas.openxmlformats.org/drawingml/2006/main">
            <a:r>
              <a:t>/Users/tortalpha/Code/repo-level-dev-agent-eval/experiments/results/kernel_v2_report/summary.csv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hypothesis had two parts, and the master results support it only partially. H1 predicted that single-agent systems would be more cost-effective on simple tasks. This is supported descriptively in the tested core-small block: every architecture solved 11 of 12 tasks under the same 50-step cap, while total cost was $0.3765 for single, $0.7642 for graph, and $0.9707 for guarded. Equal success with lower total cost also means lower cost per solved task. Core-small is a practical proxy for simpler tasks, not a direct measure of task complexity. H2 predicted that multi-agent benefits would increase with task and codebase complexity. The master results do not support this: single solved 11 of 12 medium tasks versus 10 for each multi-agent variant, while single and graph both solved the same 9 of 15 SWE Pro tasks. Not supported does not mean disproved. Most core changes touch one source file, model and sample coverage are limited, and the larger blocks use unequal step caps. As an additional evaluation question, the extra multi-agent cost did not produce an overall success gain in master: graph solved 30 of 39 tasks versus 31 for single and cost 18.6 percent more. Kernel v2 remains a separate extension. Its varying configuration rankings do not establish a complexity effect. Future experiments should repeat held-out tasks under matched budgets and include more changes across modules.</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/Users/tortalpha/.codex/visualizations/2026/09/04/01a06dd1-979e-7b72-a300-c6b646057748/defense-master/source/docs/spec.md</a:t>
            </a:r>
          </a:p>
          <a:p xmlns:a="http://schemas.openxmlformats.org/drawingml/2006/main">
            <a:r>
              <a:t>/Users/tortalpha/.codex/visualizations/2026/09/04/01a06dd1-979e-7b72-a300-c6b646057748/defense-master/source/docs/final_benchmark_results.md</a:t>
            </a:r>
          </a:p>
          <a:p xmlns:a="http://schemas.openxmlformats.org/drawingml/2006/main">
            <a:r>
              <a:t>/Users/tortalpha/.codex/visualizations/2026/09/04/01a06dd1-979e-7b72-a300-c6b646057748/defense-master/audit.json</a:t>
            </a:r>
          </a:p>
          <a:p xmlns:a="http://schemas.openxmlformats.org/drawingml/2006/main">
            <a:r>
              <a:t>/Users/tortalpha/.codex/visualizations/2026/09/04/01a06dd1-979e-7b72-a300-c6b646057748/defense-master/kernel_v2_interim_snapshot.json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proposal defined small repositories as 500 to 3,000 Python source lines and 5 to 30 source files, and medium repositories as 3,001 to 15,000 lines and 31 to 120 files. The later specification prioritizes LOC when measures disagree. In the core, the original combined thresholds hold for 9 of 12 small tasks and 2 of 12 medium tasks when physical lines are used. boltons and pydash fit the medium range only under nonblank counts, a rule not clearly fixed in the metadata. Multiple tasks share repositories. These are limitations to disclose.</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/Users/tortalpha/.codex/visualizations/2026/09/04/01a06dd1-979e-7b72-a300-c6b646057748/defense-master/source/docs/spec.md</a:t>
            </a:r>
          </a:p>
          <a:p xmlns:a="http://schemas.openxmlformats.org/drawingml/2006/main">
            <a:r>
              <a:t>/Users/tortalpha/.codex/visualizations/2026/09/04/01a06dd1-979e-7b72-a300-c6b646057748/defense-master/source/repositories/README.md</a:t>
            </a:r>
          </a:p>
          <a:p xmlns:a="http://schemas.openxmlformats.org/drawingml/2006/main">
            <a:r>
              <a:t>/Users/tortalpha/.codex/visualizations/2026/09/04/01a06dd1-979e-7b72-a300-c6b646057748/defense-master/source/repositories/collection.csv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names should be interpreted through the actual implementation. Patch validity is the fraction of runs with changed files. Hallucinated references counts invalid, malformed, and missing actions rather than checking whether APIs exist. Repair success is the visible-pass fraction among runs with more than one test iteration, without requiring a preceding failure. Test overfitting is the final-failure fraction among visible-pass runs. They are useful diagnostics with limited construct validity. Functional test outcomes and cost provide the clearest primary evidence.</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/Users/tortalpha/.codex/visualizations/2026/09/04/01a06dd1-979e-7b72-a300-c6b646057748/defense-master/source/src/metrics/compute.py</a:t>
            </a:r>
          </a:p>
          <a:p xmlns:a="http://schemas.openxmlformats.org/drawingml/2006/main">
            <a:r>
              <a:t>/Users/tortalpha/.codex/visualizations/2026/09/04/01a06dd1-979e-7b72-a300-c6b646057748/defense-master/source/src/metrics/records.py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reports the 15 primary SWE Pro tasks evaluated by single and graph. Guarded was not run on this subset. Both systems pass all visible suites, yet only 9 of 15 pass the required hidden suites and resolve the task. Thus each has a visible/final gap of 6 of 15, or 40 percent. Neither records a visible-test regression. Tool-use validity is 390/408 for single and 639/661 for graph. Hallucinated-reference proxies are 17/15 and 18/15 per run. The repair proxy is 14/14 for single and 15/15 for graph. Patch validity is 15/15 and human handoff is 0/15 for both, while rubric quality scores remain unavailable. Mean test iterations are 3.33 and 3.47, and mean LLM calls are 31.53 and 49.20. Single uses a 50-step cap and graph 75, so this is a descriptive comparison under the recorded policy.</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/Users/tortalpha/.codex/visualizations/2026/09/04/01a06dd1-979e-7b72-a300-c6b646057748/defense-master/source/src/metrics/compute.py</a:t>
            </a:r>
          </a:p>
          <a:p xmlns:a="http://schemas.openxmlformats.org/drawingml/2006/main">
            <a:r>
              <a:t>/Users/tortalpha/.codex/visualizations/2026/09/04/01a06dd1-979e-7b72-a300-c6b646057748/defense-master/quality_metrics_audit.json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Xu and colleagues motivate a stronger single-agent baseline for homogeneous workflows. Tran and Kiela show why compute and context accounting matter in multi-hop reasoning, which is a different domain. Agentless demonstrates the value of simple software-engineering pipelines. The local evidence consists of the frozen final-v1 manifest, run records, patches, and the report generator at the defended commit. Full reproduction additionally requires the task descriptions, hidden tests, and repository snapshots that are stored outside Git.</a:t>
            </a:r>
          </a:p>
          <a:p xmlns:a="http://schemas.openxmlformats.org/drawingml/2006/main">
            <a:r>
              <a:t/>
            </a:r>
          </a:p>
          <a:p xmlns:a="http://schemas.openxmlformats.org/drawingml/2006/main">
            <a:r>
              <a:t>Sources:</a:t>
            </a:r>
          </a:p>
          <a:p xmlns:a="http://schemas.openxmlformats.org/drawingml/2006/main">
            <a:r>
              <a:t>https://arxiv.org/abs/2601.12307</a:t>
            </a:r>
          </a:p>
          <a:p xmlns:a="http://schemas.openxmlformats.org/drawingml/2006/main">
            <a:r>
              <a:t>https://arxiv.org/abs/2604.02460</a:t>
            </a:r>
          </a:p>
          <a:p xmlns:a="http://schemas.openxmlformats.org/drawingml/2006/main">
            <a:r>
              <a:t>https://arxiv.org/abs/2407.01489</a:t>
            </a:r>
          </a:p>
          <a:p xmlns:a="http://schemas.openxmlformats.org/drawingml/2006/main">
            <a:r>
              <a:t>/Users/tortalpha/.codex/visualizations/2026/09/04/01a06dd1-979e-7b72-a300-c6b646057748/defense-master/source/eval/task_sets/final_v1.json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04620779d94f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1fe1926b8a4413" /><Relationship Type="http://schemas.openxmlformats.org/officeDocument/2006/relationships/slideLayout" Target="/ppt/slideLayouts/slideLayout1.xml" Id="R976f98c96c324d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6f98c96c324d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Research">
      <a:dk1>
        <a:srgbClr val="000000"/>
      </a:dk1>
      <a:lt1>
        <a:srgbClr val="FFFFFF"/>
      </a:lt1>
      <a:dk2>
        <a:srgbClr val="14243A"/>
      </a:dk2>
      <a:lt2>
        <a:srgbClr val="DCE2E9"/>
      </a:lt2>
      <a:accent1>
        <a:srgbClr val="2468C9"/>
      </a:accent1>
      <a:accent2>
        <a:srgbClr val="D27820"/>
      </a:accent2>
      <a:accent3>
        <a:srgbClr val="147D75"/>
      </a:accent3>
      <a:accent4>
        <a:srgbClr val="A44D51"/>
      </a:accent4>
      <a:accent5>
        <a:srgbClr val="705DA6"/>
      </a:accent5>
      <a:accent6>
        <a:srgbClr val="8093A8"/>
      </a:accent6>
      <a:hlink>
        <a:srgbClr val="2468C9"/>
      </a:hlink>
      <a:folHlink>
        <a:srgbClr val="705DA6"/>
      </a:folHlink>
    </a:clrScheme>
    <a:fontScheme name="Office">
      <a:majorFont>
        <a:latin typeface="Calibri Light"/>
        <a:ea typeface="Calibri Light"/>
        <a:cs typeface="Calibri Light"/>
      </a:majorFont>
      <a:minorFont>
        <a:latin typeface="Calibri"/>
        <a:ea typeface="Calibri"/>
        <a:cs typeface="Calibri"/>
      </a:minorFont>
    </a:fontScheme>
    <a:fmtScheme name="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dbff5f501541f4" /><Relationship Type="http://schemas.openxmlformats.org/officeDocument/2006/relationships/notesSlide" Target="/ppt/notesSlides/notesSlide1.xml" Id="R7fefb9fed1954e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9208b5ced34a40" /><Relationship Type="http://schemas.openxmlformats.org/officeDocument/2006/relationships/notesSlide" Target="/ppt/notesSlides/notesSlide2.xml" Id="R66d3d0d6e08c4d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ec1452d52744cbb" /><Relationship Type="http://schemas.openxmlformats.org/officeDocument/2006/relationships/notesSlide" Target="/ppt/notesSlides/notesSlide3.xml" Id="R392b9276d0924e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d3529e50c7411b" /><Relationship Type="http://schemas.openxmlformats.org/officeDocument/2006/relationships/notesSlide" Target="/ppt/notesSlides/notesSlide4.xml" Id="R6494a24b94594c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8cb513c97e74ec6" /><Relationship Type="http://schemas.openxmlformats.org/officeDocument/2006/relationships/notesSlide" Target="/ppt/notesSlides/notesSlide5.xml" Id="R26113445ada145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6b54023dfa4173" /><Relationship Type="http://schemas.openxmlformats.org/officeDocument/2006/relationships/notesSlide" Target="/ppt/notesSlides/notesSlide6.xml" Id="R68fe7f6f8f844b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051ecb2b3da41ca" /><Relationship Type="http://schemas.openxmlformats.org/officeDocument/2006/relationships/notesSlide" Target="/ppt/notesSlides/notesSlide7.xml" Id="R5c44102a539a48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3dc1f399254ba5" /><Relationship Type="http://schemas.openxmlformats.org/officeDocument/2006/relationships/notesSlide" Target="/ppt/notesSlides/notesSlide8.xml" Id="R4dc45b093b7f4e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95f27eec28d48c4" /><Relationship Type="http://schemas.openxmlformats.org/officeDocument/2006/relationships/chart" Target="/ppt/slides/charts/chart1.xml" Id="Rd295bebdc1aa4de9" /><Relationship Type="http://schemas.openxmlformats.org/officeDocument/2006/relationships/chart" Target="/ppt/slides/charts/chart2.xml" Id="R848bc5ad841c43e2" /><Relationship Type="http://schemas.openxmlformats.org/officeDocument/2006/relationships/chart" Target="/ppt/slides/charts/chart3.xml" Id="Rbf90aafe24cf4602" /><Relationship Type="http://schemas.openxmlformats.org/officeDocument/2006/relationships/notesSlide" Target="/ppt/notesSlides/notesSlide9.xml" Id="Rd6dd65a584f44e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89d5b9968884504" /><Relationship Type="http://schemas.openxmlformats.org/officeDocument/2006/relationships/notesSlide" Target="/ppt/notesSlides/notesSlide10.xml" Id="R94fd647a127f4a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8fb72b77f124369" /><Relationship Type="http://schemas.openxmlformats.org/officeDocument/2006/relationships/notesSlide" Target="/ppt/notesSlides/notesSlide11.xml" Id="Rd852fb2de0074c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f3bab8a1dff4bc5" /><Relationship Type="http://schemas.openxmlformats.org/officeDocument/2006/relationships/notesSlide" Target="/ppt/notesSlides/notesSlide12.xml" Id="Re28e8aab8319463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182b4bff0c64c7d" /><Relationship Type="http://schemas.openxmlformats.org/officeDocument/2006/relationships/notesSlide" Target="/ppt/notesSlides/notesSlide13.xml" Id="R7ccef24d03f5425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1734168b92a4406" /><Relationship Type="http://schemas.openxmlformats.org/officeDocument/2006/relationships/notesSlide" Target="/ppt/notesSlides/notesSlide14.xml" Id="R716ed183e76a448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497bd3bde6c463b" /><Relationship Type="http://schemas.openxmlformats.org/officeDocument/2006/relationships/notesSlide" Target="/ppt/notesSlides/notesSlide15.xml" Id="R307ef3e47332479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fc0b1dc97bf443f" /><Relationship Type="http://schemas.openxmlformats.org/officeDocument/2006/relationships/notesSlide" Target="/ppt/notesSlides/notesSlide16.xml" Id="R8f5a8b24debe4d5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28deb1285554fb7" /><Relationship Type="http://schemas.openxmlformats.org/officeDocument/2006/relationships/notesSlide" Target="/ppt/notesSlides/notesSlide17.xml" Id="R21a1b4cc9c62493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6b856b7897b4a73" /><Relationship Type="http://schemas.openxmlformats.org/officeDocument/2006/relationships/notesSlide" Target="/ppt/notesSlides/notesSlide18.xml" Id="Rb11d175da5814e7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82781a06a0b43fa" /><Relationship Type="http://schemas.openxmlformats.org/officeDocument/2006/relationships/notesSlide" Target="/ppt/notesSlides/notesSlide19.xml" Id="R686b8d7cf8b54f4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d2ddac76260479e" /><Relationship Type="http://schemas.openxmlformats.org/officeDocument/2006/relationships/notesSlide" Target="/ppt/notesSlides/notesSlide20.xml" Id="Rf668b66f15c948f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Core small success rate</c:v>
          </c:tx>
          <c:dPt>
            <c:idx val="0"/>
            <c:invertIfNegative val="0"/>
            <c:spPr>
              <a:solidFill xmlns:a="http://schemas.openxmlformats.org/drawingml/2006/main">
                <a:srgbClr val="2468C9"/>
              </a:solidFill>
              <a:ln xmlns:a="http://schemas.openxmlformats.org/drawingml/2006/main" w="0">
                <a:noFill/>
              </a:ln>
            </c:spPr>
          </c:dPt>
          <c:dPt>
            <c:idx val="1"/>
            <c:invertIfNegative val="0"/>
            <c:spPr>
              <a:solidFill xmlns:a="http://schemas.openxmlformats.org/drawingml/2006/main">
                <a:srgbClr val="D27820"/>
              </a:solidFill>
              <a:ln xmlns:a="http://schemas.openxmlformats.org/drawingml/2006/main" w="0">
                <a:noFill/>
              </a:ln>
            </c:spPr>
          </c:dPt>
          <c:dPt>
            <c:idx val="2"/>
            <c:invertIfNegative val="0"/>
            <c:spPr>
              <a:solidFill xmlns:a="http://schemas.openxmlformats.org/drawingml/2006/main">
                <a:srgbClr val="147D75"/>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s>
          <c:cat>
            <c:strRef>
              <c:f>'Chart Data'!$A$2:$A$4</c:f>
              <c:strCache>
                <c:ptCount val="3"/>
                <c:pt idx="0">
                  <c:v>Single</c:v>
                </c:pt>
                <c:pt idx="1">
                  <c:v>Graph</c:v>
                </c:pt>
                <c:pt idx="2">
                  <c:v>Guarded</c:v>
                </c:pt>
              </c:strCache>
            </c:strRef>
          </c:cat>
          <c:val>
            <c:numRef>
              <c:f>'Chart Data'!$B$2:$B$4</c:f>
              <c:numCache>
                <c:formatCode>0%</c:formatCode>
                <c:ptCount val="3"/>
                <c:pt idx="0">
                  <c:v>0.916667</c:v>
                </c:pt>
                <c:pt idx="1">
                  <c:v>0.916667</c:v>
                </c:pt>
                <c:pt idx="2">
                  <c:v>0.916667</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9"/>
            </a:solid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6668">
              <a:solidFill>
                <a:srgbClr val="DCE2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50112"/>
        <c:crossBetween val="between"/>
        <c:majorUnit val="0.25"/>
      </c:valAx>
      <c:spPr>
        <a:solidFill xmlns:a="http://schemas.openxmlformats.org/drawingml/2006/main">
          <a:srgbClr val="F7F8FA"/>
        </a:solidFill>
        <a:ln xmlns:a="http://schemas.openxmlformats.org/drawingml/2006/main" w="0">
          <a:noFill/>
        </a:ln>
      </c:spPr>
    </c:plotArea>
    <c:plotVisOnly val="1"/>
  </c:chart>
  <c:spPr>
    <a:solidFill xmlns:a="http://schemas.openxmlformats.org/drawingml/2006/main">
      <a:srgbClr val="F7F8F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Core medium success rate</c:v>
          </c:tx>
          <c:dPt>
            <c:idx val="0"/>
            <c:invertIfNegative val="0"/>
            <c:spPr>
              <a:solidFill xmlns:a="http://schemas.openxmlformats.org/drawingml/2006/main">
                <a:srgbClr val="2468C9"/>
              </a:solidFill>
              <a:ln xmlns:a="http://schemas.openxmlformats.org/drawingml/2006/main" w="0">
                <a:noFill/>
              </a:ln>
            </c:spPr>
          </c:dPt>
          <c:dPt>
            <c:idx val="1"/>
            <c:invertIfNegative val="0"/>
            <c:spPr>
              <a:solidFill xmlns:a="http://schemas.openxmlformats.org/drawingml/2006/main">
                <a:srgbClr val="D27820"/>
              </a:solidFill>
              <a:ln xmlns:a="http://schemas.openxmlformats.org/drawingml/2006/main" w="0">
                <a:noFill/>
              </a:ln>
            </c:spPr>
          </c:dPt>
          <c:dPt>
            <c:idx val="2"/>
            <c:invertIfNegative val="0"/>
            <c:spPr>
              <a:solidFill xmlns:a="http://schemas.openxmlformats.org/drawingml/2006/main">
                <a:srgbClr val="147D75"/>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10/12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10/12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s>
          <c:cat>
            <c:strRef>
              <c:f>'Chart Data'!$A$2:$A$4</c:f>
              <c:strCache>
                <c:ptCount val="3"/>
                <c:pt idx="0">
                  <c:v>Single</c:v>
                </c:pt>
                <c:pt idx="1">
                  <c:v>Graph</c:v>
                </c:pt>
                <c:pt idx="2">
                  <c:v>Guarded</c:v>
                </c:pt>
              </c:strCache>
            </c:strRef>
          </c:cat>
          <c:val>
            <c:numRef>
              <c:f>'Chart Data'!$B$2:$B$4</c:f>
              <c:numCache>
                <c:formatCode>0%</c:formatCode>
                <c:ptCount val="3"/>
                <c:pt idx="0">
                  <c:v>0.916667</c:v>
                </c:pt>
                <c:pt idx="1">
                  <c:v>0.833333</c:v>
                </c:pt>
                <c:pt idx="2">
                  <c:v>0.833333</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9"/>
            </a:solid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6668">
              <a:solidFill>
                <a:srgbClr val="DCE2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50112"/>
        <c:crossBetween val="between"/>
        <c:majorUnit val="0.25"/>
      </c:valAx>
      <c:spPr>
        <a:solidFill xmlns:a="http://schemas.openxmlformats.org/drawingml/2006/main">
          <a:srgbClr val="F7F8FA"/>
        </a:solidFill>
        <a:ln xmlns:a="http://schemas.openxmlformats.org/drawingml/2006/main" w="0">
          <a:noFill/>
        </a:ln>
      </c:spPr>
    </c:plotArea>
    <c:plotVisOnly val="1"/>
  </c:chart>
  <c:spPr>
    <a:solidFill xmlns:a="http://schemas.openxmlformats.org/drawingml/2006/main">
      <a:srgbClr val="F7F8F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SWE Pro success rate</c:v>
          </c:tx>
          <c:dPt>
            <c:idx val="0"/>
            <c:invertIfNegative val="0"/>
            <c:spPr>
              <a:solidFill xmlns:a="http://schemas.openxmlformats.org/drawingml/2006/main">
                <a:srgbClr val="2468C9"/>
              </a:solidFill>
              <a:ln xmlns:a="http://schemas.openxmlformats.org/drawingml/2006/main" w="0">
                <a:noFill/>
              </a:ln>
            </c:spPr>
          </c:dPt>
          <c:dPt>
            <c:idx val="1"/>
            <c:invertIfNegative val="0"/>
            <c:spPr>
              <a:solidFill xmlns:a="http://schemas.openxmlformats.org/drawingml/2006/main">
                <a:srgbClr val="D2782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9/15</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9/15</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s>
          <c:cat>
            <c:strRef>
              <c:f>'Chart Data'!$A$2:$A$3</c:f>
              <c:strCache>
                <c:ptCount val="2"/>
                <c:pt idx="0">
                  <c:v>Single</c:v>
                </c:pt>
                <c:pt idx="1">
                  <c:v>Graph</c:v>
                </c:pt>
              </c:strCache>
            </c:strRef>
          </c:cat>
          <c:val>
            <c:numRef>
              <c:f>'Chart Data'!$B$2:$B$3</c:f>
              <c:numCache>
                <c:formatCode>0%</c:formatCode>
                <c:ptCount val="2"/>
                <c:pt idx="0">
                  <c:v>0.6</c:v>
                </c:pt>
                <c:pt idx="1">
                  <c:v>0.6</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9"/>
            </a:solidFill>
          </a:ln>
        </c:spPr>
        <c:txPr>
          <a:bodyPr xmlns:a="http://schemas.openxmlformats.org/drawingml/2006/main" anchorCtr="1"/>
          <a:lstStyle xmlns:a="http://schemas.openxmlformats.org/drawingml/2006/main"/>
          <a:p xmlns:a="http://schemas.openxmlformats.org/drawingml/2006/main">
            <a:pPr>
              <a:defRPr sz="1650">
                <a:solidFill>
                  <a:srgbClr val="516174"/>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6668">
              <a:solidFill>
                <a:srgbClr val="DCE2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50112"/>
        <c:crossBetween val="between"/>
        <c:majorUnit val="0.25"/>
      </c:valAx>
      <c:spPr>
        <a:solidFill xmlns:a="http://schemas.openxmlformats.org/drawingml/2006/main">
          <a:srgbClr val="F7F8FA"/>
        </a:solidFill>
        <a:ln xmlns:a="http://schemas.openxmlformats.org/drawingml/2006/main" w="0">
          <a:noFill/>
        </a:ln>
      </c:spPr>
    </c:plotArea>
    <c:plotVisOnly val="1"/>
  </c:chart>
  <c:spPr>
    <a:solidFill xmlns:a="http://schemas.openxmlformats.org/drawingml/2006/main">
      <a:srgbClr val="F7F8F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43A"/>
        </a:solidFill>
      </p:bgPr>
    </p:bg>
    <p:spTree>
      <p:nvGrpSpPr>
        <p:cNvPr id="1" name=""/>
        <p:cNvGrpSpPr/>
        <p:nvPr/>
      </p:nvGrpSpPr>
      <p:grpSpPr>
        <a:xfrm xmlns:a="http://schemas.openxmlformats.org/drawingml/2006/main"/>
      </p:grpSpPr>
      <p:sp>
        <p:nvSpPr>
          <p:cNvPr id="6" name="slide-number">
            <a:extLst xmlns:a="http://schemas.openxmlformats.org/drawingml/2006/main">
              <a:ext uri="{FF2B5EF4-FFF2-40B4-BE49-F238E27FC236}">
                <a16:creationId xmlns:a16="http://schemas.microsoft.com/office/drawing/2014/main" id="{E7BF439A-D868-43AE-87C1-DDFA3EEDA00E}"/>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9D6FC"/>
                </a:solidFill>
                <a:latin typeface="Helvetica Neue"/>
                <a:ea typeface="Helvetica Neue"/>
                <a:cs typeface="Helvetica Neue"/>
              </a:defRPr>
            </a:pPr>
            <a:r>
              <a:rPr sz="1275" b="0">
                <a:solidFill>
                  <a:srgbClr val="B9D6FC"/>
                </a:solidFill>
                <a:latin typeface="Helvetica Neue"/>
                <a:ea typeface="Helvetica Neue"/>
                <a:cs typeface="Helvetica Neue"/>
              </a:rPr>
              <a:t>01</a:t>
            </a:r>
          </a:p>
        </p:txBody>
      </p:sp>
      <p:sp>
        <p:nvSpPr>
          <p:cNvPr id="2" name="text-1">
            <a:extLst xmlns:a="http://schemas.openxmlformats.org/drawingml/2006/main">
              <a:ext uri="{FF2B5EF4-FFF2-40B4-BE49-F238E27FC236}">
                <a16:creationId xmlns:a16="http://schemas.microsoft.com/office/drawing/2014/main" id="{B98291A6-EC9B-438E-9D43-7FDC09D32E46}"/>
              </a:ext>
            </a:extLst>
          </p:cNvPr>
          <p:cNvSpPr>
            <a:spLocks xmlns:a="http://schemas.openxmlformats.org/drawingml/2006/main" noGrp="1"/>
          </p:cNvSpPr>
          <p:nvPr/>
        </p:nvSpPr>
        <p:spPr>
          <a:xfrm xmlns:a="http://schemas.openxmlformats.org/drawingml/2006/main">
            <a:off x="685800" y="1123950"/>
            <a:ext cx="1066800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FFFFFF"/>
                </a:solidFill>
                <a:latin typeface="Helvetica Neue"/>
                <a:ea typeface="Helvetica Neue"/>
                <a:cs typeface="Helvetica Neue"/>
              </a:defRPr>
            </a:pPr>
            <a:r>
              <a:rPr sz="5850" b="1">
                <a:solidFill>
                  <a:srgbClr val="FFFFFF"/>
                </a:solidFill>
                <a:latin typeface="Helvetica Neue"/>
                <a:ea typeface="Helvetica Neue"/>
                <a:cs typeface="Helvetica Neue"/>
              </a:rPr>
              <a:t>Single-Agent and</a:t>
            </a:r>
          </a:p>
          <a:p xmlns:a="http://schemas.openxmlformats.org/drawingml/2006/main">
            <a:pPr algn="l">
              <a:defRPr sz="5850" b="1">
                <a:solidFill>
                  <a:srgbClr val="FFFFFF"/>
                </a:solidFill>
                <a:latin typeface="Helvetica Neue"/>
                <a:ea typeface="Helvetica Neue"/>
                <a:cs typeface="Helvetica Neue"/>
              </a:defRPr>
            </a:pPr>
            <a:r>
              <a:rPr sz="5850" b="1">
                <a:solidFill>
                  <a:srgbClr val="FFFFFF"/>
                </a:solidFill>
                <a:latin typeface="Helvetica Neue"/>
                <a:ea typeface="Helvetica Neue"/>
                <a:cs typeface="Helvetica Neue"/>
              </a:rPr>
              <a:t>Multi-Agent LLMs</a:t>
            </a:r>
          </a:p>
        </p:txBody>
      </p:sp>
      <p:sp>
        <p:nvSpPr>
          <p:cNvPr id="3" name="text-2">
            <a:extLst xmlns:a="http://schemas.openxmlformats.org/drawingml/2006/main">
              <a:ext uri="{FF2B5EF4-FFF2-40B4-BE49-F238E27FC236}">
                <a16:creationId xmlns:a16="http://schemas.microsoft.com/office/drawing/2014/main" id="{2E2472B4-A2FA-4F3A-9C97-E55743FE2430}"/>
              </a:ext>
            </a:extLst>
          </p:cNvPr>
          <p:cNvSpPr>
            <a:spLocks xmlns:a="http://schemas.openxmlformats.org/drawingml/2006/main" noGrp="1"/>
          </p:cNvSpPr>
          <p:nvPr/>
        </p:nvSpPr>
        <p:spPr>
          <a:xfrm xmlns:a="http://schemas.openxmlformats.org/drawingml/2006/main">
            <a:off x="723900" y="35814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B9D6FC"/>
                </a:solidFill>
                <a:latin typeface="Helvetica Neue"/>
                <a:ea typeface="Helvetica Neue"/>
                <a:cs typeface="Helvetica Neue"/>
              </a:defRPr>
            </a:pPr>
            <a:r>
              <a:rPr sz="2850" b="0">
                <a:solidFill>
                  <a:srgbClr val="B9D6FC"/>
                </a:solidFill>
                <a:latin typeface="Helvetica Neue"/>
                <a:ea typeface="Helvetica Neue"/>
                <a:cs typeface="Helvetica Neue"/>
              </a:rPr>
              <a:t>Autonomous software development</a:t>
            </a:r>
          </a:p>
          <a:p xmlns:a="http://schemas.openxmlformats.org/drawingml/2006/main">
            <a:pPr algn="l">
              <a:defRPr sz="2850" b="0">
                <a:solidFill>
                  <a:srgbClr val="B9D6FC"/>
                </a:solidFill>
                <a:latin typeface="Helvetica Neue"/>
                <a:ea typeface="Helvetica Neue"/>
                <a:cs typeface="Helvetica Neue"/>
              </a:defRPr>
            </a:pPr>
            <a:r>
              <a:rPr sz="2850" b="0">
                <a:solidFill>
                  <a:srgbClr val="B9D6FC"/>
                </a:solidFill>
                <a:latin typeface="Helvetica Neue"/>
                <a:ea typeface="Helvetica Neue"/>
                <a:cs typeface="Helvetica Neue"/>
              </a:rPr>
              <a:t>at repository level</a:t>
            </a:r>
          </a:p>
        </p:txBody>
      </p:sp>
      <p:sp>
        <p:nvSpPr>
          <p:cNvPr id="4" name="text-3">
            <a:extLst xmlns:a="http://schemas.openxmlformats.org/drawingml/2006/main">
              <a:ext uri="{FF2B5EF4-FFF2-40B4-BE49-F238E27FC236}">
                <a16:creationId xmlns:a16="http://schemas.microsoft.com/office/drawing/2014/main" id="{269C6C21-6B03-416E-ADA0-C6F23C7E3573}"/>
              </a:ext>
            </a:extLst>
          </p:cNvPr>
          <p:cNvSpPr>
            <a:spLocks xmlns:a="http://schemas.openxmlformats.org/drawingml/2006/main" noGrp="1"/>
          </p:cNvSpPr>
          <p:nvPr/>
        </p:nvSpPr>
        <p:spPr>
          <a:xfrm xmlns:a="http://schemas.openxmlformats.org/drawingml/2006/main">
            <a:off x="723900" y="5314950"/>
            <a:ext cx="666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Roman Avanesov</a:t>
            </a:r>
          </a:p>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SV 88/2024</a:t>
            </a:r>
          </a:p>
        </p:txBody>
      </p:sp>
      <p:sp>
        <p:nvSpPr>
          <p:cNvPr id="5" name="text-4">
            <a:extLst xmlns:a="http://schemas.openxmlformats.org/drawingml/2006/main">
              <a:ext uri="{FF2B5EF4-FFF2-40B4-BE49-F238E27FC236}">
                <a16:creationId xmlns:a16="http://schemas.microsoft.com/office/drawing/2014/main" id="{5A2B5ED4-5468-4F9D-8D48-CC5013C57592}"/>
              </a:ext>
            </a:extLst>
          </p:cNvPr>
          <p:cNvSpPr>
            <a:spLocks xmlns:a="http://schemas.openxmlformats.org/drawingml/2006/main" noGrp="1"/>
          </p:cNvSpPr>
          <p:nvPr/>
        </p:nvSpPr>
        <p:spPr>
          <a:xfrm xmlns:a="http://schemas.openxmlformats.org/drawingml/2006/main">
            <a:off x="7572375" y="581025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B9D6FC"/>
                </a:solidFill>
                <a:latin typeface="Helvetica Neue"/>
                <a:ea typeface="Helvetica Neue"/>
                <a:cs typeface="Helvetica Neue"/>
              </a:defRPr>
            </a:pPr>
            <a:r>
              <a:rPr sz="1725" b="0">
                <a:solidFill>
                  <a:srgbClr val="B9D6FC"/>
                </a:solidFill>
                <a:latin typeface="Helvetica Neue"/>
                <a:ea typeface="Helvetica Neue"/>
                <a:cs typeface="Helvetica Neue"/>
              </a:rPr>
              <a:t>Primary study: master 8da3f3f</a:t>
            </a:r>
          </a:p>
        </p:txBody>
      </p:sp>
    </p:spTree>
    <p:extLst>
      <p:ext uri="{BB962C8B-B14F-4D97-AF65-F5344CB8AC3E}">
        <p14:creationId xmlns:p14="http://schemas.microsoft.com/office/powerpoint/2010/main" val="381333835"/>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EBEE61B-DFAE-4793-AD3B-9BFC2918DD5C}"/>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Research question</a:t>
            </a:r>
          </a:p>
        </p:txBody>
      </p:sp>
      <p:sp>
        <p:nvSpPr>
          <p:cNvPr id="2" name="slide-number">
            <a:extLst xmlns:a="http://schemas.openxmlformats.org/drawingml/2006/main">
              <a:ext uri="{FF2B5EF4-FFF2-40B4-BE49-F238E27FC236}">
                <a16:creationId xmlns:a16="http://schemas.microsoft.com/office/drawing/2014/main" id="{A20463AB-7DE9-4DCC-B9F0-67BE2DA15CD1}"/>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02</a:t>
            </a:r>
          </a:p>
        </p:txBody>
      </p:sp>
      <p:sp>
        <p:nvSpPr>
          <p:cNvPr id="3" name="text-2">
            <a:extLst xmlns:a="http://schemas.openxmlformats.org/drawingml/2006/main">
              <a:ext uri="{FF2B5EF4-FFF2-40B4-BE49-F238E27FC236}">
                <a16:creationId xmlns:a16="http://schemas.microsoft.com/office/drawing/2014/main" id="{887A2195-E146-4A65-82AC-52EFC86C28D3}"/>
              </a:ext>
            </a:extLst>
          </p:cNvPr>
          <p:cNvSpPr>
            <a:spLocks xmlns:a="http://schemas.openxmlformats.org/drawingml/2006/main" noGrp="1"/>
          </p:cNvSpPr>
          <p:nvPr/>
        </p:nvSpPr>
        <p:spPr>
          <a:xfrm xmlns:a="http://schemas.openxmlformats.org/drawingml/2006/main">
            <a:off x="685800" y="1838325"/>
            <a:ext cx="10810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Does role specialization improve results</a:t>
            </a:r>
          </a:p>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enough to justify its additional cost?</a:t>
            </a:r>
          </a:p>
        </p:txBody>
      </p:sp>
      <p:sp>
        <p:nvSpPr>
          <p:cNvPr id="4" name="text-3">
            <a:extLst xmlns:a="http://schemas.openxmlformats.org/drawingml/2006/main">
              <a:ext uri="{FF2B5EF4-FFF2-40B4-BE49-F238E27FC236}">
                <a16:creationId xmlns:a16="http://schemas.microsoft.com/office/drawing/2014/main" id="{8EAF22FF-3818-4344-B6AC-2D3944A2ADC9}"/>
              </a:ext>
            </a:extLst>
          </p:cNvPr>
          <p:cNvSpPr>
            <a:spLocks xmlns:a="http://schemas.openxmlformats.org/drawingml/2006/main" noGrp="1"/>
          </p:cNvSpPr>
          <p:nvPr/>
        </p:nvSpPr>
        <p:spPr>
          <a:xfrm xmlns:a="http://schemas.openxmlformats.org/drawingml/2006/main">
            <a:off x="685800" y="405765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468C9"/>
                </a:solidFill>
                <a:latin typeface="Helvetica Neue"/>
                <a:ea typeface="Helvetica Neue"/>
                <a:cs typeface="Helvetica Neue"/>
              </a:defRPr>
            </a:pPr>
            <a:r>
              <a:rPr sz="2175" b="1">
                <a:solidFill>
                  <a:srgbClr val="2468C9"/>
                </a:solidFill>
                <a:latin typeface="Helvetica Neue"/>
                <a:ea typeface="Helvetica Neue"/>
                <a:cs typeface="Helvetica Neue"/>
              </a:rPr>
              <a:t>H1. Simple tasks</a:t>
            </a:r>
          </a:p>
        </p:txBody>
      </p:sp>
      <p:sp>
        <p:nvSpPr>
          <p:cNvPr id="5" name="text-4">
            <a:extLst xmlns:a="http://schemas.openxmlformats.org/drawingml/2006/main">
              <a:ext uri="{FF2B5EF4-FFF2-40B4-BE49-F238E27FC236}">
                <a16:creationId xmlns:a16="http://schemas.microsoft.com/office/drawing/2014/main" id="{FE1BEBF2-9DAD-4665-95EF-5DD4D5D5CBFB}"/>
              </a:ext>
            </a:extLst>
          </p:cNvPr>
          <p:cNvSpPr>
            <a:spLocks xmlns:a="http://schemas.openxmlformats.org/drawingml/2006/main" noGrp="1"/>
          </p:cNvSpPr>
          <p:nvPr/>
        </p:nvSpPr>
        <p:spPr>
          <a:xfrm xmlns:a="http://schemas.openxmlformats.org/drawingml/2006/main">
            <a:off x="685800" y="462915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Single agents are</a:t>
            </a:r>
          </a:p>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more cost-effective</a:t>
            </a:r>
          </a:p>
        </p:txBody>
      </p:sp>
      <p:sp>
        <p:nvSpPr>
          <p:cNvPr id="6" name="text-5">
            <a:extLst xmlns:a="http://schemas.openxmlformats.org/drawingml/2006/main">
              <a:ext uri="{FF2B5EF4-FFF2-40B4-BE49-F238E27FC236}">
                <a16:creationId xmlns:a16="http://schemas.microsoft.com/office/drawing/2014/main" id="{D41F688A-CA82-4921-85E5-F17AAB2F6AA8}"/>
              </a:ext>
            </a:extLst>
          </p:cNvPr>
          <p:cNvSpPr>
            <a:spLocks xmlns:a="http://schemas.openxmlformats.org/drawingml/2006/main" noGrp="1"/>
          </p:cNvSpPr>
          <p:nvPr/>
        </p:nvSpPr>
        <p:spPr>
          <a:xfrm xmlns:a="http://schemas.openxmlformats.org/drawingml/2006/main">
            <a:off x="6381750" y="40576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D27820"/>
                </a:solidFill>
                <a:latin typeface="Helvetica Neue"/>
                <a:ea typeface="Helvetica Neue"/>
                <a:cs typeface="Helvetica Neue"/>
              </a:defRPr>
            </a:pPr>
            <a:r>
              <a:rPr sz="2175" b="1">
                <a:solidFill>
                  <a:srgbClr val="D27820"/>
                </a:solidFill>
                <a:latin typeface="Helvetica Neue"/>
                <a:ea typeface="Helvetica Neue"/>
                <a:cs typeface="Helvetica Neue"/>
              </a:rPr>
              <a:t>H2. Increasing complexity</a:t>
            </a:r>
          </a:p>
        </p:txBody>
      </p:sp>
      <p:sp>
        <p:nvSpPr>
          <p:cNvPr id="7" name="text-6">
            <a:extLst xmlns:a="http://schemas.openxmlformats.org/drawingml/2006/main">
              <a:ext uri="{FF2B5EF4-FFF2-40B4-BE49-F238E27FC236}">
                <a16:creationId xmlns:a16="http://schemas.microsoft.com/office/drawing/2014/main" id="{CEC53936-E987-42C4-8A26-642114069B0F}"/>
              </a:ext>
            </a:extLst>
          </p:cNvPr>
          <p:cNvSpPr>
            <a:spLocks xmlns:a="http://schemas.openxmlformats.org/drawingml/2006/main" noGrp="1"/>
          </p:cNvSpPr>
          <p:nvPr/>
        </p:nvSpPr>
        <p:spPr>
          <a:xfrm xmlns:a="http://schemas.openxmlformats.org/drawingml/2006/main">
            <a:off x="6381750" y="46291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Multi-agent benefits grow with</a:t>
            </a:r>
          </a:p>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task and codebase complexity</a:t>
            </a:r>
          </a:p>
        </p:txBody>
      </p:sp>
    </p:spTree>
    <p:extLst>
      <p:ext uri="{BB962C8B-B14F-4D97-AF65-F5344CB8AC3E}">
        <p14:creationId xmlns:p14="http://schemas.microsoft.com/office/powerpoint/2010/main" val="810075836"/>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C4C596A7-431E-42D2-B512-182283F6A217}"/>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Repository development loop</a:t>
            </a:r>
          </a:p>
        </p:txBody>
      </p:sp>
      <p:sp>
        <p:nvSpPr>
          <p:cNvPr id="2" name="slide-number">
            <a:extLst xmlns:a="http://schemas.openxmlformats.org/drawingml/2006/main">
              <a:ext uri="{FF2B5EF4-FFF2-40B4-BE49-F238E27FC236}">
                <a16:creationId xmlns:a16="http://schemas.microsoft.com/office/drawing/2014/main" id="{81D40AEC-044E-4E1D-845B-3D5C9397EE90}"/>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03</a:t>
            </a:r>
          </a:p>
        </p:txBody>
      </p:sp>
      <p:sp>
        <p:nvSpPr>
          <p:cNvPr id="3" name="text-2">
            <a:extLst xmlns:a="http://schemas.openxmlformats.org/drawingml/2006/main">
              <a:ext uri="{FF2B5EF4-FFF2-40B4-BE49-F238E27FC236}">
                <a16:creationId xmlns:a16="http://schemas.microsoft.com/office/drawing/2014/main" id="{97186072-1CD8-44CE-AAF3-92285F618D4C}"/>
              </a:ext>
            </a:extLst>
          </p:cNvPr>
          <p:cNvSpPr>
            <a:spLocks xmlns:a="http://schemas.openxmlformats.org/drawingml/2006/main" noGrp="1"/>
          </p:cNvSpPr>
          <p:nvPr/>
        </p:nvSpPr>
        <p:spPr>
          <a:xfrm xmlns:a="http://schemas.openxmlformats.org/drawingml/2006/main">
            <a:off x="685800" y="18097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01</a:t>
            </a:r>
          </a:p>
        </p:txBody>
      </p:sp>
      <p:sp>
        <p:nvSpPr>
          <p:cNvPr id="4" name="text-3">
            <a:extLst xmlns:a="http://schemas.openxmlformats.org/drawingml/2006/main">
              <a:ext uri="{FF2B5EF4-FFF2-40B4-BE49-F238E27FC236}">
                <a16:creationId xmlns:a16="http://schemas.microsoft.com/office/drawing/2014/main" id="{7260BB91-C4AD-4A6B-BDDC-6D0308E50297}"/>
              </a:ext>
            </a:extLst>
          </p:cNvPr>
          <p:cNvSpPr>
            <a:spLocks xmlns:a="http://schemas.openxmlformats.org/drawingml/2006/main" noGrp="1"/>
          </p:cNvSpPr>
          <p:nvPr/>
        </p:nvSpPr>
        <p:spPr>
          <a:xfrm xmlns:a="http://schemas.openxmlformats.org/drawingml/2006/main">
            <a:off x="1809750" y="18097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Task input</a:t>
            </a:r>
          </a:p>
        </p:txBody>
      </p:sp>
      <p:sp>
        <p:nvSpPr>
          <p:cNvPr id="5" name="text-4">
            <a:extLst xmlns:a="http://schemas.openxmlformats.org/drawingml/2006/main">
              <a:ext uri="{FF2B5EF4-FFF2-40B4-BE49-F238E27FC236}">
                <a16:creationId xmlns:a16="http://schemas.microsoft.com/office/drawing/2014/main" id="{A92C78BF-40CA-46AF-921F-39E735D9EE9B}"/>
              </a:ext>
            </a:extLst>
          </p:cNvPr>
          <p:cNvSpPr>
            <a:spLocks xmlns:a="http://schemas.openxmlformats.org/drawingml/2006/main" noGrp="1"/>
          </p:cNvSpPr>
          <p:nvPr/>
        </p:nvSpPr>
        <p:spPr>
          <a:xfrm xmlns:a="http://schemas.openxmlformats.org/drawingml/2006/main">
            <a:off x="1809750" y="22574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Repository snapshot, task description, visible tests</a:t>
            </a:r>
          </a:p>
        </p:txBody>
      </p:sp>
      <p:sp>
        <p:nvSpPr>
          <p:cNvPr id="6" name="text-5">
            <a:extLst xmlns:a="http://schemas.openxmlformats.org/drawingml/2006/main">
              <a:ext uri="{FF2B5EF4-FFF2-40B4-BE49-F238E27FC236}">
                <a16:creationId xmlns:a16="http://schemas.microsoft.com/office/drawing/2014/main" id="{95A4A0B9-7819-4398-96BE-368F8234F181}"/>
              </a:ext>
            </a:extLst>
          </p:cNvPr>
          <p:cNvSpPr>
            <a:spLocks xmlns:a="http://schemas.openxmlformats.org/drawingml/2006/main" noGrp="1"/>
          </p:cNvSpPr>
          <p:nvPr/>
        </p:nvSpPr>
        <p:spPr>
          <a:xfrm xmlns:a="http://schemas.openxmlformats.org/drawingml/2006/main">
            <a:off x="685800" y="28384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02</a:t>
            </a:r>
          </a:p>
        </p:txBody>
      </p:sp>
      <p:sp>
        <p:nvSpPr>
          <p:cNvPr id="7" name="text-6">
            <a:extLst xmlns:a="http://schemas.openxmlformats.org/drawingml/2006/main">
              <a:ext uri="{FF2B5EF4-FFF2-40B4-BE49-F238E27FC236}">
                <a16:creationId xmlns:a16="http://schemas.microsoft.com/office/drawing/2014/main" id="{0743C7DD-8EC7-464D-AC4C-55CB417CF36E}"/>
              </a:ext>
            </a:extLst>
          </p:cNvPr>
          <p:cNvSpPr>
            <a:spLocks xmlns:a="http://schemas.openxmlformats.org/drawingml/2006/main" noGrp="1"/>
          </p:cNvSpPr>
          <p:nvPr/>
        </p:nvSpPr>
        <p:spPr>
          <a:xfrm xmlns:a="http://schemas.openxmlformats.org/drawingml/2006/main">
            <a:off x="1809750" y="28384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Agent actions</a:t>
            </a:r>
          </a:p>
        </p:txBody>
      </p:sp>
      <p:sp>
        <p:nvSpPr>
          <p:cNvPr id="8" name="text-7">
            <a:extLst xmlns:a="http://schemas.openxmlformats.org/drawingml/2006/main">
              <a:ext uri="{FF2B5EF4-FFF2-40B4-BE49-F238E27FC236}">
                <a16:creationId xmlns:a16="http://schemas.microsoft.com/office/drawing/2014/main" id="{6AB1D4D1-9413-44DF-A35B-B197FDC2DBCD}"/>
              </a:ext>
            </a:extLst>
          </p:cNvPr>
          <p:cNvSpPr>
            <a:spLocks xmlns:a="http://schemas.openxmlformats.org/drawingml/2006/main" noGrp="1"/>
          </p:cNvSpPr>
          <p:nvPr/>
        </p:nvSpPr>
        <p:spPr>
          <a:xfrm xmlns:a="http://schemas.openxmlformats.org/drawingml/2006/main">
            <a:off x="1809750" y="32861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Read and search files, plan, edit code, run tests</a:t>
            </a:r>
          </a:p>
        </p:txBody>
      </p:sp>
      <p:sp>
        <p:nvSpPr>
          <p:cNvPr id="9" name="text-8">
            <a:extLst xmlns:a="http://schemas.openxmlformats.org/drawingml/2006/main">
              <a:ext uri="{FF2B5EF4-FFF2-40B4-BE49-F238E27FC236}">
                <a16:creationId xmlns:a16="http://schemas.microsoft.com/office/drawing/2014/main" id="{E8141A3C-9E37-403D-A771-D1D6C1EDACAC}"/>
              </a:ext>
            </a:extLst>
          </p:cNvPr>
          <p:cNvSpPr>
            <a:spLocks xmlns:a="http://schemas.openxmlformats.org/drawingml/2006/main" noGrp="1"/>
          </p:cNvSpPr>
          <p:nvPr/>
        </p:nvSpPr>
        <p:spPr>
          <a:xfrm xmlns:a="http://schemas.openxmlformats.org/drawingml/2006/main">
            <a:off x="685800" y="38671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03</a:t>
            </a:r>
          </a:p>
        </p:txBody>
      </p:sp>
      <p:sp>
        <p:nvSpPr>
          <p:cNvPr id="10" name="text-9">
            <a:extLst xmlns:a="http://schemas.openxmlformats.org/drawingml/2006/main">
              <a:ext uri="{FF2B5EF4-FFF2-40B4-BE49-F238E27FC236}">
                <a16:creationId xmlns:a16="http://schemas.microsoft.com/office/drawing/2014/main" id="{F0AF642E-63C2-4CDF-9790-007D80B03CDF}"/>
              </a:ext>
            </a:extLst>
          </p:cNvPr>
          <p:cNvSpPr>
            <a:spLocks xmlns:a="http://schemas.openxmlformats.org/drawingml/2006/main" noGrp="1"/>
          </p:cNvSpPr>
          <p:nvPr/>
        </p:nvSpPr>
        <p:spPr>
          <a:xfrm xmlns:a="http://schemas.openxmlformats.org/drawingml/2006/main">
            <a:off x="1809750" y="38671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Revision loop</a:t>
            </a:r>
          </a:p>
        </p:txBody>
      </p:sp>
      <p:sp>
        <p:nvSpPr>
          <p:cNvPr id="11" name="text-10">
            <a:extLst xmlns:a="http://schemas.openxmlformats.org/drawingml/2006/main">
              <a:ext uri="{FF2B5EF4-FFF2-40B4-BE49-F238E27FC236}">
                <a16:creationId xmlns:a16="http://schemas.microsoft.com/office/drawing/2014/main" id="{02D86E3A-6012-4D4A-86E7-B0DA253AD549}"/>
              </a:ext>
            </a:extLst>
          </p:cNvPr>
          <p:cNvSpPr>
            <a:spLocks xmlns:a="http://schemas.openxmlformats.org/drawingml/2006/main" noGrp="1"/>
          </p:cNvSpPr>
          <p:nvPr/>
        </p:nvSpPr>
        <p:spPr>
          <a:xfrm xmlns:a="http://schemas.openxmlformats.org/drawingml/2006/main">
            <a:off x="1809750" y="43148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Use tool feedback until completion or a budget limit</a:t>
            </a:r>
          </a:p>
        </p:txBody>
      </p:sp>
      <p:sp>
        <p:nvSpPr>
          <p:cNvPr id="12" name="text-11">
            <a:extLst xmlns:a="http://schemas.openxmlformats.org/drawingml/2006/main">
              <a:ext uri="{FF2B5EF4-FFF2-40B4-BE49-F238E27FC236}">
                <a16:creationId xmlns:a16="http://schemas.microsoft.com/office/drawing/2014/main" id="{FC33A45A-3253-44A3-B414-6E61A7D8A923}"/>
              </a:ext>
            </a:extLst>
          </p:cNvPr>
          <p:cNvSpPr>
            <a:spLocks xmlns:a="http://schemas.openxmlformats.org/drawingml/2006/main" noGrp="1"/>
          </p:cNvSpPr>
          <p:nvPr/>
        </p:nvSpPr>
        <p:spPr>
          <a:xfrm xmlns:a="http://schemas.openxmlformats.org/drawingml/2006/main">
            <a:off x="685800" y="48958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04</a:t>
            </a:r>
          </a:p>
        </p:txBody>
      </p:sp>
      <p:sp>
        <p:nvSpPr>
          <p:cNvPr id="13" name="text-12">
            <a:extLst xmlns:a="http://schemas.openxmlformats.org/drawingml/2006/main">
              <a:ext uri="{FF2B5EF4-FFF2-40B4-BE49-F238E27FC236}">
                <a16:creationId xmlns:a16="http://schemas.microsoft.com/office/drawing/2014/main" id="{227E34D9-CF9A-4477-A350-F3B196DF13FF}"/>
              </a:ext>
            </a:extLst>
          </p:cNvPr>
          <p:cNvSpPr>
            <a:spLocks xmlns:a="http://schemas.openxmlformats.org/drawingml/2006/main" noGrp="1"/>
          </p:cNvSpPr>
          <p:nvPr/>
        </p:nvSpPr>
        <p:spPr>
          <a:xfrm xmlns:a="http://schemas.openxmlformats.org/drawingml/2006/main">
            <a:off x="1809750" y="48958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External evaluation</a:t>
            </a:r>
          </a:p>
        </p:txBody>
      </p:sp>
      <p:sp>
        <p:nvSpPr>
          <p:cNvPr id="14" name="text-13">
            <a:extLst xmlns:a="http://schemas.openxmlformats.org/drawingml/2006/main">
              <a:ext uri="{FF2B5EF4-FFF2-40B4-BE49-F238E27FC236}">
                <a16:creationId xmlns:a16="http://schemas.microsoft.com/office/drawing/2014/main" id="{91F318EE-CBF8-4DC9-B159-908B1EDED3A2}"/>
              </a:ext>
            </a:extLst>
          </p:cNvPr>
          <p:cNvSpPr>
            <a:spLocks xmlns:a="http://schemas.openxmlformats.org/drawingml/2006/main" noGrp="1"/>
          </p:cNvSpPr>
          <p:nvPr/>
        </p:nvSpPr>
        <p:spPr>
          <a:xfrm xmlns:a="http://schemas.openxmlformats.org/drawingml/2006/main">
            <a:off x="1809750" y="53435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Check the final patch, required tests, and regressions</a:t>
            </a:r>
          </a:p>
        </p:txBody>
      </p:sp>
    </p:spTree>
    <p:extLst>
      <p:ext uri="{BB962C8B-B14F-4D97-AF65-F5344CB8AC3E}">
        <p14:creationId xmlns:p14="http://schemas.microsoft.com/office/powerpoint/2010/main" val="627194374"/>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4E8FF26-FFC1-474B-BA92-1FE7988610FE}"/>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Benchmark composition</a:t>
            </a:r>
          </a:p>
        </p:txBody>
      </p:sp>
      <p:sp>
        <p:nvSpPr>
          <p:cNvPr id="2" name="slide-number">
            <a:extLst xmlns:a="http://schemas.openxmlformats.org/drawingml/2006/main">
              <a:ext uri="{FF2B5EF4-FFF2-40B4-BE49-F238E27FC236}">
                <a16:creationId xmlns:a16="http://schemas.microsoft.com/office/drawing/2014/main" id="{5B4D1FE0-B820-4EB9-B42C-33E1E363C471}"/>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04</a:t>
            </a:r>
          </a:p>
        </p:txBody>
      </p:sp>
      <p:sp>
        <p:nvSpPr>
          <p:cNvPr id="3" name="text-2">
            <a:extLst xmlns:a="http://schemas.openxmlformats.org/drawingml/2006/main">
              <a:ext uri="{FF2B5EF4-FFF2-40B4-BE49-F238E27FC236}">
                <a16:creationId xmlns:a16="http://schemas.microsoft.com/office/drawing/2014/main" id="{F9CFEE71-46A7-4775-A9CE-9B6FC202DADB}"/>
              </a:ext>
            </a:extLst>
          </p:cNvPr>
          <p:cNvSpPr>
            <a:spLocks xmlns:a="http://schemas.openxmlformats.org/drawingml/2006/main" noGrp="1"/>
          </p:cNvSpPr>
          <p:nvPr/>
        </p:nvSpPr>
        <p:spPr>
          <a:xfrm xmlns:a="http://schemas.openxmlformats.org/drawingml/2006/main">
            <a:off x="685800" y="1562100"/>
            <a:ext cx="209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2468C9"/>
                </a:solidFill>
                <a:latin typeface="Helvetica Neue"/>
                <a:ea typeface="Helvetica Neue"/>
                <a:cs typeface="Helvetica Neue"/>
              </a:defRPr>
            </a:pPr>
            <a:r>
              <a:rPr sz="6300" b="1">
                <a:solidFill>
                  <a:srgbClr val="2468C9"/>
                </a:solidFill>
                <a:latin typeface="Helvetica Neue"/>
                <a:ea typeface="Helvetica Neue"/>
                <a:cs typeface="Helvetica Neue"/>
              </a:rPr>
              <a:t>39</a:t>
            </a:r>
          </a:p>
        </p:txBody>
      </p:sp>
      <p:sp>
        <p:nvSpPr>
          <p:cNvPr id="4" name="text-3">
            <a:extLst xmlns:a="http://schemas.openxmlformats.org/drawingml/2006/main">
              <a:ext uri="{FF2B5EF4-FFF2-40B4-BE49-F238E27FC236}">
                <a16:creationId xmlns:a16="http://schemas.microsoft.com/office/drawing/2014/main" id="{395142BF-5754-4B72-ADBE-CF2A01649C87}"/>
              </a:ext>
            </a:extLst>
          </p:cNvPr>
          <p:cNvSpPr>
            <a:spLocks xmlns:a="http://schemas.openxmlformats.org/drawingml/2006/main" noGrp="1"/>
          </p:cNvSpPr>
          <p:nvPr/>
        </p:nvSpPr>
        <p:spPr>
          <a:xfrm xmlns:a="http://schemas.openxmlformats.org/drawingml/2006/main">
            <a:off x="2400300" y="1971675"/>
            <a:ext cx="309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3D"/>
                </a:solidFill>
                <a:latin typeface="Helvetica Neue"/>
                <a:ea typeface="Helvetica Neue"/>
                <a:cs typeface="Helvetica Neue"/>
              </a:defRPr>
            </a:pPr>
            <a:r>
              <a:rPr sz="2175" b="0">
                <a:solidFill>
                  <a:srgbClr val="17283D"/>
                </a:solidFill>
                <a:latin typeface="Helvetica Neue"/>
                <a:ea typeface="Helvetica Neue"/>
                <a:cs typeface="Helvetica Neue"/>
              </a:rPr>
              <a:t>unique tasks</a:t>
            </a:r>
          </a:p>
        </p:txBody>
      </p:sp>
      <p:sp>
        <p:nvSpPr>
          <p:cNvPr id="5" name="text-4">
            <a:extLst xmlns:a="http://schemas.openxmlformats.org/drawingml/2006/main">
              <a:ext uri="{FF2B5EF4-FFF2-40B4-BE49-F238E27FC236}">
                <a16:creationId xmlns:a16="http://schemas.microsoft.com/office/drawing/2014/main" id="{F34322B3-B303-469D-B065-78EDA58AE75E}"/>
              </a:ext>
            </a:extLst>
          </p:cNvPr>
          <p:cNvSpPr>
            <a:spLocks xmlns:a="http://schemas.openxmlformats.org/drawingml/2006/main" noGrp="1"/>
          </p:cNvSpPr>
          <p:nvPr/>
        </p:nvSpPr>
        <p:spPr>
          <a:xfrm xmlns:a="http://schemas.openxmlformats.org/drawingml/2006/main">
            <a:off x="6534150" y="15621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17283D"/>
                </a:solidFill>
                <a:latin typeface="Helvetica Neue"/>
                <a:ea typeface="Helvetica Neue"/>
                <a:cs typeface="Helvetica Neue"/>
              </a:defRPr>
            </a:pPr>
            <a:r>
              <a:rPr sz="6300" b="1">
                <a:solidFill>
                  <a:srgbClr val="17283D"/>
                </a:solidFill>
                <a:latin typeface="Helvetica Neue"/>
                <a:ea typeface="Helvetica Neue"/>
                <a:cs typeface="Helvetica Neue"/>
              </a:rPr>
              <a:t>102</a:t>
            </a:r>
          </a:p>
        </p:txBody>
      </p:sp>
      <p:sp>
        <p:nvSpPr>
          <p:cNvPr id="6" name="text-5">
            <a:extLst xmlns:a="http://schemas.openxmlformats.org/drawingml/2006/main">
              <a:ext uri="{FF2B5EF4-FFF2-40B4-BE49-F238E27FC236}">
                <a16:creationId xmlns:a16="http://schemas.microsoft.com/office/drawing/2014/main" id="{91823671-A4A6-4A80-8C41-1E519F600B42}"/>
              </a:ext>
            </a:extLst>
          </p:cNvPr>
          <p:cNvSpPr>
            <a:spLocks xmlns:a="http://schemas.openxmlformats.org/drawingml/2006/main" noGrp="1"/>
          </p:cNvSpPr>
          <p:nvPr/>
        </p:nvSpPr>
        <p:spPr>
          <a:xfrm xmlns:a="http://schemas.openxmlformats.org/drawingml/2006/main">
            <a:off x="8896350" y="19716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3D"/>
                </a:solidFill>
                <a:latin typeface="Helvetica Neue"/>
                <a:ea typeface="Helvetica Neue"/>
                <a:cs typeface="Helvetica Neue"/>
              </a:defRPr>
            </a:pPr>
            <a:r>
              <a:rPr sz="2175" b="0">
                <a:solidFill>
                  <a:srgbClr val="17283D"/>
                </a:solidFill>
                <a:latin typeface="Helvetica Neue"/>
                <a:ea typeface="Helvetica Neue"/>
                <a:cs typeface="Helvetica Neue"/>
              </a:rPr>
              <a:t>scored runs</a:t>
            </a:r>
          </a:p>
        </p:txBody>
      </p:sp>
      <p:graphicFrame>
        <p:nvGraphicFramePr>
          <p:cNvPr id="15" name=""/>
          <p:cNvGraphicFramePr/>
          <p:nvPr/>
        </p:nvGraphicFramePr>
        <p:xfrm>
          <a:off xmlns:a="http://schemas.openxmlformats.org/drawingml/2006/main" x="685800" y="2933700"/>
          <a:ext xmlns:a="http://schemas.openxmlformats.org/drawingml/2006/main" cx="10820400" cy="2781300"/>
        </p:xfrm>
        <a:graphic xmlns:a="http://schemas.openxmlformats.org/drawingml/2006/main">
          <a:graphicData uri="http://schemas.openxmlformats.org/drawingml/2006/table">
            <a:tbl>
              <a:tblPr firstRow="0" bandRow="0"/>
              <a:tblGrid>
                <a:gridCol w="3238500"/>
                <a:gridCol w="1524000"/>
                <a:gridCol w="2000250"/>
                <a:gridCol w="4057650"/>
              </a:tblGrid>
              <a:tr h="619125">
                <a:tc>
                  <a:txBody>
                    <a:bodyPr>
                      <a:noAutofit/>
                    </a:bodyPr>
                    <a:lstStyle/>
                    <a:p>
                      <a:pPr algn="l"/>
                      <a:r>
                        <a:rPr sz="1800" b="1">
                          <a:solidFill>
                            <a:srgbClr val="FFFFFF"/>
                          </a:solidFill>
                          <a:latin typeface="Helvetica Neue"/>
                          <a:ea typeface="Helvetica Neue"/>
                          <a:cs typeface="Helvetica Neue"/>
                        </a:rPr>
                        <a:t>Block</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Tasks</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Repositories</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Architectures</a:t>
                      </a:r>
                    </a:p>
                  </a:txBody>
                  <a:tcPr marL="152400" marR="114300" marT="123825" marB="114300" anchor="ctr">
                    <a:solidFill>
                      <a:srgbClr val="17283D"/>
                    </a:solidFill>
                  </a:tcPr>
                </a:tc>
              </a:tr>
              <a:tr h="695325">
                <a:tc>
                  <a:txBody>
                    <a:bodyPr>
                      <a:noAutofit/>
                    </a:bodyPr>
                    <a:lstStyle/>
                    <a:p>
                      <a:pPr algn="l"/>
                      <a:r>
                        <a:rPr sz="1875" b="0">
                          <a:solidFill>
                            <a:srgbClr val="17283D"/>
                          </a:solidFill>
                          <a:latin typeface="Helvetica Neue"/>
                          <a:ea typeface="Helvetica Neue"/>
                          <a:cs typeface="Helvetica Neue"/>
                        </a:rPr>
                        <a:t>Core small</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12</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11</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Single, graph, guarded</a:t>
                      </a:r>
                    </a:p>
                  </a:txBody>
                  <a:tcPr marL="152400" marR="114300" marT="123825" marB="114300" anchor="ctr">
                    <a:solidFill>
                      <a:srgbClr val="FFFFFF"/>
                    </a:solidFill>
                  </a:tcPr>
                </a:tc>
              </a:tr>
              <a:tr h="695325">
                <a:tc>
                  <a:txBody>
                    <a:bodyPr>
                      <a:noAutofit/>
                    </a:bodyPr>
                    <a:lstStyle/>
                    <a:p>
                      <a:pPr algn="l"/>
                      <a:r>
                        <a:rPr sz="1875" b="0">
                          <a:solidFill>
                            <a:srgbClr val="17283D"/>
                          </a:solidFill>
                          <a:latin typeface="Helvetica Neue"/>
                          <a:ea typeface="Helvetica Neue"/>
                          <a:cs typeface="Helvetica Neue"/>
                        </a:rPr>
                        <a:t>Core medium</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12</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6</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Single, graph, guarded</a:t>
                      </a:r>
                    </a:p>
                  </a:txBody>
                  <a:tcPr marL="152400" marR="114300" marT="123825" marB="114300" anchor="ctr">
                    <a:solidFill>
                      <a:srgbClr val="EFF2F6"/>
                    </a:solidFill>
                  </a:tcPr>
                </a:tc>
              </a:tr>
              <a:tr h="695325">
                <a:tc>
                  <a:txBody>
                    <a:bodyPr>
                      <a:noAutofit/>
                    </a:bodyPr>
                    <a:lstStyle/>
                    <a:p>
                      <a:pPr algn="l"/>
                      <a:r>
                        <a:rPr sz="1875" b="0">
                          <a:solidFill>
                            <a:srgbClr val="17283D"/>
                          </a:solidFill>
                          <a:latin typeface="Helvetica Neue"/>
                          <a:ea typeface="Helvetica Neue"/>
                          <a:cs typeface="Helvetica Neue"/>
                        </a:rPr>
                        <a:t>SWE Pro subset</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15</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3</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Single, graph</a:t>
                      </a:r>
                    </a:p>
                  </a:txBody>
                  <a:tcPr marL="152400" marR="114300" marT="123825" marB="114300" anchor="ctr">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469A9127-AED2-4B5E-A19D-C11680B06305}"/>
              </a:ext>
            </a:extLst>
          </p:cNvPr>
          <p:cNvSpPr>
            <a:spLocks xmlns:a="http://schemas.openxmlformats.org/drawingml/2006/main" noGrp="1"/>
          </p:cNvSpPr>
          <p:nvPr/>
        </p:nvSpPr>
        <p:spPr>
          <a:xfrm xmlns:a="http://schemas.openxmlformats.org/drawingml/2006/main">
            <a:off x="6858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174"/>
                </a:solidFill>
                <a:latin typeface="Helvetica Neue"/>
                <a:ea typeface="Helvetica Neue"/>
                <a:cs typeface="Helvetica Neue"/>
              </a:defRPr>
            </a:pPr>
            <a:r>
              <a:rPr sz="1575" b="0">
                <a:solidFill>
                  <a:srgbClr val="516174"/>
                </a:solidFill>
                <a:latin typeface="Helvetica Neue"/>
                <a:ea typeface="Helvetica Neue"/>
                <a:cs typeface="Helvetica Neue"/>
              </a:rPr>
              <a:t>Core: 24 tasks from 17 Python repositories. Two unpaired SQLGlot tasks are excluded.</a:t>
            </a:r>
          </a:p>
        </p:txBody>
      </p:sp>
    </p:spTree>
    <p:extLst>
      <p:ext uri="{BB962C8B-B14F-4D97-AF65-F5344CB8AC3E}">
        <p14:creationId xmlns:p14="http://schemas.microsoft.com/office/powerpoint/2010/main" val="2044148697"/>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544461A-A82E-4D49-B1CC-8961455CFAFA}"/>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Task construction and validation</a:t>
            </a:r>
          </a:p>
        </p:txBody>
      </p:sp>
      <p:sp>
        <p:nvSpPr>
          <p:cNvPr id="2" name="slide-number">
            <a:extLst xmlns:a="http://schemas.openxmlformats.org/drawingml/2006/main">
              <a:ext uri="{FF2B5EF4-FFF2-40B4-BE49-F238E27FC236}">
                <a16:creationId xmlns:a16="http://schemas.microsoft.com/office/drawing/2014/main" id="{3EFCDEFB-9A36-4EF8-91BA-462017C5F1CF}"/>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05</a:t>
            </a:r>
          </a:p>
        </p:txBody>
      </p:sp>
      <p:graphicFrame>
        <p:nvGraphicFramePr>
          <p:cNvPr id="8" name=""/>
          <p:cNvGraphicFramePr/>
          <p:nvPr/>
        </p:nvGraphicFramePr>
        <p:xfrm>
          <a:off xmlns:a="http://schemas.openxmlformats.org/drawingml/2006/main" x="685800" y="1790700"/>
          <a:ext xmlns:a="http://schemas.openxmlformats.org/drawingml/2006/main" cx="10820400" cy="3190875"/>
        </p:xfrm>
        <a:graphic xmlns:a="http://schemas.openxmlformats.org/drawingml/2006/main">
          <a:graphicData uri="http://schemas.openxmlformats.org/drawingml/2006/table">
            <a:tbl>
              <a:tblPr firstRow="0" bandRow="0"/>
              <a:tblGrid>
                <a:gridCol w="3429000"/>
                <a:gridCol w="1905000"/>
                <a:gridCol w="2381250"/>
                <a:gridCol w="3105150"/>
              </a:tblGrid>
              <a:tr h="666750">
                <a:tc>
                  <a:txBody>
                    <a:bodyPr>
                      <a:noAutofit/>
                    </a:bodyPr>
                    <a:lstStyle/>
                    <a:p>
                      <a:pPr algn="l"/>
                      <a:r>
                        <a:rPr sz="1800" b="1">
                          <a:solidFill>
                            <a:srgbClr val="FFFFFF"/>
                          </a:solidFill>
                          <a:latin typeface="Helvetica Neue"/>
                          <a:ea typeface="Helvetica Neue"/>
                          <a:cs typeface="Helvetica Neue"/>
                        </a:rPr>
                        <a:t>Test group</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Base state</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Reference solution</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Agent access</a:t>
                      </a:r>
                    </a:p>
                  </a:txBody>
                  <a:tcPr marL="152400" marR="114300" marT="123825" marB="114300" anchor="ctr">
                    <a:solidFill>
                      <a:srgbClr val="17283D"/>
                    </a:solidFill>
                  </a:tcPr>
                </a:tc>
              </a:tr>
              <a:tr h="838200">
                <a:tc>
                  <a:txBody>
                    <a:bodyPr>
                      <a:noAutofit/>
                    </a:bodyPr>
                    <a:lstStyle/>
                    <a:p>
                      <a:pPr algn="l"/>
                      <a:r>
                        <a:rPr sz="1875" b="0">
                          <a:solidFill>
                            <a:srgbClr val="17283D"/>
                          </a:solidFill>
                          <a:latin typeface="Helvetica Neue"/>
                          <a:ea typeface="Helvetica Neue"/>
                          <a:cs typeface="Helvetica Neue"/>
                        </a:rPr>
                        <a:t>Visible tests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During development</a:t>
                      </a:r>
                    </a:p>
                  </a:txBody>
                  <a:tcPr marL="152400" marR="114300" marT="123825" marB="114300" anchor="ctr">
                    <a:solidFill>
                      <a:srgbClr val="FFFFFF"/>
                    </a:solidFill>
                  </a:tcPr>
                </a:tc>
              </a:tr>
              <a:tr h="838200">
                <a:tc>
                  <a:txBody>
                    <a:bodyPr>
                      <a:noAutofit/>
                    </a:bodyPr>
                    <a:lstStyle/>
                    <a:p>
                      <a:pPr algn="l"/>
                      <a:r>
                        <a:rPr sz="1875" b="0">
                          <a:solidFill>
                            <a:srgbClr val="17283D"/>
                          </a:solidFill>
                          <a:latin typeface="Helvetica Neue"/>
                          <a:ea typeface="Helvetica Neue"/>
                          <a:cs typeface="Helvetica Neue"/>
                        </a:rPr>
                        <a:t>Hidden semantic</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Fail</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Final evaluation only</a:t>
                      </a:r>
                    </a:p>
                  </a:txBody>
                  <a:tcPr marL="152400" marR="114300" marT="123825" marB="114300" anchor="ctr">
                    <a:solidFill>
                      <a:srgbClr val="EFF2F6"/>
                    </a:solidFill>
                  </a:tcPr>
                </a:tc>
              </a:tr>
              <a:tr h="838200">
                <a:tc>
                  <a:txBody>
                    <a:bodyPr>
                      <a:noAutofit/>
                    </a:bodyPr>
                    <a:lstStyle/>
                    <a:p>
                      <a:pPr algn="l"/>
                      <a:r>
                        <a:rPr sz="1875" b="0">
                          <a:solidFill>
                            <a:srgbClr val="17283D"/>
                          </a:solidFill>
                          <a:latin typeface="Helvetica Neue"/>
                          <a:ea typeface="Helvetica Neue"/>
                          <a:cs typeface="Helvetica Neue"/>
                        </a:rPr>
                        <a:t>Compatibility</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Depends on the suite</a:t>
                      </a:r>
                    </a:p>
                  </a:txBody>
                  <a:tcPr marL="152400" marR="114300" marT="123825" marB="114300"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E3032FF4-B61B-47D9-9908-778DA5307904}"/>
              </a:ext>
            </a:extLst>
          </p:cNvPr>
          <p:cNvSpPr>
            <a:spLocks xmlns:a="http://schemas.openxmlformats.org/drawingml/2006/main" noGrp="1"/>
          </p:cNvSpPr>
          <p:nvPr/>
        </p:nvSpPr>
        <p:spPr>
          <a:xfrm xmlns:a="http://schemas.openxmlformats.org/drawingml/2006/main">
            <a:off x="685800" y="52673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Real upstream changes provide the starting point and reference behavior.</a:t>
            </a:r>
          </a:p>
        </p:txBody>
      </p:sp>
      <p:sp>
        <p:nvSpPr>
          <p:cNvPr id="5" name="text-3">
            <a:extLst xmlns:a="http://schemas.openxmlformats.org/drawingml/2006/main">
              <a:ext uri="{FF2B5EF4-FFF2-40B4-BE49-F238E27FC236}">
                <a16:creationId xmlns:a16="http://schemas.microsoft.com/office/drawing/2014/main" id="{2C40A326-5DE7-4D94-8249-75768DD0E8D8}"/>
              </a:ext>
            </a:extLst>
          </p:cNvPr>
          <p:cNvSpPr>
            <a:spLocks xmlns:a="http://schemas.openxmlformats.org/drawingml/2006/main" noGrp="1"/>
          </p:cNvSpPr>
          <p:nvPr/>
        </p:nvSpPr>
        <p:spPr>
          <a:xfrm xmlns:a="http://schemas.openxmlformats.org/drawingml/2006/main">
            <a:off x="685800" y="58864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174"/>
                </a:solidFill>
                <a:latin typeface="Helvetica Neue"/>
                <a:ea typeface="Helvetica Neue"/>
                <a:cs typeface="Helvetica Neue"/>
              </a:defRPr>
            </a:pPr>
            <a:r>
              <a:rPr sz="1575" b="0">
                <a:solidFill>
                  <a:srgbClr val="516174"/>
                </a:solidFill>
                <a:latin typeface="Helvetica Neue"/>
                <a:ea typeface="Helvetica Neue"/>
                <a:cs typeface="Helvetica Neue"/>
              </a:rPr>
              <a:t>Local descriptions are curated. The SWE Pro importer and validation pipeline automate later steps.</a:t>
            </a:r>
          </a:p>
        </p:txBody>
      </p:sp>
    </p:spTree>
    <p:extLst>
      <p:ext uri="{BB962C8B-B14F-4D97-AF65-F5344CB8AC3E}">
        <p14:creationId xmlns:p14="http://schemas.microsoft.com/office/powerpoint/2010/main" val="1455553812"/>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5FE6874A-FC58-413B-BE16-A4B5EE53A6A6}"/>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Three architectures</a:t>
            </a:r>
          </a:p>
        </p:txBody>
      </p:sp>
      <p:sp>
        <p:nvSpPr>
          <p:cNvPr id="2" name="slide-number">
            <a:extLst xmlns:a="http://schemas.openxmlformats.org/drawingml/2006/main">
              <a:ext uri="{FF2B5EF4-FFF2-40B4-BE49-F238E27FC236}">
                <a16:creationId xmlns:a16="http://schemas.microsoft.com/office/drawing/2014/main" id="{4E0B1EBC-BC78-4D91-8552-40449610404A}"/>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06</a:t>
            </a:r>
          </a:p>
        </p:txBody>
      </p:sp>
      <p:graphicFrame>
        <p:nvGraphicFramePr>
          <p:cNvPr id="7" name=""/>
          <p:cNvGraphicFramePr/>
          <p:nvPr/>
        </p:nvGraphicFramePr>
        <p:xfrm>
          <a:off xmlns:a="http://schemas.openxmlformats.org/drawingml/2006/main" x="685800" y="1876425"/>
          <a:ext xmlns:a="http://schemas.openxmlformats.org/drawingml/2006/main" cx="10820400" cy="3181350"/>
        </p:xfrm>
        <a:graphic xmlns:a="http://schemas.openxmlformats.org/drawingml/2006/main">
          <a:graphicData uri="http://schemas.openxmlformats.org/drawingml/2006/table">
            <a:tbl>
              <a:tblPr firstRow="0" bandRow="0"/>
              <a:tblGrid>
                <a:gridCol w="2667000"/>
                <a:gridCol w="3810000"/>
                <a:gridCol w="4343400"/>
              </a:tblGrid>
              <a:tr h="666750">
                <a:tc>
                  <a:txBody>
                    <a:bodyPr>
                      <a:noAutofit/>
                    </a:bodyPr>
                    <a:lstStyle/>
                    <a:p>
                      <a:pPr algn="l"/>
                      <a:r>
                        <a:rPr sz="1800" b="1">
                          <a:solidFill>
                            <a:srgbClr val="FFFFFF"/>
                          </a:solidFill>
                          <a:latin typeface="Helvetica Neue"/>
                          <a:ea typeface="Helvetica Neue"/>
                          <a:cs typeface="Helvetica Neue"/>
                        </a:rPr>
                        <a:t>Architecture</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Control policy</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Responsibility</a:t>
                      </a:r>
                    </a:p>
                  </a:txBody>
                  <a:tcPr marL="152400" marR="114300" marT="123825" marB="114300" anchor="ctr">
                    <a:solidFill>
                      <a:srgbClr val="17283D"/>
                    </a:solidFill>
                  </a:tcPr>
                </a:tc>
              </a:tr>
              <a:tr h="838200">
                <a:tc>
                  <a:txBody>
                    <a:bodyPr>
                      <a:noAutofit/>
                    </a:bodyPr>
                    <a:lstStyle/>
                    <a:p>
                      <a:pPr algn="l"/>
                      <a:r>
                        <a:rPr sz="1875" b="0">
                          <a:solidFill>
                            <a:srgbClr val="17283D"/>
                          </a:solidFill>
                          <a:latin typeface="Helvetica Neue"/>
                          <a:ea typeface="Helvetica Neue"/>
                          <a:cs typeface="Helvetica Neue"/>
                        </a:rPr>
                        <a:t>Single</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One development loop</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Research, code, test, repair</a:t>
                      </a:r>
                    </a:p>
                  </a:txBody>
                  <a:tcPr marL="152400" marR="114300" marT="123825" marB="114300" anchor="ctr">
                    <a:solidFill>
                      <a:srgbClr val="FFFFFF"/>
                    </a:solidFill>
                  </a:tcPr>
                </a:tc>
              </a:tr>
              <a:tr h="838200">
                <a:tc>
                  <a:txBody>
                    <a:bodyPr>
                      <a:noAutofit/>
                    </a:bodyPr>
                    <a:lstStyle/>
                    <a:p>
                      <a:pPr algn="l"/>
                      <a:r>
                        <a:rPr sz="1875" b="0">
                          <a:solidFill>
                            <a:srgbClr val="17283D"/>
                          </a:solidFill>
                          <a:latin typeface="Helvetica Neue"/>
                          <a:ea typeface="Helvetica Neue"/>
                          <a:cs typeface="Helvetica Neue"/>
                        </a:rPr>
                        <a:t>Multi-graph</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Deterministic role routing</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Planner, developer, tester, reviewer</a:t>
                      </a:r>
                    </a:p>
                  </a:txBody>
                  <a:tcPr marL="152400" marR="114300" marT="123825" marB="114300" anchor="ctr">
                    <a:solidFill>
                      <a:srgbClr val="EFF2F6"/>
                    </a:solidFill>
                  </a:tcPr>
                </a:tc>
              </a:tr>
              <a:tr h="838200">
                <a:tc>
                  <a:txBody>
                    <a:bodyPr>
                      <a:noAutofit/>
                    </a:bodyPr>
                    <a:lstStyle/>
                    <a:p>
                      <a:pPr algn="l"/>
                      <a:r>
                        <a:rPr sz="1875" b="0">
                          <a:solidFill>
                            <a:srgbClr val="17283D"/>
                          </a:solidFill>
                          <a:latin typeface="Helvetica Neue"/>
                          <a:ea typeface="Helvetica Neue"/>
                          <a:cs typeface="Helvetica Neue"/>
                        </a:rPr>
                        <a:t>Guarded</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Supervisor with phase rules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Delegation with enforced checks</a:t>
                      </a:r>
                    </a:p>
                  </a:txBody>
                  <a:tcPr marL="152400" marR="114300" marT="123825" marB="114300"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712E7DF0-5C78-41B0-BB42-E8AC893D50B8}"/>
              </a:ext>
            </a:extLst>
          </p:cNvPr>
          <p:cNvSpPr>
            <a:spLocks xmlns:a="http://schemas.openxmlformats.org/drawingml/2006/main" noGrp="1"/>
          </p:cNvSpPr>
          <p:nvPr/>
        </p:nvSpPr>
        <p:spPr>
          <a:xfrm xmlns:a="http://schemas.openxmlformats.org/drawingml/2006/main">
            <a:off x="685800" y="550545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Shared executor and evaluator. Sequential roles with separate contexts.</a:t>
            </a:r>
          </a:p>
        </p:txBody>
      </p:sp>
    </p:spTree>
    <p:extLst>
      <p:ext uri="{BB962C8B-B14F-4D97-AF65-F5344CB8AC3E}">
        <p14:creationId xmlns:p14="http://schemas.microsoft.com/office/powerpoint/2010/main" val="378324339"/>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2E515B80-CB6E-4CF6-8D79-181B5FB2B9C0}"/>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Evaluation and agent metrics</a:t>
            </a:r>
          </a:p>
        </p:txBody>
      </p:sp>
      <p:sp>
        <p:nvSpPr>
          <p:cNvPr id="2" name="slide-number">
            <a:extLst xmlns:a="http://schemas.openxmlformats.org/drawingml/2006/main">
              <a:ext uri="{FF2B5EF4-FFF2-40B4-BE49-F238E27FC236}">
                <a16:creationId xmlns:a16="http://schemas.microsoft.com/office/drawing/2014/main" id="{0F86FAB0-C1A5-43B8-9F0B-0088315969AA}"/>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07</a:t>
            </a:r>
          </a:p>
        </p:txBody>
      </p:sp>
      <p:sp>
        <p:nvSpPr>
          <p:cNvPr id="3" name="text-2">
            <a:extLst xmlns:a="http://schemas.openxmlformats.org/drawingml/2006/main">
              <a:ext uri="{FF2B5EF4-FFF2-40B4-BE49-F238E27FC236}">
                <a16:creationId xmlns:a16="http://schemas.microsoft.com/office/drawing/2014/main" id="{5D0D0667-4CEF-4E31-B9F8-0F16648A895E}"/>
              </a:ext>
            </a:extLst>
          </p:cNvPr>
          <p:cNvSpPr>
            <a:spLocks xmlns:a="http://schemas.openxmlformats.org/drawingml/2006/main" noGrp="1"/>
          </p:cNvSpPr>
          <p:nvPr/>
        </p:nvSpPr>
        <p:spPr>
          <a:xfrm xmlns:a="http://schemas.openxmlformats.org/drawingml/2006/main">
            <a:off x="685800" y="16573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3D"/>
                </a:solidFill>
                <a:latin typeface="Helvetica Neue"/>
                <a:ea typeface="Helvetica Neue"/>
                <a:cs typeface="Helvetica Neue"/>
              </a:defRPr>
            </a:pPr>
            <a:r>
              <a:rPr sz="2400" b="1">
                <a:solidFill>
                  <a:srgbClr val="17283D"/>
                </a:solidFill>
                <a:latin typeface="Helvetica Neue"/>
                <a:ea typeface="Helvetica Neue"/>
                <a:cs typeface="Helvetica Neue"/>
              </a:rPr>
              <a:t>Final success requires</a:t>
            </a:r>
          </a:p>
        </p:txBody>
      </p:sp>
      <p:sp>
        <p:nvSpPr>
          <p:cNvPr id="4" name="text-3">
            <a:extLst xmlns:a="http://schemas.openxmlformats.org/drawingml/2006/main">
              <a:ext uri="{FF2B5EF4-FFF2-40B4-BE49-F238E27FC236}">
                <a16:creationId xmlns:a16="http://schemas.microsoft.com/office/drawing/2014/main" id="{659669D0-EB33-44CA-835C-13CCB65C7BA4}"/>
              </a:ext>
            </a:extLst>
          </p:cNvPr>
          <p:cNvSpPr>
            <a:spLocks xmlns:a="http://schemas.openxmlformats.org/drawingml/2006/main" noGrp="1"/>
          </p:cNvSpPr>
          <p:nvPr/>
        </p:nvSpPr>
        <p:spPr>
          <a:xfrm xmlns:a="http://schemas.openxmlformats.org/drawingml/2006/main">
            <a:off x="685800" y="224790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468C9"/>
                </a:solidFill>
                <a:latin typeface="Helvetica Neue"/>
                <a:ea typeface="Helvetica Neue"/>
                <a:cs typeface="Helvetica Neue"/>
              </a:defRPr>
            </a:pPr>
            <a:r>
              <a:rPr sz="2625" b="1">
                <a:solidFill>
                  <a:srgbClr val="2468C9"/>
                </a:solidFill>
                <a:latin typeface="Helvetica Neue"/>
                <a:ea typeface="Helvetica Neue"/>
                <a:cs typeface="Helvetica Neue"/>
              </a:rPr>
              <a:t>Visible and required hidden tests pass</a:t>
            </a:r>
          </a:p>
          <a:p xmlns:a="http://schemas.openxmlformats.org/drawingml/2006/main">
            <a:pPr algn="l">
              <a:defRPr sz="2625" b="1">
                <a:solidFill>
                  <a:srgbClr val="2468C9"/>
                </a:solidFill>
                <a:latin typeface="Helvetica Neue"/>
                <a:ea typeface="Helvetica Neue"/>
                <a:cs typeface="Helvetica Neue"/>
              </a:defRPr>
            </a:pPr>
            <a:r>
              <a:rPr sz="2625" b="1">
                <a:solidFill>
                  <a:srgbClr val="2468C9"/>
                </a:solidFill>
                <a:latin typeface="Helvetica Neue"/>
                <a:ea typeface="Helvetica Neue"/>
                <a:cs typeface="Helvetica Neue"/>
              </a:rPr>
              <a:t>No regressions or detected test-oracle tampering</a:t>
            </a:r>
          </a:p>
        </p:txBody>
      </p:sp>
      <p:sp>
        <p:nvSpPr>
          <p:cNvPr id="5" name="text-4">
            <a:extLst xmlns:a="http://schemas.openxmlformats.org/drawingml/2006/main">
              <a:ext uri="{FF2B5EF4-FFF2-40B4-BE49-F238E27FC236}">
                <a16:creationId xmlns:a16="http://schemas.microsoft.com/office/drawing/2014/main" id="{ACBEF19C-5968-4042-B146-02CE821E6EE6}"/>
              </a:ext>
            </a:extLst>
          </p:cNvPr>
          <p:cNvSpPr>
            <a:spLocks xmlns:a="http://schemas.openxmlformats.org/drawingml/2006/main" noGrp="1"/>
          </p:cNvSpPr>
          <p:nvPr/>
        </p:nvSpPr>
        <p:spPr>
          <a:xfrm xmlns:a="http://schemas.openxmlformats.org/drawingml/2006/main">
            <a:off x="685800" y="3867150"/>
            <a:ext cx="4905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3D"/>
                </a:solidFill>
                <a:latin typeface="Helvetica Neue"/>
                <a:ea typeface="Helvetica Neue"/>
                <a:cs typeface="Helvetica Neue"/>
              </a:defRPr>
            </a:pPr>
            <a:r>
              <a:rPr sz="2175" b="1">
                <a:solidFill>
                  <a:srgbClr val="17283D"/>
                </a:solidFill>
                <a:latin typeface="Helvetica Neue"/>
                <a:ea typeface="Helvetica Neue"/>
                <a:cs typeface="Helvetica Neue"/>
              </a:rPr>
              <a:t>Outcome and efficiency</a:t>
            </a:r>
          </a:p>
        </p:txBody>
      </p:sp>
      <p:sp>
        <p:nvSpPr>
          <p:cNvPr id="6" name="text-5">
            <a:extLst xmlns:a="http://schemas.openxmlformats.org/drawingml/2006/main">
              <a:ext uri="{FF2B5EF4-FFF2-40B4-BE49-F238E27FC236}">
                <a16:creationId xmlns:a16="http://schemas.microsoft.com/office/drawing/2014/main" id="{B71512DE-2EC5-42F1-8046-2602FCDAF566}"/>
              </a:ext>
            </a:extLst>
          </p:cNvPr>
          <p:cNvSpPr>
            <a:spLocks xmlns:a="http://schemas.openxmlformats.org/drawingml/2006/main" noGrp="1"/>
          </p:cNvSpPr>
          <p:nvPr/>
        </p:nvSpPr>
        <p:spPr>
          <a:xfrm xmlns:a="http://schemas.openxmlformats.org/drawingml/2006/main">
            <a:off x="685800" y="4457700"/>
            <a:ext cx="4857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Resolved@1</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Cost per solved task</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Tokens, calls, steps, duration</a:t>
            </a:r>
          </a:p>
        </p:txBody>
      </p:sp>
      <p:sp>
        <p:nvSpPr>
          <p:cNvPr id="7" name="text-6">
            <a:extLst xmlns:a="http://schemas.openxmlformats.org/drawingml/2006/main">
              <a:ext uri="{FF2B5EF4-FFF2-40B4-BE49-F238E27FC236}">
                <a16:creationId xmlns:a16="http://schemas.microsoft.com/office/drawing/2014/main" id="{2581BC5A-4DA9-4345-8BC3-DF4B0E65059D}"/>
              </a:ext>
            </a:extLst>
          </p:cNvPr>
          <p:cNvSpPr>
            <a:spLocks xmlns:a="http://schemas.openxmlformats.org/drawingml/2006/main" noGrp="1"/>
          </p:cNvSpPr>
          <p:nvPr/>
        </p:nvSpPr>
        <p:spPr>
          <a:xfrm xmlns:a="http://schemas.openxmlformats.org/drawingml/2006/main">
            <a:off x="6457950" y="386715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3D"/>
                </a:solidFill>
                <a:latin typeface="Helvetica Neue"/>
                <a:ea typeface="Helvetica Neue"/>
                <a:cs typeface="Helvetica Neue"/>
              </a:defRPr>
            </a:pPr>
            <a:r>
              <a:rPr sz="2175" b="1">
                <a:solidFill>
                  <a:srgbClr val="17283D"/>
                </a:solidFill>
                <a:latin typeface="Helvetica Neue"/>
                <a:ea typeface="Helvetica Neue"/>
                <a:cs typeface="Helvetica Neue"/>
              </a:rPr>
              <a:t>Behavioral diagnostics</a:t>
            </a:r>
          </a:p>
        </p:txBody>
      </p:sp>
      <p:sp>
        <p:nvSpPr>
          <p:cNvPr id="8" name="text-7">
            <a:extLst xmlns:a="http://schemas.openxmlformats.org/drawingml/2006/main">
              <a:ext uri="{FF2B5EF4-FFF2-40B4-BE49-F238E27FC236}">
                <a16:creationId xmlns:a16="http://schemas.microsoft.com/office/drawing/2014/main" id="{EF433F1D-2A84-436B-9859-1BDD641E53BE}"/>
              </a:ext>
            </a:extLst>
          </p:cNvPr>
          <p:cNvSpPr>
            <a:spLocks xmlns:a="http://schemas.openxmlformats.org/drawingml/2006/main" noGrp="1"/>
          </p:cNvSpPr>
          <p:nvPr/>
        </p:nvSpPr>
        <p:spPr>
          <a:xfrm xmlns:a="http://schemas.openxmlformats.org/drawingml/2006/main">
            <a:off x="6457950" y="4457700"/>
            <a:ext cx="5000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Tool-use validity</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Repair and visible/final gaps</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Explicitly defined proxy metrics</a:t>
            </a:r>
          </a:p>
        </p:txBody>
      </p:sp>
    </p:spTree>
    <p:extLst>
      <p:ext uri="{BB962C8B-B14F-4D97-AF65-F5344CB8AC3E}">
        <p14:creationId xmlns:p14="http://schemas.microsoft.com/office/powerpoint/2010/main" val="2084829047"/>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A6BFB76-B87F-47ED-82E2-C0E65FF6CB04}"/>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Model choice and execution budgets</a:t>
            </a:r>
          </a:p>
        </p:txBody>
      </p:sp>
      <p:sp>
        <p:nvSpPr>
          <p:cNvPr id="2" name="slide-number">
            <a:extLst xmlns:a="http://schemas.openxmlformats.org/drawingml/2006/main">
              <a:ext uri="{FF2B5EF4-FFF2-40B4-BE49-F238E27FC236}">
                <a16:creationId xmlns:a16="http://schemas.microsoft.com/office/drawing/2014/main" id="{AD5770EE-BC2B-4668-B3A2-3ED4688B4238}"/>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08</a:t>
            </a:r>
          </a:p>
        </p:txBody>
      </p:sp>
      <p:sp>
        <p:nvSpPr>
          <p:cNvPr id="3" name="text-2">
            <a:extLst xmlns:a="http://schemas.openxmlformats.org/drawingml/2006/main">
              <a:ext uri="{FF2B5EF4-FFF2-40B4-BE49-F238E27FC236}">
                <a16:creationId xmlns:a16="http://schemas.microsoft.com/office/drawing/2014/main" id="{3885E9A3-773D-4821-838B-FB85AA3A2DAD}"/>
              </a:ext>
            </a:extLst>
          </p:cNvPr>
          <p:cNvSpPr>
            <a:spLocks xmlns:a="http://schemas.openxmlformats.org/drawingml/2006/main" noGrp="1"/>
          </p:cNvSpPr>
          <p:nvPr/>
        </p:nvSpPr>
        <p:spPr>
          <a:xfrm xmlns:a="http://schemas.openxmlformats.org/drawingml/2006/main">
            <a:off x="685800" y="159067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468C9"/>
                </a:solidFill>
                <a:latin typeface="Helvetica Neue"/>
                <a:ea typeface="Helvetica Neue"/>
                <a:cs typeface="Helvetica Neue"/>
              </a:defRPr>
            </a:pPr>
            <a:r>
              <a:rPr sz="2625" b="1">
                <a:solidFill>
                  <a:srgbClr val="2468C9"/>
                </a:solidFill>
                <a:latin typeface="Helvetica Neue"/>
                <a:ea typeface="Helvetica Neue"/>
                <a:cs typeface="Helvetica Neue"/>
              </a:rPr>
              <a:t>Primary model: GLM-5.2 through OpenRouter</a:t>
            </a:r>
          </a:p>
        </p:txBody>
      </p:sp>
      <p:graphicFrame>
        <p:nvGraphicFramePr>
          <p:cNvPr id="10" name=""/>
          <p:cNvGraphicFramePr/>
          <p:nvPr/>
        </p:nvGraphicFramePr>
        <p:xfrm>
          <a:off xmlns:a="http://schemas.openxmlformats.org/drawingml/2006/main" x="685800" y="2428875"/>
          <a:ext xmlns:a="http://schemas.openxmlformats.org/drawingml/2006/main" cx="10820400" cy="2686050"/>
        </p:xfrm>
        <a:graphic xmlns:a="http://schemas.openxmlformats.org/drawingml/2006/main">
          <a:graphicData uri="http://schemas.openxmlformats.org/drawingml/2006/table">
            <a:tbl>
              <a:tblPr firstRow="0" bandRow="0"/>
              <a:tblGrid>
                <a:gridCol w="5867400"/>
                <a:gridCol w="2476500"/>
                <a:gridCol w="2476500"/>
              </a:tblGrid>
              <a:tr h="628650">
                <a:tc>
                  <a:txBody>
                    <a:bodyPr>
                      <a:noAutofit/>
                    </a:bodyPr>
                    <a:lstStyle/>
                    <a:p>
                      <a:pPr algn="l"/>
                      <a:r>
                        <a:rPr sz="1800" b="1">
                          <a:solidFill>
                            <a:srgbClr val="FFFFFF"/>
                          </a:solidFill>
                          <a:latin typeface="Helvetica Neue"/>
                          <a:ea typeface="Helvetica Neue"/>
                          <a:cs typeface="Helvetica Neue"/>
                        </a:rPr>
                        <a:t>Block</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Multi-agent</a:t>
                      </a:r>
                    </a:p>
                  </a:txBody>
                  <a:tcPr marL="152400" marR="114300" marT="123825" marB="114300" anchor="ctr">
                    <a:solidFill>
                      <a:srgbClr val="17283D"/>
                    </a:solidFill>
                  </a:tcPr>
                </a:tc>
              </a:tr>
              <a:tr h="647700">
                <a:tc>
                  <a:txBody>
                    <a:bodyPr>
                      <a:noAutofit/>
                    </a:bodyPr>
                    <a:lstStyle/>
                    <a:p>
                      <a:pPr algn="l"/>
                      <a:r>
                        <a:rPr sz="1875" b="0">
                          <a:solidFill>
                            <a:srgbClr val="17283D"/>
                          </a:solidFill>
                          <a:latin typeface="Helvetica Neue"/>
                          <a:ea typeface="Helvetica Neue"/>
                          <a:cs typeface="Helvetica Neue"/>
                        </a:rPr>
                        <a:t>Core small</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FFFFFF"/>
                    </a:solidFill>
                  </a:tcPr>
                </a:tc>
              </a:tr>
              <a:tr h="647700">
                <a:tc>
                  <a:txBody>
                    <a:bodyPr>
                      <a:noAutofit/>
                    </a:bodyPr>
                    <a:lstStyle/>
                    <a:p>
                      <a:pPr algn="l"/>
                      <a:r>
                        <a:rPr sz="1875" b="0">
                          <a:solidFill>
                            <a:srgbClr val="17283D"/>
                          </a:solidFill>
                          <a:latin typeface="Helvetica Neue"/>
                          <a:ea typeface="Helvetica Neue"/>
                          <a:cs typeface="Helvetica Neue"/>
                        </a:rPr>
                        <a:t>Core medium</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75 steps</a:t>
                      </a:r>
                    </a:p>
                  </a:txBody>
                  <a:tcPr marL="152400" marR="114300" marT="123825" marB="114300" anchor="ctr">
                    <a:solidFill>
                      <a:srgbClr val="EFF2F6"/>
                    </a:solidFill>
                  </a:tcPr>
                </a:tc>
              </a:tr>
              <a:tr h="647700">
                <a:tc>
                  <a:txBody>
                    <a:bodyPr>
                      <a:noAutofit/>
                    </a:bodyPr>
                    <a:lstStyle/>
                    <a:p>
                      <a:pPr algn="l"/>
                      <a:r>
                        <a:rPr sz="1875" b="0">
                          <a:solidFill>
                            <a:srgbClr val="17283D"/>
                          </a:solidFill>
                          <a:latin typeface="Helvetica Neue"/>
                          <a:ea typeface="Helvetica Neue"/>
                          <a:cs typeface="Helvetica Neue"/>
                        </a:rPr>
                        <a:t>SWE Pro subset</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75 steps</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F2C1CDB2-FBC7-4199-9F8B-6C2621CF45C6}"/>
              </a:ext>
            </a:extLst>
          </p:cNvPr>
          <p:cNvSpPr>
            <a:spLocks xmlns:a="http://schemas.openxmlformats.org/drawingml/2006/main" noGrp="1"/>
          </p:cNvSpPr>
          <p:nvPr/>
        </p:nvSpPr>
        <p:spPr>
          <a:xfrm xmlns:a="http://schemas.openxmlformats.org/drawingml/2006/main">
            <a:off x="685800" y="5467350"/>
            <a:ext cx="10715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83D"/>
                </a:solidFill>
                <a:latin typeface="Helvetica Neue"/>
                <a:ea typeface="Helvetica Neue"/>
                <a:cs typeface="Helvetica Neue"/>
              </a:defRPr>
            </a:pPr>
            <a:r>
              <a:rPr sz="2100" b="1">
                <a:solidFill>
                  <a:srgbClr val="17283D"/>
                </a:solidFill>
                <a:latin typeface="Helvetica Neue"/>
                <a:ea typeface="Helvetica Neue"/>
                <a:cs typeface="Helvetica Neue"/>
              </a:rPr>
              <a:t>Local pilot: slow execution and insufficient solution quality</a:t>
            </a:r>
          </a:p>
        </p:txBody>
      </p:sp>
      <p:sp>
        <p:nvSpPr>
          <p:cNvPr id="6" name="text-4">
            <a:extLst xmlns:a="http://schemas.openxmlformats.org/drawingml/2006/main">
              <a:ext uri="{FF2B5EF4-FFF2-40B4-BE49-F238E27FC236}">
                <a16:creationId xmlns:a16="http://schemas.microsoft.com/office/drawing/2014/main" id="{BD1814A0-96BB-45B3-8E93-68AB08F7A06A}"/>
              </a:ext>
            </a:extLst>
          </p:cNvPr>
          <p:cNvSpPr>
            <a:spLocks xmlns:a="http://schemas.openxmlformats.org/drawingml/2006/main" noGrp="1"/>
          </p:cNvSpPr>
          <p:nvPr/>
        </p:nvSpPr>
        <p:spPr>
          <a:xfrm xmlns:a="http://schemas.openxmlformats.org/drawingml/2006/main">
            <a:off x="685800" y="5924550"/>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174"/>
                </a:solidFill>
                <a:latin typeface="Helvetica Neue"/>
                <a:ea typeface="Helvetica Neue"/>
                <a:cs typeface="Helvetica Neue"/>
              </a:defRPr>
            </a:pPr>
            <a:r>
              <a:rPr sz="1575" b="0">
                <a:solidFill>
                  <a:srgbClr val="516174"/>
                </a:solidFill>
                <a:latin typeface="Helvetica Neue"/>
                <a:ea typeface="Helvetica Neue"/>
                <a:cs typeface="Helvetica Neue"/>
              </a:rPr>
              <a:t>Qualitative feasibility observation. No quantified pilot results in the saved artifacts.</a:t>
            </a:r>
          </a:p>
        </p:txBody>
      </p:sp>
    </p:spTree>
    <p:extLst>
      <p:ext uri="{BB962C8B-B14F-4D97-AF65-F5344CB8AC3E}">
        <p14:creationId xmlns:p14="http://schemas.microsoft.com/office/powerpoint/2010/main" val="1573723757"/>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00B7A9B3-60F4-48CD-A0DC-857448A2268C}"/>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Success rates by benchmark block</a:t>
            </a:r>
          </a:p>
        </p:txBody>
      </p:sp>
      <p:sp>
        <p:nvSpPr>
          <p:cNvPr id="2" name="slide-number">
            <a:extLst xmlns:a="http://schemas.openxmlformats.org/drawingml/2006/main">
              <a:ext uri="{FF2B5EF4-FFF2-40B4-BE49-F238E27FC236}">
                <a16:creationId xmlns:a16="http://schemas.microsoft.com/office/drawing/2014/main" id="{A766E18F-D4F5-49CD-8E32-0995EAE47856}"/>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09</a:t>
            </a:r>
          </a:p>
        </p:txBody>
      </p:sp>
      <p:sp>
        <p:nvSpPr>
          <p:cNvPr id="3" name="text-2">
            <a:extLst xmlns:a="http://schemas.openxmlformats.org/drawingml/2006/main">
              <a:ext uri="{FF2B5EF4-FFF2-40B4-BE49-F238E27FC236}">
                <a16:creationId xmlns:a16="http://schemas.microsoft.com/office/drawing/2014/main" id="{940A8C88-788F-45FB-B756-CC24D793B30F}"/>
              </a:ext>
            </a:extLst>
          </p:cNvPr>
          <p:cNvSpPr>
            <a:spLocks xmlns:a="http://schemas.openxmlformats.org/drawingml/2006/main" noGrp="1"/>
          </p:cNvSpPr>
          <p:nvPr/>
        </p:nvSpPr>
        <p:spPr>
          <a:xfrm xmlns:a="http://schemas.openxmlformats.org/drawingml/2006/main">
            <a:off x="685800" y="1552575"/>
            <a:ext cx="3448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Core small</a:t>
            </a:r>
          </a:p>
        </p:txBody>
      </p:sp>
      <p:sp>
        <p:nvSpPr>
          <p:cNvPr id="4" name="text-3">
            <a:extLst xmlns:a="http://schemas.openxmlformats.org/drawingml/2006/main">
              <a:ext uri="{FF2B5EF4-FFF2-40B4-BE49-F238E27FC236}">
                <a16:creationId xmlns:a16="http://schemas.microsoft.com/office/drawing/2014/main" id="{8D05AAC0-A0E8-4512-9A09-1039A27A9C2C}"/>
              </a:ext>
            </a:extLst>
          </p:cNvPr>
          <p:cNvSpPr>
            <a:spLocks xmlns:a="http://schemas.openxmlformats.org/drawingml/2006/main" noGrp="1"/>
          </p:cNvSpPr>
          <p:nvPr/>
        </p:nvSpPr>
        <p:spPr>
          <a:xfrm xmlns:a="http://schemas.openxmlformats.org/drawingml/2006/main">
            <a:off x="4457700" y="1552575"/>
            <a:ext cx="3448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Core medium</a:t>
            </a:r>
          </a:p>
        </p:txBody>
      </p:sp>
      <p:sp>
        <p:nvSpPr>
          <p:cNvPr id="5" name="text-4">
            <a:extLst xmlns:a="http://schemas.openxmlformats.org/drawingml/2006/main">
              <a:ext uri="{FF2B5EF4-FFF2-40B4-BE49-F238E27FC236}">
                <a16:creationId xmlns:a16="http://schemas.microsoft.com/office/drawing/2014/main" id="{69C45112-F9E4-4B7B-8CDB-613EE00B20FC}"/>
              </a:ext>
            </a:extLst>
          </p:cNvPr>
          <p:cNvSpPr>
            <a:spLocks xmlns:a="http://schemas.openxmlformats.org/drawingml/2006/main" noGrp="1"/>
          </p:cNvSpPr>
          <p:nvPr/>
        </p:nvSpPr>
        <p:spPr>
          <a:xfrm xmlns:a="http://schemas.openxmlformats.org/drawingml/2006/main">
            <a:off x="8229600" y="1552575"/>
            <a:ext cx="3448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SWE Pro subset</a:t>
            </a:r>
          </a:p>
        </p:txBody>
      </p:sp>
      <p:graphicFrame>
        <p:nvGraphicFramePr>
          <p:cNvPr id="17" name="Chart"/>
          <p:cNvGraphicFramePr/>
          <p:nvPr/>
        </p:nvGraphicFramePr>
        <p:xfrm>
          <a:off xmlns:a="http://schemas.openxmlformats.org/drawingml/2006/main" x="514350" y="2105025"/>
          <a:ext xmlns:a="http://schemas.openxmlformats.org/drawingml/2006/main" cx="3600450" cy="3457575"/>
        </p:xfrm>
        <a:graphic xmlns:a="http://schemas.openxmlformats.org/drawingml/2006/main">
          <a:graphicData uri="http://schemas.openxmlformats.org/drawingml/2006/chart">
            <c:chart xmlns:r="http://schemas.openxmlformats.org/officeDocument/2006/relationships" xmlns:c="http://schemas.openxmlformats.org/drawingml/2006/chart" r:id="Rd295bebdc1aa4de9"/>
          </a:graphicData>
        </a:graphic>
      </p:graphicFrame>
      <p:graphicFrame>
        <p:nvGraphicFramePr>
          <p:cNvPr id="18" name="Chart"/>
          <p:cNvGraphicFramePr/>
          <p:nvPr/>
        </p:nvGraphicFramePr>
        <p:xfrm>
          <a:off xmlns:a="http://schemas.openxmlformats.org/drawingml/2006/main" x="4286250" y="2105025"/>
          <a:ext xmlns:a="http://schemas.openxmlformats.org/drawingml/2006/main" cx="3600450" cy="3457575"/>
        </p:xfrm>
        <a:graphic xmlns:a="http://schemas.openxmlformats.org/drawingml/2006/main">
          <a:graphicData uri="http://schemas.openxmlformats.org/drawingml/2006/chart">
            <c:chart xmlns:r="http://schemas.openxmlformats.org/officeDocument/2006/relationships" xmlns:c="http://schemas.openxmlformats.org/drawingml/2006/chart" r:id="R848bc5ad841c43e2"/>
          </a:graphicData>
        </a:graphic>
      </p:graphicFrame>
      <p:graphicFrame>
        <p:nvGraphicFramePr>
          <p:cNvPr id="19" name="Chart"/>
          <p:cNvGraphicFramePr/>
          <p:nvPr/>
        </p:nvGraphicFramePr>
        <p:xfrm>
          <a:off xmlns:a="http://schemas.openxmlformats.org/drawingml/2006/main" x="8058150" y="2105025"/>
          <a:ext xmlns:a="http://schemas.openxmlformats.org/drawingml/2006/main" cx="3600450" cy="3457575"/>
        </p:xfrm>
        <a:graphic xmlns:a="http://schemas.openxmlformats.org/drawingml/2006/main">
          <a:graphicData uri="http://schemas.openxmlformats.org/drawingml/2006/chart">
            <c:chart xmlns:r="http://schemas.openxmlformats.org/officeDocument/2006/relationships" xmlns:c="http://schemas.openxmlformats.org/drawingml/2006/chart" r:id="Rbf90aafe24cf4602"/>
          </a:graphicData>
        </a:graphic>
      </p:graphicFrame>
      <p:sp>
        <p:nvSpPr>
          <p:cNvPr id="9" name="text-5">
            <a:extLst xmlns:a="http://schemas.openxmlformats.org/drawingml/2006/main">
              <a:ext uri="{FF2B5EF4-FFF2-40B4-BE49-F238E27FC236}">
                <a16:creationId xmlns:a16="http://schemas.microsoft.com/office/drawing/2014/main" id="{DFD50D1E-8618-4914-BE6A-2105625AA1B7}"/>
              </a:ext>
            </a:extLst>
          </p:cNvPr>
          <p:cNvSpPr>
            <a:spLocks xmlns:a="http://schemas.openxmlformats.org/drawingml/2006/main" noGrp="1"/>
          </p:cNvSpPr>
          <p:nvPr/>
        </p:nvSpPr>
        <p:spPr>
          <a:xfrm xmlns:a="http://schemas.openxmlformats.org/drawingml/2006/main">
            <a:off x="685800" y="5772150"/>
            <a:ext cx="342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50 steps for all</a:t>
            </a:r>
          </a:p>
        </p:txBody>
      </p:sp>
      <p:sp>
        <p:nvSpPr>
          <p:cNvPr id="10" name="text-6">
            <a:extLst xmlns:a="http://schemas.openxmlformats.org/drawingml/2006/main">
              <a:ext uri="{FF2B5EF4-FFF2-40B4-BE49-F238E27FC236}">
                <a16:creationId xmlns:a16="http://schemas.microsoft.com/office/drawing/2014/main" id="{63C82468-88AE-4B49-B6B3-0D907B26ECEA}"/>
              </a:ext>
            </a:extLst>
          </p:cNvPr>
          <p:cNvSpPr>
            <a:spLocks xmlns:a="http://schemas.openxmlformats.org/drawingml/2006/main" noGrp="1"/>
          </p:cNvSpPr>
          <p:nvPr/>
        </p:nvSpPr>
        <p:spPr>
          <a:xfrm xmlns:a="http://schemas.openxmlformats.org/drawingml/2006/main">
            <a:off x="4457700" y="5772150"/>
            <a:ext cx="342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Single 50 / multi 75</a:t>
            </a:r>
          </a:p>
        </p:txBody>
      </p:sp>
      <p:sp>
        <p:nvSpPr>
          <p:cNvPr id="11" name="text-7">
            <a:extLst xmlns:a="http://schemas.openxmlformats.org/drawingml/2006/main">
              <a:ext uri="{FF2B5EF4-FFF2-40B4-BE49-F238E27FC236}">
                <a16:creationId xmlns:a16="http://schemas.microsoft.com/office/drawing/2014/main" id="{CB1B920B-B58E-452C-BFC1-4722B08B219A}"/>
              </a:ext>
            </a:extLst>
          </p:cNvPr>
          <p:cNvSpPr>
            <a:spLocks xmlns:a="http://schemas.openxmlformats.org/drawingml/2006/main" noGrp="1"/>
          </p:cNvSpPr>
          <p:nvPr/>
        </p:nvSpPr>
        <p:spPr>
          <a:xfrm xmlns:a="http://schemas.openxmlformats.org/drawingml/2006/main">
            <a:off x="8229600" y="5772150"/>
            <a:ext cx="333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Single 50 / graph 75</a:t>
            </a:r>
          </a:p>
        </p:txBody>
      </p:sp>
    </p:spTree>
    <p:extLst>
      <p:ext uri="{BB962C8B-B14F-4D97-AF65-F5344CB8AC3E}">
        <p14:creationId xmlns:p14="http://schemas.microsoft.com/office/powerpoint/2010/main" val="1980005806"/>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33CA21A0-1605-4A7D-9D62-39748089B087}"/>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Functional quality results</a:t>
            </a:r>
          </a:p>
        </p:txBody>
      </p:sp>
      <p:sp>
        <p:nvSpPr>
          <p:cNvPr id="2" name="slide-number">
            <a:extLst xmlns:a="http://schemas.openxmlformats.org/drawingml/2006/main">
              <a:ext uri="{FF2B5EF4-FFF2-40B4-BE49-F238E27FC236}">
                <a16:creationId xmlns:a16="http://schemas.microsoft.com/office/drawing/2014/main" id="{B9617120-9394-42D0-A24E-3E0E74856549}"/>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10</a:t>
            </a:r>
          </a:p>
        </p:txBody>
      </p:sp>
      <p:sp>
        <p:nvSpPr>
          <p:cNvPr id="3" name="text-2">
            <a:extLst xmlns:a="http://schemas.openxmlformats.org/drawingml/2006/main">
              <a:ext uri="{FF2B5EF4-FFF2-40B4-BE49-F238E27FC236}">
                <a16:creationId xmlns:a16="http://schemas.microsoft.com/office/drawing/2014/main" id="{E12B7F4F-6291-4927-BBDD-8C06222BE1C2}"/>
              </a:ext>
            </a:extLst>
          </p:cNvPr>
          <p:cNvSpPr>
            <a:spLocks xmlns:a="http://schemas.openxmlformats.org/drawingml/2006/main" noGrp="1"/>
          </p:cNvSpPr>
          <p:nvPr/>
        </p:nvSpPr>
        <p:spPr>
          <a:xfrm xmlns:a="http://schemas.openxmlformats.org/drawingml/2006/main">
            <a:off x="685800" y="14382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Core: 24 tasks per architecture. Small 50/50 steps, medium 50/75.</a:t>
            </a:r>
          </a:p>
        </p:txBody>
      </p:sp>
      <p:graphicFrame>
        <p:nvGraphicFramePr>
          <p:cNvPr id="10" name=""/>
          <p:cNvGraphicFramePr/>
          <p:nvPr/>
        </p:nvGraphicFramePr>
        <p:xfrm>
          <a:off xmlns:a="http://schemas.openxmlformats.org/drawingml/2006/main" x="685800" y="2047875"/>
          <a:ext xmlns:a="http://schemas.openxmlformats.org/drawingml/2006/main" cx="10820400" cy="3533775"/>
        </p:xfrm>
        <a:graphic xmlns:a="http://schemas.openxmlformats.org/drawingml/2006/main">
          <a:graphicData uri="http://schemas.openxmlformats.org/drawingml/2006/table">
            <a:tbl>
              <a:tblPr firstRow="0" bandRow="0"/>
              <a:tblGrid>
                <a:gridCol w="4152900"/>
                <a:gridCol w="2219325"/>
                <a:gridCol w="2219325"/>
                <a:gridCol w="2228850"/>
              </a:tblGrid>
              <a:tr h="581025">
                <a:tc>
                  <a:txBody>
                    <a:bodyPr>
                      <a:noAutofit/>
                    </a:bodyPr>
                    <a:lstStyle/>
                    <a:p>
                      <a:pPr algn="l"/>
                      <a:r>
                        <a:rPr sz="1725" b="1">
                          <a:solidFill>
                            <a:srgbClr val="FFFFFF"/>
                          </a:solidFill>
                          <a:latin typeface="Helvetica Neue"/>
                          <a:ea typeface="Helvetica Neue"/>
                          <a:cs typeface="Helvetica Neue"/>
                        </a:rPr>
                        <a:t>Metric</a:t>
                      </a:r>
                    </a:p>
                  </a:txBody>
                  <a:tcPr marL="152400" marR="114300" marT="123825" marB="114300" anchor="ctr">
                    <a:solidFill>
                      <a:srgbClr val="17283D"/>
                    </a:solidFill>
                  </a:tcPr>
                </a:tc>
                <a:tc>
                  <a:txBody>
                    <a:bodyPr>
                      <a:noAutofit/>
                    </a:bodyPr>
                    <a:lstStyle/>
                    <a:p>
                      <a:pPr algn="l"/>
                      <a:r>
                        <a:rPr sz="1725"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725"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1725" b="1">
                          <a:solidFill>
                            <a:srgbClr val="FFFFFF"/>
                          </a:solidFill>
                          <a:latin typeface="Helvetica Neue"/>
                          <a:ea typeface="Helvetica Neue"/>
                          <a:cs typeface="Helvetica Neue"/>
                        </a:rPr>
                        <a:t>Guarded</a:t>
                      </a:r>
                    </a:p>
                  </a:txBody>
                  <a:tcPr marL="152400" marR="114300" marT="123825" marB="114300" anchor="ctr">
                    <a:solidFill>
                      <a:srgbClr val="17283D"/>
                    </a:solidFill>
                  </a:tcPr>
                </a:tc>
              </a:tr>
              <a:tr h="590550">
                <a:tc>
                  <a:txBody>
                    <a:bodyPr>
                      <a:noAutofit/>
                    </a:bodyPr>
                    <a:lstStyle/>
                    <a:p>
                      <a:pPr algn="l"/>
                      <a:r>
                        <a:rPr sz="1800" b="0">
                          <a:solidFill>
                            <a:srgbClr val="17283D"/>
                          </a:solidFill>
                          <a:latin typeface="Helvetica Neue"/>
                          <a:ea typeface="Helvetica Neue"/>
                          <a:cs typeface="Helvetica Neue"/>
                        </a:rPr>
                        <a:t>Resolved@1</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91.7% (22/24)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r>
              <a:tr h="590550">
                <a:tc>
                  <a:txBody>
                    <a:bodyPr>
                      <a:noAutofit/>
                    </a:bodyPr>
                    <a:lstStyle/>
                    <a:p>
                      <a:pPr algn="l"/>
                      <a:r>
                        <a:rPr sz="1800" b="0">
                          <a:solidFill>
                            <a:srgbClr val="17283D"/>
                          </a:solidFill>
                          <a:latin typeface="Helvetica Neue"/>
                          <a:ea typeface="Helvetica Neue"/>
                          <a:cs typeface="Helvetica Neue"/>
                        </a:rPr>
                        <a:t>Visible suite pass rate</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100% (24/24)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91.7% (22/24)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95.8% (23/24)</a:t>
                      </a:r>
                    </a:p>
                  </a:txBody>
                  <a:tcPr marL="152400" marR="114300" marT="123825" marB="114300" anchor="ctr">
                    <a:solidFill>
                      <a:srgbClr val="EFF2F6"/>
                    </a:solidFill>
                  </a:tcPr>
                </a:tc>
              </a:tr>
              <a:tr h="590550">
                <a:tc>
                  <a:txBody>
                    <a:bodyPr>
                      <a:noAutofit/>
                    </a:bodyPr>
                    <a:lstStyle/>
                    <a:p>
                      <a:pPr algn="l"/>
                      <a:r>
                        <a:rPr sz="1800" b="0">
                          <a:solidFill>
                            <a:srgbClr val="17283D"/>
                          </a:solidFill>
                          <a:latin typeface="Helvetica Neue"/>
                          <a:ea typeface="Helvetica Neue"/>
                          <a:cs typeface="Helvetica Neue"/>
                        </a:rPr>
                        <a:t>Required hidden suite pass</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91.7% (22/24)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r>
              <a:tr h="590550">
                <a:tc>
                  <a:txBody>
                    <a:bodyPr>
                      <a:noAutofit/>
                    </a:bodyPr>
                    <a:lstStyle/>
                    <a:p>
                      <a:pPr algn="l"/>
                      <a:r>
                        <a:rPr sz="1800" b="0">
                          <a:solidFill>
                            <a:srgbClr val="17283D"/>
                          </a:solidFill>
                          <a:latin typeface="Helvetica Neue"/>
                          <a:ea typeface="Helvetica Neue"/>
                          <a:cs typeface="Helvetica Neue"/>
                        </a:rPr>
                        <a:t>Runs with regressions</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4.2% (1/24)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EFF2F6"/>
                    </a:solidFill>
                  </a:tcPr>
                </a:tc>
              </a:tr>
              <a:tr h="590550">
                <a:tc>
                  <a:txBody>
                    <a:bodyPr>
                      <a:noAutofit/>
                    </a:bodyPr>
                    <a:lstStyle/>
                    <a:p>
                      <a:pPr algn="l"/>
                      <a:r>
                        <a:rPr sz="1800" b="0">
                          <a:solidFill>
                            <a:srgbClr val="17283D"/>
                          </a:solidFill>
                          <a:latin typeface="Helvetica Neue"/>
                          <a:ea typeface="Helvetica Neue"/>
                          <a:cs typeface="Helvetica Neue"/>
                        </a:rPr>
                        <a:t>Human handoff rate</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BB596DFC-0FE2-4233-B4EA-CC4A160B3969}"/>
              </a:ext>
            </a:extLst>
          </p:cNvPr>
          <p:cNvSpPr>
            <a:spLocks xmlns:a="http://schemas.openxmlformats.org/drawingml/2006/main" noGrp="1"/>
          </p:cNvSpPr>
          <p:nvPr/>
        </p:nvSpPr>
        <p:spPr>
          <a:xfrm xmlns:a="http://schemas.openxmlformats.org/drawingml/2006/main">
            <a:off x="685800" y="58007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468C9"/>
                </a:solidFill>
                <a:latin typeface="Helvetica Neue"/>
                <a:ea typeface="Helvetica Neue"/>
                <a:cs typeface="Helvetica Neue"/>
              </a:defRPr>
            </a:pPr>
            <a:r>
              <a:rPr sz="2025" b="1">
                <a:solidFill>
                  <a:srgbClr val="2468C9"/>
                </a:solidFill>
                <a:latin typeface="Helvetica Neue"/>
                <a:ea typeface="Helvetica Neue"/>
                <a:cs typeface="Helvetica Neue"/>
              </a:rPr>
              <a:t>Rubric quality score: N/A for all 102 final runs.</a:t>
            </a:r>
          </a:p>
        </p:txBody>
      </p:sp>
      <p:sp>
        <p:nvSpPr>
          <p:cNvPr id="6" name="text-4">
            <a:extLst xmlns:a="http://schemas.openxmlformats.org/drawingml/2006/main">
              <a:ext uri="{FF2B5EF4-FFF2-40B4-BE49-F238E27FC236}">
                <a16:creationId xmlns:a16="http://schemas.microsoft.com/office/drawing/2014/main" id="{780CA1AD-859A-4C6E-9EF4-904F584FA018}"/>
              </a:ext>
            </a:extLst>
          </p:cNvPr>
          <p:cNvSpPr>
            <a:spLocks xmlns:a="http://schemas.openxmlformats.org/drawingml/2006/main" noGrp="1"/>
          </p:cNvSpPr>
          <p:nvPr/>
        </p:nvSpPr>
        <p:spPr>
          <a:xfrm xmlns:a="http://schemas.openxmlformats.org/drawingml/2006/main">
            <a:off x="685800" y="61817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No measured ranking for maintainability, robustness, or safety.</a:t>
            </a:r>
          </a:p>
        </p:txBody>
      </p:sp>
    </p:spTree>
    <p:extLst>
      <p:ext uri="{BB962C8B-B14F-4D97-AF65-F5344CB8AC3E}">
        <p14:creationId xmlns:p14="http://schemas.microsoft.com/office/powerpoint/2010/main" val="1377069811"/>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13AEA13-7924-456B-8078-34C8972A1CAC}"/>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AI and agent metric results</a:t>
            </a:r>
          </a:p>
        </p:txBody>
      </p:sp>
      <p:sp>
        <p:nvSpPr>
          <p:cNvPr id="2" name="slide-number">
            <a:extLst xmlns:a="http://schemas.openxmlformats.org/drawingml/2006/main">
              <a:ext uri="{FF2B5EF4-FFF2-40B4-BE49-F238E27FC236}">
                <a16:creationId xmlns:a16="http://schemas.microsoft.com/office/drawing/2014/main" id="{A7A14C2F-12BE-457B-857F-6116C20036FC}"/>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11</a:t>
            </a:r>
          </a:p>
        </p:txBody>
      </p:sp>
      <p:sp>
        <p:nvSpPr>
          <p:cNvPr id="3" name="text-2">
            <a:extLst xmlns:a="http://schemas.openxmlformats.org/drawingml/2006/main">
              <a:ext uri="{FF2B5EF4-FFF2-40B4-BE49-F238E27FC236}">
                <a16:creationId xmlns:a16="http://schemas.microsoft.com/office/drawing/2014/main" id="{EF22EE2F-EA80-4948-9BC7-946BFD502A7E}"/>
              </a:ext>
            </a:extLst>
          </p:cNvPr>
          <p:cNvSpPr>
            <a:spLocks xmlns:a="http://schemas.openxmlformats.org/drawingml/2006/main" noGrp="1"/>
          </p:cNvSpPr>
          <p:nvPr/>
        </p:nvSpPr>
        <p:spPr>
          <a:xfrm xmlns:a="http://schemas.openxmlformats.org/drawingml/2006/main">
            <a:off x="685800" y="14382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Core: 24 tasks per architecture. Counts show each denominator.</a:t>
            </a:r>
          </a:p>
        </p:txBody>
      </p:sp>
      <p:graphicFrame>
        <p:nvGraphicFramePr>
          <p:cNvPr id="10" name=""/>
          <p:cNvGraphicFramePr/>
          <p:nvPr/>
        </p:nvGraphicFramePr>
        <p:xfrm>
          <a:off xmlns:a="http://schemas.openxmlformats.org/drawingml/2006/main" x="685800" y="2047875"/>
          <a:ext xmlns:a="http://schemas.openxmlformats.org/drawingml/2006/main" cx="10820400" cy="3533775"/>
        </p:xfrm>
        <a:graphic xmlns:a="http://schemas.openxmlformats.org/drawingml/2006/main">
          <a:graphicData uri="http://schemas.openxmlformats.org/drawingml/2006/table">
            <a:tbl>
              <a:tblPr firstRow="0" bandRow="0"/>
              <a:tblGrid>
                <a:gridCol w="4152900"/>
                <a:gridCol w="2219325"/>
                <a:gridCol w="2219325"/>
                <a:gridCol w="2228850"/>
              </a:tblGrid>
              <a:tr h="581025">
                <a:tc>
                  <a:txBody>
                    <a:bodyPr>
                      <a:noAutofit/>
                    </a:bodyPr>
                    <a:lstStyle/>
                    <a:p>
                      <a:pPr algn="l"/>
                      <a:r>
                        <a:rPr sz="1650" b="1">
                          <a:solidFill>
                            <a:srgbClr val="FFFFFF"/>
                          </a:solidFill>
                          <a:latin typeface="Helvetica Neue"/>
                          <a:ea typeface="Helvetica Neue"/>
                          <a:cs typeface="Helvetica Neue"/>
                        </a:rPr>
                        <a:t>Metric</a:t>
                      </a:r>
                    </a:p>
                  </a:txBody>
                  <a:tcPr marL="152400" marR="114300" marT="123825" marB="114300"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1650" b="1">
                          <a:solidFill>
                            <a:srgbClr val="FFFFFF"/>
                          </a:solidFill>
                          <a:latin typeface="Helvetica Neue"/>
                          <a:ea typeface="Helvetica Neue"/>
                          <a:cs typeface="Helvetica Neue"/>
                        </a:rPr>
                        <a:t>Guarded</a:t>
                      </a:r>
                    </a:p>
                  </a:txBody>
                  <a:tcPr marL="152400" marR="114300" marT="123825" marB="114300" anchor="ctr">
                    <a:solidFill>
                      <a:srgbClr val="17283D"/>
                    </a:solidFill>
                  </a:tcPr>
                </a:tc>
              </a:tr>
              <a:tr h="590550">
                <a:tc>
                  <a:txBody>
                    <a:bodyPr>
                      <a:noAutofit/>
                    </a:bodyPr>
                    <a:lstStyle/>
                    <a:p>
                      <a:pPr algn="l"/>
                      <a:r>
                        <a:rPr sz="1725" b="0">
                          <a:solidFill>
                            <a:srgbClr val="17283D"/>
                          </a:solidFill>
                          <a:latin typeface="Helvetica Neue"/>
                          <a:ea typeface="Helvetica Neue"/>
                          <a:cs typeface="Helvetica Neue"/>
                        </a:rPr>
                        <a:t>Patch validity*</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(24/24)</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(24/24)</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(24/24)</a:t>
                      </a:r>
                    </a:p>
                  </a:txBody>
                  <a:tcPr marL="152400" marR="114300" marT="123825" marB="114300" anchor="ctr">
                    <a:solidFill>
                      <a:srgbClr val="FFFFFF"/>
                    </a:solidFill>
                  </a:tcPr>
                </a:tc>
              </a:tr>
              <a:tr h="590550">
                <a:tc>
                  <a:txBody>
                    <a:bodyPr>
                      <a:noAutofit/>
                    </a:bodyPr>
                    <a:lstStyle/>
                    <a:p>
                      <a:pPr algn="l"/>
                      <a:r>
                        <a:rPr sz="1725" b="0">
                          <a:solidFill>
                            <a:srgbClr val="17283D"/>
                          </a:solidFill>
                          <a:latin typeface="Helvetica Neue"/>
                          <a:ea typeface="Helvetica Neue"/>
                          <a:cs typeface="Helvetica Neue"/>
                        </a:rPr>
                        <a:t>Tool-use validity</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96% (462/481)</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95.3% (729/765)</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96.2% (692/719)</a:t>
                      </a:r>
                    </a:p>
                  </a:txBody>
                  <a:tcPr marL="152400" marR="114300" marT="123825" marB="114300" anchor="ctr">
                    <a:solidFill>
                      <a:srgbClr val="EFF2F6"/>
                    </a:solidFill>
                  </a:tcPr>
                </a:tc>
              </a:tr>
              <a:tr h="590550">
                <a:tc>
                  <a:txBody>
                    <a:bodyPr>
                      <a:noAutofit/>
                    </a:bodyPr>
                    <a:lstStyle/>
                    <a:p>
                      <a:pPr algn="l"/>
                      <a:r>
                        <a:rPr sz="1725" b="0">
                          <a:solidFill>
                            <a:srgbClr val="17283D"/>
                          </a:solidFill>
                          <a:latin typeface="Helvetica Neue"/>
                          <a:ea typeface="Helvetica Neue"/>
                          <a:cs typeface="Helvetica Neue"/>
                        </a:rPr>
                        <a:t>Hallucinated refs / run*</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0.79</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1.33</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1.04</a:t>
                      </a:r>
                    </a:p>
                  </a:txBody>
                  <a:tcPr marL="152400" marR="114300" marT="123825" marB="114300" anchor="ctr">
                    <a:solidFill>
                      <a:srgbClr val="FFFFFF"/>
                    </a:solidFill>
                  </a:tcPr>
                </a:tc>
              </a:tr>
              <a:tr h="590550">
                <a:tc>
                  <a:txBody>
                    <a:bodyPr>
                      <a:noAutofit/>
                    </a:bodyPr>
                    <a:lstStyle/>
                    <a:p>
                      <a:pPr algn="l"/>
                      <a:r>
                        <a:rPr sz="1725" b="0">
                          <a:solidFill>
                            <a:srgbClr val="17283D"/>
                          </a:solidFill>
                          <a:latin typeface="Helvetica Neue"/>
                          <a:ea typeface="Helvetica Neue"/>
                          <a:cs typeface="Helvetica Neue"/>
                        </a:rPr>
                        <a:t>Test overfitting*</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8.3% (2/24)</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4.5% (1/22)</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8.7% (2/23)</a:t>
                      </a:r>
                    </a:p>
                  </a:txBody>
                  <a:tcPr marL="152400" marR="114300" marT="123825" marB="114300" anchor="ctr">
                    <a:solidFill>
                      <a:srgbClr val="EFF2F6"/>
                    </a:solidFill>
                  </a:tcPr>
                </a:tc>
              </a:tr>
              <a:tr h="590550">
                <a:tc>
                  <a:txBody>
                    <a:bodyPr>
                      <a:noAutofit/>
                    </a:bodyPr>
                    <a:lstStyle/>
                    <a:p>
                      <a:pPr algn="l"/>
                      <a:r>
                        <a:rPr sz="1725" b="0">
                          <a:solidFill>
                            <a:srgbClr val="17283D"/>
                          </a:solidFill>
                          <a:latin typeface="Helvetica Neue"/>
                          <a:ea typeface="Helvetica Neue"/>
                          <a:cs typeface="Helvetica Neue"/>
                        </a:rPr>
                        <a:t>Repair success*</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(21/21)</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94.1% (16/17)</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94.7% (18/19)</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F13076EC-E218-4AB6-9EE6-C8A86189EECD}"/>
              </a:ext>
            </a:extLst>
          </p:cNvPr>
          <p:cNvSpPr>
            <a:spLocks xmlns:a="http://schemas.openxmlformats.org/drawingml/2006/main" noGrp="1"/>
          </p:cNvSpPr>
          <p:nvPr/>
        </p:nvSpPr>
        <p:spPr>
          <a:xfrm xmlns:a="http://schemas.openxmlformats.org/drawingml/2006/main">
            <a:off x="685800" y="58102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468C9"/>
                </a:solidFill>
                <a:latin typeface="Helvetica Neue"/>
                <a:ea typeface="Helvetica Neue"/>
                <a:cs typeface="Helvetica Neue"/>
              </a:defRPr>
            </a:pPr>
            <a:r>
              <a:rPr sz="1950" b="1">
                <a:solidFill>
                  <a:srgbClr val="2468C9"/>
                </a:solidFill>
                <a:latin typeface="Helvetica Neue"/>
                <a:ea typeface="Helvetica Neue"/>
                <a:cs typeface="Helvetica Neue"/>
              </a:rPr>
              <a:t>*Operational proxies. Exact definitions appear in the appendix.</a:t>
            </a:r>
          </a:p>
        </p:txBody>
      </p:sp>
      <p:sp>
        <p:nvSpPr>
          <p:cNvPr id="6" name="text-4">
            <a:extLst xmlns:a="http://schemas.openxmlformats.org/drawingml/2006/main">
              <a:ext uri="{FF2B5EF4-FFF2-40B4-BE49-F238E27FC236}">
                <a16:creationId xmlns:a16="http://schemas.microsoft.com/office/drawing/2014/main" id="{573AF560-8C6D-43CF-BAA5-25DBD829493C}"/>
              </a:ext>
            </a:extLst>
          </p:cNvPr>
          <p:cNvSpPr>
            <a:spLocks xmlns:a="http://schemas.openxmlformats.org/drawingml/2006/main" noGrp="1"/>
          </p:cNvSpPr>
          <p:nvPr/>
        </p:nvSpPr>
        <p:spPr>
          <a:xfrm xmlns:a="http://schemas.openxmlformats.org/drawingml/2006/main">
            <a:off x="685800" y="6191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Changed files and valid actions do not establish code quality.</a:t>
            </a:r>
          </a:p>
        </p:txBody>
      </p:sp>
    </p:spTree>
    <p:extLst>
      <p:ext uri="{BB962C8B-B14F-4D97-AF65-F5344CB8AC3E}">
        <p14:creationId xmlns:p14="http://schemas.microsoft.com/office/powerpoint/2010/main" val="2137497781"/>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C06110A-4F0A-4569-B050-80A4E48998CB}"/>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Graph cost more on the 39 shared tasks</a:t>
            </a:r>
          </a:p>
        </p:txBody>
      </p:sp>
      <p:sp>
        <p:nvSpPr>
          <p:cNvPr id="2" name="slide-number">
            <a:extLst xmlns:a="http://schemas.openxmlformats.org/drawingml/2006/main">
              <a:ext uri="{FF2B5EF4-FFF2-40B4-BE49-F238E27FC236}">
                <a16:creationId xmlns:a16="http://schemas.microsoft.com/office/drawing/2014/main" id="{FFDBC97C-1669-41DA-90BF-DC517495B196}"/>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12</a:t>
            </a:r>
          </a:p>
        </p:txBody>
      </p:sp>
      <p:sp>
        <p:nvSpPr>
          <p:cNvPr id="3" name="text-2">
            <a:extLst xmlns:a="http://schemas.openxmlformats.org/drawingml/2006/main">
              <a:ext uri="{FF2B5EF4-FFF2-40B4-BE49-F238E27FC236}">
                <a16:creationId xmlns:a16="http://schemas.microsoft.com/office/drawing/2014/main" id="{3A88AD68-F010-423C-9C13-61F50426AA43}"/>
              </a:ext>
            </a:extLst>
          </p:cNvPr>
          <p:cNvSpPr>
            <a:spLocks xmlns:a="http://schemas.openxmlformats.org/drawingml/2006/main" noGrp="1"/>
          </p:cNvSpPr>
          <p:nvPr/>
        </p:nvSpPr>
        <p:spPr>
          <a:xfrm xmlns:a="http://schemas.openxmlformats.org/drawingml/2006/main">
            <a:off x="685800" y="1714500"/>
            <a:ext cx="4667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D27820"/>
                </a:solidFill>
                <a:latin typeface="Helvetica Neue"/>
                <a:ea typeface="Helvetica Neue"/>
                <a:cs typeface="Helvetica Neue"/>
              </a:defRPr>
            </a:pPr>
            <a:r>
              <a:rPr sz="7800" b="1">
                <a:solidFill>
                  <a:srgbClr val="D27820"/>
                </a:solidFill>
                <a:latin typeface="Helvetica Neue"/>
                <a:ea typeface="Helvetica Neue"/>
                <a:cs typeface="Helvetica Neue"/>
              </a:rPr>
              <a:t>18.6%</a:t>
            </a:r>
          </a:p>
        </p:txBody>
      </p:sp>
      <p:sp>
        <p:nvSpPr>
          <p:cNvPr id="4" name="text-3">
            <a:extLst xmlns:a="http://schemas.openxmlformats.org/drawingml/2006/main">
              <a:ext uri="{FF2B5EF4-FFF2-40B4-BE49-F238E27FC236}">
                <a16:creationId xmlns:a16="http://schemas.microsoft.com/office/drawing/2014/main" id="{D2DFEFD6-8EFB-4DB5-883B-9CB006630172}"/>
              </a:ext>
            </a:extLst>
          </p:cNvPr>
          <p:cNvSpPr>
            <a:spLocks xmlns:a="http://schemas.openxmlformats.org/drawingml/2006/main" noGrp="1"/>
          </p:cNvSpPr>
          <p:nvPr/>
        </p:nvSpPr>
        <p:spPr>
          <a:xfrm xmlns:a="http://schemas.openxmlformats.org/drawingml/2006/main">
            <a:off x="723900" y="3057525"/>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3D"/>
                </a:solidFill>
                <a:latin typeface="Helvetica Neue"/>
                <a:ea typeface="Helvetica Neue"/>
                <a:cs typeface="Helvetica Neue"/>
              </a:defRPr>
            </a:pPr>
            <a:r>
              <a:rPr sz="2400" b="1">
                <a:solidFill>
                  <a:srgbClr val="17283D"/>
                </a:solidFill>
                <a:latin typeface="Helvetica Neue"/>
                <a:ea typeface="Helvetica Neue"/>
                <a:cs typeface="Helvetica Neue"/>
              </a:rPr>
              <a:t>higher total cost for graph</a:t>
            </a:r>
          </a:p>
        </p:txBody>
      </p:sp>
      <p:graphicFrame>
        <p:nvGraphicFramePr>
          <p:cNvPr id="11" name=""/>
          <p:cNvGraphicFramePr/>
          <p:nvPr/>
        </p:nvGraphicFramePr>
        <p:xfrm>
          <a:off xmlns:a="http://schemas.openxmlformats.org/drawingml/2006/main" x="4953000" y="1800225"/>
          <a:ext xmlns:a="http://schemas.openxmlformats.org/drawingml/2006/main" cx="6819900" cy="3476625"/>
        </p:xfrm>
        <a:graphic xmlns:a="http://schemas.openxmlformats.org/drawingml/2006/main">
          <a:graphicData uri="http://schemas.openxmlformats.org/drawingml/2006/table">
            <a:tbl>
              <a:tblPr firstRow="0" bandRow="0"/>
              <a:tblGrid>
                <a:gridCol w="3162300"/>
                <a:gridCol w="1828800"/>
                <a:gridCol w="1828800"/>
              </a:tblGrid>
              <a:tr h="666750">
                <a:tc>
                  <a:txBody>
                    <a:bodyPr>
                      <a:noAutofit/>
                    </a:bodyPr>
                    <a:lstStyle/>
                    <a:p>
                      <a:pPr algn="l"/>
                      <a:r>
                        <a:rPr sz="1950" b="1">
                          <a:solidFill>
                            <a:srgbClr val="FFFFFF"/>
                          </a:solidFill>
                          <a:latin typeface="Helvetica Neue"/>
                          <a:ea typeface="Helvetica Neue"/>
                          <a:cs typeface="Helvetica Neue"/>
                        </a:rPr>
                        <a:t>Metric</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Graph</a:t>
                      </a:r>
                    </a:p>
                  </a:txBody>
                  <a:tcPr marL="152400" marR="114300" marT="123825" marB="114300" anchor="ctr">
                    <a:solidFill>
                      <a:srgbClr val="17283D"/>
                    </a:solidFill>
                  </a:tcPr>
                </a:tc>
              </a:tr>
              <a:tr h="876300">
                <a:tc>
                  <a:txBody>
                    <a:bodyPr>
                      <a:noAutofit/>
                    </a:bodyPr>
                    <a:lstStyle/>
                    <a:p>
                      <a:pPr algn="l"/>
                      <a:r>
                        <a:rPr sz="2025" b="0">
                          <a:solidFill>
                            <a:srgbClr val="17283D"/>
                          </a:solidFill>
                          <a:latin typeface="Helvetica Neue"/>
                          <a:ea typeface="Helvetica Neue"/>
                          <a:cs typeface="Helvetica Neue"/>
                        </a:rPr>
                        <a:t>Resolved</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31/39</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30/39</a:t>
                      </a:r>
                    </a:p>
                  </a:txBody>
                  <a:tcPr marL="152400" marR="114300" marT="123825" marB="114300" anchor="ctr">
                    <a:solidFill>
                      <a:srgbClr val="FFFFFF"/>
                    </a:solidFill>
                  </a:tcPr>
                </a:tc>
              </a:tr>
              <a:tr h="876300">
                <a:tc>
                  <a:txBody>
                    <a:bodyPr>
                      <a:noAutofit/>
                    </a:bodyPr>
                    <a:lstStyle/>
                    <a:p>
                      <a:pPr algn="l"/>
                      <a:r>
                        <a:rPr sz="2025" b="0">
                          <a:solidFill>
                            <a:srgbClr val="17283D"/>
                          </a:solidFill>
                          <a:latin typeface="Helvetica Neue"/>
                          <a:ea typeface="Helvetica Neue"/>
                          <a:cs typeface="Helvetica Neue"/>
                        </a:rPr>
                        <a:t>Total cost</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$4.1605</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$4.9328</a:t>
                      </a:r>
                    </a:p>
                  </a:txBody>
                  <a:tcPr marL="152400" marR="114300" marT="123825" marB="114300" anchor="ctr">
                    <a:solidFill>
                      <a:srgbClr val="EFF2F6"/>
                    </a:solidFill>
                  </a:tcPr>
                </a:tc>
              </a:tr>
              <a:tr h="876300">
                <a:tc>
                  <a:txBody>
                    <a:bodyPr>
                      <a:noAutofit/>
                    </a:bodyPr>
                    <a:lstStyle/>
                    <a:p>
                      <a:pPr algn="l"/>
                      <a:r>
                        <a:rPr sz="2025" b="0">
                          <a:solidFill>
                            <a:srgbClr val="17283D"/>
                          </a:solidFill>
                          <a:latin typeface="Helvetica Neue"/>
                          <a:ea typeface="Helvetica Neue"/>
                          <a:cs typeface="Helvetica Neue"/>
                        </a:rPr>
                        <a:t>Cost / solved task</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$0.1342</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$0.1644</a:t>
                      </a:r>
                    </a:p>
                  </a:txBody>
                  <a:tcPr marL="152400" marR="114300" marT="123825" marB="1143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DD573EF8-00C1-45C2-B004-B902B1CD1246}"/>
              </a:ext>
            </a:extLst>
          </p:cNvPr>
          <p:cNvSpPr>
            <a:spLocks xmlns:a="http://schemas.openxmlformats.org/drawingml/2006/main" noGrp="1"/>
          </p:cNvSpPr>
          <p:nvPr/>
        </p:nvSpPr>
        <p:spPr>
          <a:xfrm xmlns:a="http://schemas.openxmlformats.org/drawingml/2006/main">
            <a:off x="685800" y="57912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174"/>
                </a:solidFill>
                <a:latin typeface="Helvetica Neue"/>
                <a:ea typeface="Helvetica Neue"/>
                <a:cs typeface="Helvetica Neue"/>
              </a:defRPr>
            </a:pPr>
            <a:r>
              <a:rPr sz="1875" b="0">
                <a:solidFill>
                  <a:srgbClr val="516174"/>
                </a:solidFill>
                <a:latin typeface="Helvetica Neue"/>
                <a:ea typeface="Helvetica Neue"/>
                <a:cs typeface="Helvetica Neue"/>
              </a:rPr>
              <a:t>Secondary aggregate across mixed step policies</a:t>
            </a:r>
          </a:p>
        </p:txBody>
      </p:sp>
    </p:spTree>
    <p:extLst>
      <p:ext uri="{BB962C8B-B14F-4D97-AF65-F5344CB8AC3E}">
        <p14:creationId xmlns:p14="http://schemas.microsoft.com/office/powerpoint/2010/main" val="626673936"/>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EF2BDDB-D392-4A35-9CE4-D512DD8328CE}"/>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Only three tasks changed the ranking</a:t>
            </a:r>
          </a:p>
        </p:txBody>
      </p:sp>
      <p:sp>
        <p:nvSpPr>
          <p:cNvPr id="2" name="slide-number">
            <a:extLst xmlns:a="http://schemas.openxmlformats.org/drawingml/2006/main">
              <a:ext uri="{FF2B5EF4-FFF2-40B4-BE49-F238E27FC236}">
                <a16:creationId xmlns:a16="http://schemas.microsoft.com/office/drawing/2014/main" id="{87C37011-9B73-4EBD-B38B-C86B9D1D8DA4}"/>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13</a:t>
            </a:r>
          </a:p>
        </p:txBody>
      </p:sp>
      <p:graphicFrame>
        <p:nvGraphicFramePr>
          <p:cNvPr id="7" name=""/>
          <p:cNvGraphicFramePr/>
          <p:nvPr/>
        </p:nvGraphicFramePr>
        <p:xfrm>
          <a:off xmlns:a="http://schemas.openxmlformats.org/drawingml/2006/main" x="685800" y="1809750"/>
          <a:ext xmlns:a="http://schemas.openxmlformats.org/drawingml/2006/main" cx="10820400" cy="3390900"/>
        </p:xfrm>
        <a:graphic xmlns:a="http://schemas.openxmlformats.org/drawingml/2006/main">
          <a:graphicData uri="http://schemas.openxmlformats.org/drawingml/2006/table">
            <a:tbl>
              <a:tblPr firstRow="0" bandRow="0"/>
              <a:tblGrid>
                <a:gridCol w="7239000"/>
                <a:gridCol w="3581400"/>
              </a:tblGrid>
              <a:tr h="619125">
                <a:tc>
                  <a:txBody>
                    <a:bodyPr>
                      <a:noAutofit/>
                    </a:bodyPr>
                    <a:lstStyle/>
                    <a:p>
                      <a:pPr algn="l"/>
                      <a:r>
                        <a:rPr sz="2025" b="1">
                          <a:solidFill>
                            <a:srgbClr val="FFFFFF"/>
                          </a:solidFill>
                          <a:latin typeface="Helvetica Neue"/>
                          <a:ea typeface="Helvetica Neue"/>
                          <a:cs typeface="Helvetica Neue"/>
                        </a:rPr>
                        <a:t>Paired outcome</a:t>
                      </a:r>
                    </a:p>
                  </a:txBody>
                  <a:tcPr marL="152400" marR="114300" marT="123825" marB="114300" anchor="ctr">
                    <a:solidFill>
                      <a:srgbClr val="17283D"/>
                    </a:solidFill>
                  </a:tcPr>
                </a:tc>
                <a:tc>
                  <a:txBody>
                    <a:bodyPr>
                      <a:noAutofit/>
                    </a:bodyPr>
                    <a:lstStyle/>
                    <a:p>
                      <a:pPr algn="l"/>
                      <a:r>
                        <a:rPr sz="2025" b="1">
                          <a:solidFill>
                            <a:srgbClr val="FFFFFF"/>
                          </a:solidFill>
                          <a:latin typeface="Helvetica Neue"/>
                          <a:ea typeface="Helvetica Neue"/>
                          <a:cs typeface="Helvetica Neue"/>
                        </a:rPr>
                        <a:t>Tasks</a:t>
                      </a:r>
                    </a:p>
                  </a:txBody>
                  <a:tcPr marL="152400" marR="114300" marT="123825" marB="114300" anchor="ctr">
                    <a:solidFill>
                      <a:srgbClr val="17283D"/>
                    </a:solidFill>
                  </a:tcPr>
                </a:tc>
              </a:tr>
              <a:tr h="695325">
                <a:tc>
                  <a:txBody>
                    <a:bodyPr>
                      <a:noAutofit/>
                    </a:bodyPr>
                    <a:lstStyle/>
                    <a:p>
                      <a:pPr algn="l"/>
                      <a:r>
                        <a:rPr sz="2100" b="0">
                          <a:solidFill>
                            <a:srgbClr val="17283D"/>
                          </a:solidFill>
                          <a:latin typeface="Helvetica Neue"/>
                          <a:ea typeface="Helvetica Neue"/>
                          <a:cs typeface="Helvetica Neue"/>
                        </a:rPr>
                        <a:t>Both solved</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29</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Neither solved</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7</a:t>
                      </a:r>
                    </a:p>
                  </a:txBody>
                  <a:tcPr marL="152400" marR="114300" marT="123825" marB="114300" anchor="ctr">
                    <a:solidFill>
                      <a:srgbClr val="EFF2F6"/>
                    </a:solidFill>
                  </a:tcPr>
                </a:tc>
              </a:tr>
              <a:tr h="695325">
                <a:tc>
                  <a:txBody>
                    <a:bodyPr>
                      <a:noAutofit/>
                    </a:bodyPr>
                    <a:lstStyle/>
                    <a:p>
                      <a:pPr algn="l"/>
                      <a:r>
                        <a:rPr sz="2100" b="0">
                          <a:solidFill>
                            <a:srgbClr val="17283D"/>
                          </a:solidFill>
                          <a:latin typeface="Helvetica Neue"/>
                          <a:ea typeface="Helvetica Neue"/>
                          <a:cs typeface="Helvetica Neue"/>
                        </a:rPr>
                        <a:t>Single only</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2</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Graph only</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1</a:t>
                      </a:r>
                    </a:p>
                  </a:txBody>
                  <a:tcPr marL="152400" marR="114300" marT="123825" marB="114300" anchor="ctr">
                    <a:solidFill>
                      <a:srgbClr val="EFF2F6"/>
                    </a:solidFill>
                  </a:tcPr>
                </a:tc>
              </a:tr>
            </a:tbl>
          </a:graphicData>
        </a:graphic>
      </p:graphicFrame>
      <p:sp>
        <p:nvSpPr>
          <p:cNvPr id="4" name="text-2">
            <a:extLst xmlns:a="http://schemas.openxmlformats.org/drawingml/2006/main">
              <a:ext uri="{FF2B5EF4-FFF2-40B4-BE49-F238E27FC236}">
                <a16:creationId xmlns:a16="http://schemas.microsoft.com/office/drawing/2014/main" id="{A40066D2-F525-4667-87D9-4B718733910E}"/>
              </a:ext>
            </a:extLst>
          </p:cNvPr>
          <p:cNvSpPr>
            <a:spLocks xmlns:a="http://schemas.openxmlformats.org/drawingml/2006/main" noGrp="1"/>
          </p:cNvSpPr>
          <p:nvPr/>
        </p:nvSpPr>
        <p:spPr>
          <a:xfrm xmlns:a="http://schemas.openxmlformats.org/drawingml/2006/main">
            <a:off x="685800" y="55530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468C9"/>
                </a:solidFill>
                <a:latin typeface="Helvetica Neue"/>
                <a:ea typeface="Helvetica Neue"/>
                <a:cs typeface="Helvetica Neue"/>
              </a:defRPr>
            </a:pPr>
            <a:r>
              <a:rPr sz="2400" b="1">
                <a:solidFill>
                  <a:srgbClr val="2468C9"/>
                </a:solidFill>
                <a:latin typeface="Helvetica Neue"/>
                <a:ea typeface="Helvetica Neue"/>
                <a:cs typeface="Helvetica Neue"/>
              </a:rPr>
              <a:t>A one-task aggregate difference is weak evidence for a general ranking.</a:t>
            </a:r>
          </a:p>
        </p:txBody>
      </p:sp>
    </p:spTree>
    <p:extLst>
      <p:ext uri="{BB962C8B-B14F-4D97-AF65-F5344CB8AC3E}">
        <p14:creationId xmlns:p14="http://schemas.microsoft.com/office/powerpoint/2010/main" val="810742228"/>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351A3751-92CE-46B9-9FE8-06B5E43FF28B}"/>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Limits of the primary experiment</a:t>
            </a:r>
          </a:p>
        </p:txBody>
      </p:sp>
      <p:sp>
        <p:nvSpPr>
          <p:cNvPr id="2" name="slide-number">
            <a:extLst xmlns:a="http://schemas.openxmlformats.org/drawingml/2006/main">
              <a:ext uri="{FF2B5EF4-FFF2-40B4-BE49-F238E27FC236}">
                <a16:creationId xmlns:a16="http://schemas.microsoft.com/office/drawing/2014/main" id="{F8F238F4-2420-4DCC-9B8F-E419DA7CB318}"/>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14</a:t>
            </a:r>
          </a:p>
        </p:txBody>
      </p:sp>
      <p:sp>
        <p:nvSpPr>
          <p:cNvPr id="3" name="text-2">
            <a:extLst xmlns:a="http://schemas.openxmlformats.org/drawingml/2006/main">
              <a:ext uri="{FF2B5EF4-FFF2-40B4-BE49-F238E27FC236}">
                <a16:creationId xmlns:a16="http://schemas.microsoft.com/office/drawing/2014/main" id="{34FA1C69-5DEE-4B37-B979-F621E199FDE9}"/>
              </a:ext>
            </a:extLst>
          </p:cNvPr>
          <p:cNvSpPr>
            <a:spLocks xmlns:a="http://schemas.openxmlformats.org/drawingml/2006/main" noGrp="1"/>
          </p:cNvSpPr>
          <p:nvPr/>
        </p:nvSpPr>
        <p:spPr>
          <a:xfrm xmlns:a="http://schemas.openxmlformats.org/drawingml/2006/main">
            <a:off x="685800" y="17145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One model and one final attempt</a:t>
            </a:r>
          </a:p>
        </p:txBody>
      </p:sp>
      <p:sp>
        <p:nvSpPr>
          <p:cNvPr id="4" name="text-3">
            <a:extLst xmlns:a="http://schemas.openxmlformats.org/drawingml/2006/main">
              <a:ext uri="{FF2B5EF4-FFF2-40B4-BE49-F238E27FC236}">
                <a16:creationId xmlns:a16="http://schemas.microsoft.com/office/drawing/2014/main" id="{E3633A44-C599-4B2D-8F91-B5E56C81A563}"/>
              </a:ext>
            </a:extLst>
          </p:cNvPr>
          <p:cNvSpPr>
            <a:spLocks xmlns:a="http://schemas.openxmlformats.org/drawingml/2006/main" noGrp="1"/>
          </p:cNvSpPr>
          <p:nvPr/>
        </p:nvSpPr>
        <p:spPr>
          <a:xfrm xmlns:a="http://schemas.openxmlformats.org/drawingml/2006/main">
            <a:off x="685800" y="21621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Small effects and run-to-run stability remain uncertain</a:t>
            </a:r>
          </a:p>
        </p:txBody>
      </p:sp>
      <p:sp>
        <p:nvSpPr>
          <p:cNvPr id="5" name="text-4">
            <a:extLst xmlns:a="http://schemas.openxmlformats.org/drawingml/2006/main">
              <a:ext uri="{FF2B5EF4-FFF2-40B4-BE49-F238E27FC236}">
                <a16:creationId xmlns:a16="http://schemas.microsoft.com/office/drawing/2014/main" id="{868AD1EF-197C-4830-8CEB-0394BFA5F8EF}"/>
              </a:ext>
            </a:extLst>
          </p:cNvPr>
          <p:cNvSpPr>
            <a:spLocks xmlns:a="http://schemas.openxmlformats.org/drawingml/2006/main" noGrp="1"/>
          </p:cNvSpPr>
          <p:nvPr/>
        </p:nvSpPr>
        <p:spPr>
          <a:xfrm xmlns:a="http://schemas.openxmlformats.org/drawingml/2006/main">
            <a:off x="685800" y="27717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Limited complexity coverage</a:t>
            </a:r>
          </a:p>
        </p:txBody>
      </p:sp>
      <p:sp>
        <p:nvSpPr>
          <p:cNvPr id="6" name="text-5">
            <a:extLst xmlns:a="http://schemas.openxmlformats.org/drawingml/2006/main">
              <a:ext uri="{FF2B5EF4-FFF2-40B4-BE49-F238E27FC236}">
                <a16:creationId xmlns:a16="http://schemas.microsoft.com/office/drawing/2014/main" id="{40860398-DD48-4043-B465-135DB06738DE}"/>
              </a:ext>
            </a:extLst>
          </p:cNvPr>
          <p:cNvSpPr>
            <a:spLocks xmlns:a="http://schemas.openxmlformats.org/drawingml/2006/main" noGrp="1"/>
          </p:cNvSpPr>
          <p:nvPr/>
        </p:nvSpPr>
        <p:spPr>
          <a:xfrm xmlns:a="http://schemas.openxmlformats.org/drawingml/2006/main">
            <a:off x="685800" y="32194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19 of 24 core patches change one source file</a:t>
            </a:r>
          </a:p>
        </p:txBody>
      </p:sp>
      <p:sp>
        <p:nvSpPr>
          <p:cNvPr id="7" name="text-6">
            <a:extLst xmlns:a="http://schemas.openxmlformats.org/drawingml/2006/main">
              <a:ext uri="{FF2B5EF4-FFF2-40B4-BE49-F238E27FC236}">
                <a16:creationId xmlns:a16="http://schemas.microsoft.com/office/drawing/2014/main" id="{0B2D515D-E0AF-4077-A8C6-8847EB01619E}"/>
              </a:ext>
            </a:extLst>
          </p:cNvPr>
          <p:cNvSpPr>
            <a:spLocks xmlns:a="http://schemas.openxmlformats.org/drawingml/2006/main" noGrp="1"/>
          </p:cNvSpPr>
          <p:nvPr/>
        </p:nvSpPr>
        <p:spPr>
          <a:xfrm xmlns:a="http://schemas.openxmlformats.org/drawingml/2006/main">
            <a:off x="685800" y="38290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Development exposure</a:t>
            </a:r>
          </a:p>
        </p:txBody>
      </p:sp>
      <p:sp>
        <p:nvSpPr>
          <p:cNvPr id="8" name="text-7">
            <a:extLst xmlns:a="http://schemas.openxmlformats.org/drawingml/2006/main">
              <a:ext uri="{FF2B5EF4-FFF2-40B4-BE49-F238E27FC236}">
                <a16:creationId xmlns:a16="http://schemas.microsoft.com/office/drawing/2014/main" id="{26628D1A-B750-4294-BA2F-319B41402173}"/>
              </a:ext>
            </a:extLst>
          </p:cNvPr>
          <p:cNvSpPr>
            <a:spLocks xmlns:a="http://schemas.openxmlformats.org/drawingml/2006/main" noGrp="1"/>
          </p:cNvSpPr>
          <p:nvPr/>
        </p:nvSpPr>
        <p:spPr>
          <a:xfrm xmlns:a="http://schemas.openxmlformats.org/drawingml/2006/main">
            <a:off x="685800" y="42767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20 of 39 shared tasks appeared in exploratory runs</a:t>
            </a:r>
          </a:p>
        </p:txBody>
      </p:sp>
      <p:sp>
        <p:nvSpPr>
          <p:cNvPr id="9" name="text-8">
            <a:extLst xmlns:a="http://schemas.openxmlformats.org/drawingml/2006/main">
              <a:ext uri="{FF2B5EF4-FFF2-40B4-BE49-F238E27FC236}">
                <a16:creationId xmlns:a16="http://schemas.microsoft.com/office/drawing/2014/main" id="{15667345-DC79-4B22-808B-E76BFAE77684}"/>
              </a:ext>
            </a:extLst>
          </p:cNvPr>
          <p:cNvSpPr>
            <a:spLocks xmlns:a="http://schemas.openxmlformats.org/drawingml/2006/main" noGrp="1"/>
          </p:cNvSpPr>
          <p:nvPr/>
        </p:nvSpPr>
        <p:spPr>
          <a:xfrm xmlns:a="http://schemas.openxmlformats.org/drawingml/2006/main">
            <a:off x="685800" y="48863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Rubric quality review and reproduction</a:t>
            </a:r>
          </a:p>
        </p:txBody>
      </p:sp>
      <p:sp>
        <p:nvSpPr>
          <p:cNvPr id="10" name="text-9">
            <a:extLst xmlns:a="http://schemas.openxmlformats.org/drawingml/2006/main">
              <a:ext uri="{FF2B5EF4-FFF2-40B4-BE49-F238E27FC236}">
                <a16:creationId xmlns:a16="http://schemas.microsoft.com/office/drawing/2014/main" id="{051D5CFC-03AB-4BDA-81B5-67C56023D393}"/>
              </a:ext>
            </a:extLst>
          </p:cNvPr>
          <p:cNvSpPr>
            <a:spLocks xmlns:a="http://schemas.openxmlformats.org/drawingml/2006/main" noGrp="1"/>
          </p:cNvSpPr>
          <p:nvPr/>
        </p:nvSpPr>
        <p:spPr>
          <a:xfrm xmlns:a="http://schemas.openxmlformats.org/drawingml/2006/main">
            <a:off x="685800" y="53340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No rubric scores for 102 final runs. Dataset packaging remains incomplete.</a:t>
            </a:r>
          </a:p>
        </p:txBody>
      </p:sp>
    </p:spTree>
    <p:extLst>
      <p:ext uri="{BB962C8B-B14F-4D97-AF65-F5344CB8AC3E}">
        <p14:creationId xmlns:p14="http://schemas.microsoft.com/office/powerpoint/2010/main" val="2102255567"/>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EB34B5C-EA8B-4137-B627-9386D8711985}"/>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Kernel v2: a separate extension</a:t>
            </a:r>
          </a:p>
        </p:txBody>
      </p:sp>
      <p:sp>
        <p:nvSpPr>
          <p:cNvPr id="2" name="slide-number">
            <a:extLst xmlns:a="http://schemas.openxmlformats.org/drawingml/2006/main">
              <a:ext uri="{FF2B5EF4-FFF2-40B4-BE49-F238E27FC236}">
                <a16:creationId xmlns:a16="http://schemas.microsoft.com/office/drawing/2014/main" id="{BF00A2F2-F277-4171-BA30-032995A8B330}"/>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15</a:t>
            </a:r>
          </a:p>
        </p:txBody>
      </p:sp>
      <p:sp>
        <p:nvSpPr>
          <p:cNvPr id="3" name="text-2">
            <a:extLst xmlns:a="http://schemas.openxmlformats.org/drawingml/2006/main">
              <a:ext uri="{FF2B5EF4-FFF2-40B4-BE49-F238E27FC236}">
                <a16:creationId xmlns:a16="http://schemas.microsoft.com/office/drawing/2014/main" id="{B533B1A6-4DE1-4A12-9D1A-5D3D2308D31F}"/>
              </a:ext>
            </a:extLst>
          </p:cNvPr>
          <p:cNvSpPr>
            <a:spLocks xmlns:a="http://schemas.openxmlformats.org/drawingml/2006/main" noGrp="1"/>
          </p:cNvSpPr>
          <p:nvPr/>
        </p:nvSpPr>
        <p:spPr>
          <a:xfrm xmlns:a="http://schemas.openxmlformats.org/drawingml/2006/main">
            <a:off x="685800" y="15049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16174"/>
                </a:solidFill>
                <a:latin typeface="Helvetica Neue"/>
                <a:ea typeface="Helvetica Neue"/>
                <a:cs typeface="Helvetica Neue"/>
              </a:defRPr>
            </a:pPr>
            <a:r>
              <a:rPr sz="2325" b="0">
                <a:solidFill>
                  <a:srgbClr val="516174"/>
                </a:solidFill>
                <a:latin typeface="Helvetica Neue"/>
                <a:ea typeface="Helvetica Neue"/>
                <a:cs typeface="Helvetica Neue"/>
              </a:rPr>
              <a:t>Completed core-small blocks at a 50-step cap</a:t>
            </a:r>
          </a:p>
        </p:txBody>
      </p:sp>
      <p:graphicFrame>
        <p:nvGraphicFramePr>
          <p:cNvPr id="10" name=""/>
          <p:cNvGraphicFramePr/>
          <p:nvPr/>
        </p:nvGraphicFramePr>
        <p:xfrm>
          <a:off xmlns:a="http://schemas.openxmlformats.org/drawingml/2006/main" x="685800" y="2266950"/>
          <a:ext xmlns:a="http://schemas.openxmlformats.org/drawingml/2006/main" cx="10820400" cy="3048000"/>
        </p:xfrm>
        <a:graphic xmlns:a="http://schemas.openxmlformats.org/drawingml/2006/main">
          <a:graphicData uri="http://schemas.openxmlformats.org/drawingml/2006/table">
            <a:tbl>
              <a:tblPr firstRow="0" bandRow="0"/>
              <a:tblGrid>
                <a:gridCol w="5676900"/>
                <a:gridCol w="1714500"/>
                <a:gridCol w="1714500"/>
                <a:gridCol w="1714500"/>
              </a:tblGrid>
              <a:tr h="619125">
                <a:tc>
                  <a:txBody>
                    <a:bodyPr>
                      <a:noAutofit/>
                    </a:bodyPr>
                    <a:lstStyle/>
                    <a:p>
                      <a:pPr algn="l"/>
                      <a:r>
                        <a:rPr sz="1875" b="1">
                          <a:solidFill>
                            <a:srgbClr val="FFFFFF"/>
                          </a:solidFill>
                          <a:latin typeface="Helvetica Neue"/>
                          <a:ea typeface="Helvetica Neue"/>
                          <a:cs typeface="Helvetica Neue"/>
                        </a:rPr>
                        <a:t>Model configuration</a:t>
                      </a:r>
                    </a:p>
                  </a:txBody>
                  <a:tcPr marL="152400" marR="114300" marT="123825" marB="114300" anchor="ctr">
                    <a:solidFill>
                      <a:srgbClr val="17283D"/>
                    </a:solidFill>
                  </a:tcPr>
                </a:tc>
                <a:tc>
                  <a:txBody>
                    <a:bodyPr>
                      <a:noAutofit/>
                    </a:bodyPr>
                    <a:lstStyle/>
                    <a:p>
                      <a:pPr algn="l"/>
                      <a:r>
                        <a:rPr sz="1875"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875"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1875" b="1">
                          <a:solidFill>
                            <a:srgbClr val="FFFFFF"/>
                          </a:solidFill>
                          <a:latin typeface="Helvetica Neue"/>
                          <a:ea typeface="Helvetica Neue"/>
                          <a:cs typeface="Helvetica Neue"/>
                        </a:rPr>
                        <a:t>Guarded</a:t>
                      </a:r>
                    </a:p>
                  </a:txBody>
                  <a:tcPr marL="152400" marR="114300" marT="123825" marB="114300" anchor="ctr">
                    <a:solidFill>
                      <a:srgbClr val="17283D"/>
                    </a:solidFill>
                  </a:tcPr>
                </a:tc>
              </a:tr>
              <a:tr h="790575">
                <a:tc>
                  <a:txBody>
                    <a:bodyPr>
                      <a:noAutofit/>
                    </a:bodyPr>
                    <a:lstStyle/>
                    <a:p>
                      <a:pPr algn="l"/>
                      <a:r>
                        <a:rPr sz="1950" b="0">
                          <a:solidFill>
                            <a:srgbClr val="17283D"/>
                          </a:solidFill>
                          <a:latin typeface="Helvetica Neue"/>
                          <a:ea typeface="Helvetica Neue"/>
                          <a:cs typeface="Helvetica Neue"/>
                        </a:rPr>
                        <a:t>GLM-5.2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10/12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9/12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10/12</a:t>
                      </a:r>
                    </a:p>
                  </a:txBody>
                  <a:tcPr marL="152400" marR="114300" marT="123825" marB="114300" anchor="ctr">
                    <a:solidFill>
                      <a:srgbClr val="FFFFFF"/>
                    </a:solidFill>
                  </a:tcPr>
                </a:tc>
              </a:tr>
              <a:tr h="790575">
                <a:tc>
                  <a:txBody>
                    <a:bodyPr>
                      <a:noAutofit/>
                    </a:bodyPr>
                    <a:lstStyle/>
                    <a:p>
                      <a:pPr algn="l"/>
                      <a:r>
                        <a:rPr sz="1950" b="0">
                          <a:solidFill>
                            <a:srgbClr val="17283D"/>
                          </a:solidFill>
                          <a:latin typeface="Helvetica Neue"/>
                          <a:ea typeface="Helvetica Neue"/>
                          <a:cs typeface="Helvetica Neue"/>
                        </a:rPr>
                        <a:t>DeepSeek V4 Flash</a:t>
                      </a:r>
                    </a:p>
                  </a:txBody>
                  <a:tcPr marL="152400" marR="114300" marT="123825" marB="114300" anchor="ctr">
                    <a:solidFill>
                      <a:srgbClr val="EFF2F6"/>
                    </a:solidFill>
                  </a:tcPr>
                </a:tc>
                <a:tc>
                  <a:txBody>
                    <a:bodyPr>
                      <a:noAutofit/>
                    </a:bodyPr>
                    <a:lstStyle/>
                    <a:p>
                      <a:pPr algn="l"/>
                      <a:r>
                        <a:rPr sz="1950" b="0">
                          <a:solidFill>
                            <a:srgbClr val="17283D"/>
                          </a:solidFill>
                          <a:latin typeface="Helvetica Neue"/>
                          <a:ea typeface="Helvetica Neue"/>
                          <a:cs typeface="Helvetica Neue"/>
                        </a:rPr>
                        <a:t>9/12</a:t>
                      </a:r>
                    </a:p>
                  </a:txBody>
                  <a:tcPr marL="152400" marR="114300" marT="123825" marB="114300" anchor="ctr">
                    <a:solidFill>
                      <a:srgbClr val="EFF2F6"/>
                    </a:solidFill>
                  </a:tcPr>
                </a:tc>
                <a:tc>
                  <a:txBody>
                    <a:bodyPr>
                      <a:noAutofit/>
                    </a:bodyPr>
                    <a:lstStyle/>
                    <a:p>
                      <a:pPr algn="l"/>
                      <a:r>
                        <a:rPr sz="1950" b="0">
                          <a:solidFill>
                            <a:srgbClr val="17283D"/>
                          </a:solidFill>
                          <a:latin typeface="Helvetica Neue"/>
                          <a:ea typeface="Helvetica Neue"/>
                          <a:cs typeface="Helvetica Neue"/>
                        </a:rPr>
                        <a:t>11/12</a:t>
                      </a:r>
                    </a:p>
                  </a:txBody>
                  <a:tcPr marL="152400" marR="114300" marT="123825" marB="114300" anchor="ctr">
                    <a:solidFill>
                      <a:srgbClr val="EFF2F6"/>
                    </a:solidFill>
                  </a:tcPr>
                </a:tc>
                <a:tc>
                  <a:txBody>
                    <a:bodyPr>
                      <a:noAutofit/>
                    </a:bodyPr>
                    <a:lstStyle/>
                    <a:p>
                      <a:pPr algn="l"/>
                      <a:r>
                        <a:rPr sz="1950" b="0">
                          <a:solidFill>
                            <a:srgbClr val="17283D"/>
                          </a:solidFill>
                          <a:latin typeface="Helvetica Neue"/>
                          <a:ea typeface="Helvetica Neue"/>
                          <a:cs typeface="Helvetica Neue"/>
                        </a:rPr>
                        <a:t>11/12</a:t>
                      </a:r>
                    </a:p>
                  </a:txBody>
                  <a:tcPr marL="152400" marR="114300" marT="123825" marB="114300" anchor="ctr">
                    <a:solidFill>
                      <a:srgbClr val="EFF2F6"/>
                    </a:solidFill>
                  </a:tcPr>
                </a:tc>
              </a:tr>
              <a:tr h="790575">
                <a:tc>
                  <a:txBody>
                    <a:bodyPr>
                      <a:noAutofit/>
                    </a:bodyPr>
                    <a:lstStyle/>
                    <a:p>
                      <a:pPr algn="l"/>
                      <a:r>
                        <a:rPr sz="1950" b="0">
                          <a:solidFill>
                            <a:srgbClr val="17283D"/>
                          </a:solidFill>
                          <a:latin typeface="Helvetica Neue"/>
                          <a:ea typeface="Helvetica Neue"/>
                          <a:cs typeface="Helvetica Neue"/>
                        </a:rPr>
                        <a:t>GPT-5.1 Codex Mini</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9/12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7/12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8/12</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90A7DE78-9762-4A25-B640-1E6FD780F866}"/>
              </a:ext>
            </a:extLst>
          </p:cNvPr>
          <p:cNvSpPr>
            <a:spLocks xmlns:a="http://schemas.openxmlformats.org/drawingml/2006/main" noGrp="1"/>
          </p:cNvSpPr>
          <p:nvPr/>
        </p:nvSpPr>
        <p:spPr>
          <a:xfrm xmlns:a="http://schemas.openxmlformats.org/drawingml/2006/main">
            <a:off x="685800" y="55626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468C9"/>
                </a:solidFill>
                <a:latin typeface="Helvetica Neue"/>
                <a:ea typeface="Helvetica Neue"/>
                <a:cs typeface="Helvetica Neue"/>
              </a:defRPr>
            </a:pPr>
            <a:r>
              <a:rPr sz="2250" b="1">
                <a:solidFill>
                  <a:srgbClr val="2468C9"/>
                </a:solidFill>
                <a:latin typeface="Helvetica Neue"/>
                <a:ea typeface="Helvetica Neue"/>
                <a:cs typeface="Helvetica Neue"/>
              </a:rPr>
              <a:t>Architecture rankings vary across configurations.</a:t>
            </a:r>
          </a:p>
        </p:txBody>
      </p:sp>
      <p:sp>
        <p:nvSpPr>
          <p:cNvPr id="6" name="text-4">
            <a:extLst xmlns:a="http://schemas.openxmlformats.org/drawingml/2006/main">
              <a:ext uri="{FF2B5EF4-FFF2-40B4-BE49-F238E27FC236}">
                <a16:creationId xmlns:a16="http://schemas.microsoft.com/office/drawing/2014/main" id="{CDDBA844-9D7C-4F24-90B2-254AEF169071}"/>
              </a:ext>
            </a:extLst>
          </p:cNvPr>
          <p:cNvSpPr>
            <a:spLocks xmlns:a="http://schemas.openxmlformats.org/drawingml/2006/main" noGrp="1"/>
          </p:cNvSpPr>
          <p:nvPr/>
        </p:nvSpPr>
        <p:spPr>
          <a:xfrm xmlns:a="http://schemas.openxmlformats.org/drawingml/2006/main">
            <a:off x="685800" y="60102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16174"/>
                </a:solidFill>
                <a:latin typeface="Helvetica Neue"/>
                <a:ea typeface="Helvetica Neue"/>
                <a:cs typeface="Helvetica Neue"/>
              </a:defRPr>
            </a:pPr>
            <a:r>
              <a:rPr sz="1500" b="0">
                <a:solidFill>
                  <a:srgbClr val="516174"/>
                </a:solidFill>
                <a:latin typeface="Helvetica Neue"/>
                <a:ea typeface="Helvetica Neue"/>
                <a:cs typeface="Helvetica Neue"/>
              </a:rPr>
              <a:t>Different reasoning and compaction settings. These results do not extend the master totals.</a:t>
            </a:r>
          </a:p>
        </p:txBody>
      </p:sp>
    </p:spTree>
    <p:extLst>
      <p:ext uri="{BB962C8B-B14F-4D97-AF65-F5344CB8AC3E}">
        <p14:creationId xmlns:p14="http://schemas.microsoft.com/office/powerpoint/2010/main" val="384405175"/>
      </p:ext>
    </p:extLst>
  </p:cSld>
</p:sld>
</file>

<file path=ppt/slides/slide16.xml><?xml version="1.0" encoding="utf-8"?>
<p:sld xmlns:p="http://schemas.openxmlformats.org/presentationml/2006/main">
  <p:cSld>
    <p:bg>
      <p:bgPr>
        <a:solidFill xmlns:a="http://schemas.openxmlformats.org/drawingml/2006/main">
          <a:srgbClr val="14243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0C1E16EF-82C1-496C-AC54-5543835223A4}"/>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Hypotheses and conclusions</a:t>
            </a:r>
          </a:p>
        </p:txBody>
      </p:sp>
      <p:sp>
        <p:nvSpPr>
          <p:cNvPr id="2" name="slide-number">
            <a:extLst xmlns:a="http://schemas.openxmlformats.org/drawingml/2006/main">
              <a:ext uri="{FF2B5EF4-FFF2-40B4-BE49-F238E27FC236}">
                <a16:creationId xmlns:a16="http://schemas.microsoft.com/office/drawing/2014/main" id="{3B300533-25D9-4D3B-AA8D-16CE043E1178}"/>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9D6FC"/>
                </a:solidFill>
                <a:latin typeface="Helvetica Neue"/>
                <a:ea typeface="Helvetica Neue"/>
                <a:cs typeface="Helvetica Neue"/>
              </a:defRPr>
            </a:pPr>
            <a:r>
              <a:rPr sz="1275" b="0">
                <a:solidFill>
                  <a:srgbClr val="B9D6FC"/>
                </a:solidFill>
                <a:latin typeface="Helvetica Neue"/>
                <a:ea typeface="Helvetica Neue"/>
                <a:cs typeface="Helvetica Neue"/>
              </a:rPr>
              <a:t>16</a:t>
            </a:r>
          </a:p>
        </p:txBody>
      </p:sp>
      <p:sp>
        <p:nvSpPr>
          <p:cNvPr id="3" name="text-2">
            <a:extLst xmlns:a="http://schemas.openxmlformats.org/drawingml/2006/main">
              <a:ext uri="{FF2B5EF4-FFF2-40B4-BE49-F238E27FC236}">
                <a16:creationId xmlns:a16="http://schemas.microsoft.com/office/drawing/2014/main" id="{BD31C8CB-186C-4D98-BD0F-0F1DC9C12F18}"/>
              </a:ext>
            </a:extLst>
          </p:cNvPr>
          <p:cNvSpPr>
            <a:spLocks xmlns:a="http://schemas.openxmlformats.org/drawingml/2006/main" noGrp="1"/>
          </p:cNvSpPr>
          <p:nvPr/>
        </p:nvSpPr>
        <p:spPr>
          <a:xfrm xmlns:a="http://schemas.openxmlformats.org/drawingml/2006/main">
            <a:off x="685800" y="160972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H1. Single agents are more cost-effective on simple tasks</a:t>
            </a:r>
          </a:p>
        </p:txBody>
      </p:sp>
      <p:sp>
        <p:nvSpPr>
          <p:cNvPr id="4" name="text-3">
            <a:extLst xmlns:a="http://schemas.openxmlformats.org/drawingml/2006/main">
              <a:ext uri="{FF2B5EF4-FFF2-40B4-BE49-F238E27FC236}">
                <a16:creationId xmlns:a16="http://schemas.microsoft.com/office/drawing/2014/main" id="{792716E6-A475-491C-9089-ABE71EABB29A}"/>
              </a:ext>
            </a:extLst>
          </p:cNvPr>
          <p:cNvSpPr>
            <a:spLocks xmlns:a="http://schemas.openxmlformats.org/drawingml/2006/main" noGrp="1"/>
          </p:cNvSpPr>
          <p:nvPr/>
        </p:nvSpPr>
        <p:spPr>
          <a:xfrm xmlns:a="http://schemas.openxmlformats.org/drawingml/2006/main">
            <a:off x="685800" y="23717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B9D6FC"/>
                </a:solidFill>
                <a:latin typeface="Helvetica Neue"/>
                <a:ea typeface="Helvetica Neue"/>
                <a:cs typeface="Helvetica Neue"/>
              </a:defRPr>
            </a:pPr>
            <a:r>
              <a:rPr sz="2325" b="1">
                <a:solidFill>
                  <a:srgbClr val="B9D6FC"/>
                </a:solidFill>
                <a:latin typeface="Helvetica Neue"/>
                <a:ea typeface="Helvetica Neue"/>
                <a:cs typeface="Helvetica Neue"/>
              </a:rPr>
              <a:t>Supported in core-small</a:t>
            </a:r>
          </a:p>
        </p:txBody>
      </p:sp>
      <p:sp>
        <p:nvSpPr>
          <p:cNvPr id="5" name="text-4">
            <a:extLst xmlns:a="http://schemas.openxmlformats.org/drawingml/2006/main">
              <a:ext uri="{FF2B5EF4-FFF2-40B4-BE49-F238E27FC236}">
                <a16:creationId xmlns:a16="http://schemas.microsoft.com/office/drawing/2014/main" id="{038DE99B-7268-4B97-B2CB-ED4B6CD6AA5F}"/>
              </a:ext>
            </a:extLst>
          </p:cNvPr>
          <p:cNvSpPr>
            <a:spLocks xmlns:a="http://schemas.openxmlformats.org/drawingml/2006/main" noGrp="1"/>
          </p:cNvSpPr>
          <p:nvPr/>
        </p:nvSpPr>
        <p:spPr>
          <a:xfrm xmlns:a="http://schemas.openxmlformats.org/drawingml/2006/main">
            <a:off x="685800" y="290512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All solved 11/12. Cost: single $0.3765, graph $0.7642, guarded $0.9707.</a:t>
            </a:r>
          </a:p>
        </p:txBody>
      </p:sp>
      <p:sp>
        <p:nvSpPr>
          <p:cNvPr id="6" name="text-5">
            <a:extLst xmlns:a="http://schemas.openxmlformats.org/drawingml/2006/main">
              <a:ext uri="{FF2B5EF4-FFF2-40B4-BE49-F238E27FC236}">
                <a16:creationId xmlns:a16="http://schemas.microsoft.com/office/drawing/2014/main" id="{57740D52-8DED-4D03-A552-E2B213582D44}"/>
              </a:ext>
            </a:extLst>
          </p:cNvPr>
          <p:cNvSpPr>
            <a:spLocks xmlns:a="http://schemas.openxmlformats.org/drawingml/2006/main" noGrp="1"/>
          </p:cNvSpPr>
          <p:nvPr/>
        </p:nvSpPr>
        <p:spPr>
          <a:xfrm xmlns:a="http://schemas.openxmlformats.org/drawingml/2006/main">
            <a:off x="685800" y="375285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H2. Multi-agent benefits grow with task and codebase complexity</a:t>
            </a:r>
          </a:p>
        </p:txBody>
      </p:sp>
      <p:sp>
        <p:nvSpPr>
          <p:cNvPr id="7" name="text-6">
            <a:extLst xmlns:a="http://schemas.openxmlformats.org/drawingml/2006/main">
              <a:ext uri="{FF2B5EF4-FFF2-40B4-BE49-F238E27FC236}">
                <a16:creationId xmlns:a16="http://schemas.microsoft.com/office/drawing/2014/main" id="{FD74449C-6D54-483F-B3BB-B603969F3F42}"/>
              </a:ext>
            </a:extLst>
          </p:cNvPr>
          <p:cNvSpPr>
            <a:spLocks xmlns:a="http://schemas.openxmlformats.org/drawingml/2006/main" noGrp="1"/>
          </p:cNvSpPr>
          <p:nvPr/>
        </p:nvSpPr>
        <p:spPr>
          <a:xfrm xmlns:a="http://schemas.openxmlformats.org/drawingml/2006/main">
            <a:off x="685800" y="45910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B9D6FC"/>
                </a:solidFill>
                <a:latin typeface="Helvetica Neue"/>
                <a:ea typeface="Helvetica Neue"/>
                <a:cs typeface="Helvetica Neue"/>
              </a:defRPr>
            </a:pPr>
            <a:r>
              <a:rPr sz="2325" b="1">
                <a:solidFill>
                  <a:srgbClr val="B9D6FC"/>
                </a:solidFill>
                <a:latin typeface="Helvetica Neue"/>
                <a:ea typeface="Helvetica Neue"/>
                <a:cs typeface="Helvetica Neue"/>
              </a:rPr>
              <a:t>Not supported by the master results</a:t>
            </a:r>
          </a:p>
        </p:txBody>
      </p:sp>
      <p:sp>
        <p:nvSpPr>
          <p:cNvPr id="8" name="text-7">
            <a:extLst xmlns:a="http://schemas.openxmlformats.org/drawingml/2006/main">
              <a:ext uri="{FF2B5EF4-FFF2-40B4-BE49-F238E27FC236}">
                <a16:creationId xmlns:a16="http://schemas.microsoft.com/office/drawing/2014/main" id="{3BE38BF8-4734-437B-AF5F-A1904B60B97F}"/>
              </a:ext>
            </a:extLst>
          </p:cNvPr>
          <p:cNvSpPr>
            <a:spLocks xmlns:a="http://schemas.openxmlformats.org/drawingml/2006/main" noGrp="1"/>
          </p:cNvSpPr>
          <p:nvPr/>
        </p:nvSpPr>
        <p:spPr>
          <a:xfrm xmlns:a="http://schemas.openxmlformats.org/drawingml/2006/main">
            <a:off x="685800" y="5124450"/>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Medium: single 11/12, both multi-agent variants 10/12. SWE Pro: both 9/15.</a:t>
            </a:r>
          </a:p>
        </p:txBody>
      </p:sp>
      <p:sp>
        <p:nvSpPr>
          <p:cNvPr id="9" name="text-8">
            <a:extLst xmlns:a="http://schemas.openxmlformats.org/drawingml/2006/main">
              <a:ext uri="{FF2B5EF4-FFF2-40B4-BE49-F238E27FC236}">
                <a16:creationId xmlns:a16="http://schemas.microsoft.com/office/drawing/2014/main" id="{E19C561F-4DF3-4935-B941-514A252B13D0}"/>
              </a:ext>
            </a:extLst>
          </p:cNvPr>
          <p:cNvSpPr>
            <a:spLocks xmlns:a="http://schemas.openxmlformats.org/drawingml/2006/main" noGrp="1"/>
          </p:cNvSpPr>
          <p:nvPr/>
        </p:nvSpPr>
        <p:spPr>
          <a:xfrm xmlns:a="http://schemas.openxmlformats.org/drawingml/2006/main">
            <a:off x="685800" y="5981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B9D6FC"/>
                </a:solidFill>
                <a:latin typeface="Helvetica Neue"/>
                <a:ea typeface="Helvetica Neue"/>
                <a:cs typeface="Helvetica Neue"/>
              </a:defRPr>
            </a:pPr>
            <a:r>
              <a:rPr sz="1650" b="0">
                <a:solidFill>
                  <a:srgbClr val="B9D6FC"/>
                </a:solidFill>
                <a:latin typeface="Helvetica Neue"/>
                <a:ea typeface="Helvetica Neue"/>
                <a:cs typeface="Helvetica Neue"/>
              </a:rPr>
              <a:t>Overall: partial support. Limited complexity coverage prevents a general rejection of H2.</a:t>
            </a:r>
          </a:p>
        </p:txBody>
      </p:sp>
    </p:spTree>
    <p:extLst>
      <p:ext uri="{BB962C8B-B14F-4D97-AF65-F5344CB8AC3E}">
        <p14:creationId xmlns:p14="http://schemas.microsoft.com/office/powerpoint/2010/main" val="487558819"/>
      </p:ext>
    </p:extLst>
  </p:cSld>
</p:sld>
</file>

<file path=ppt/slides/slide1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165540A9-80FD-4079-9393-5A892A26A218}"/>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Dataset definitions and scope changes</a:t>
            </a:r>
          </a:p>
        </p:txBody>
      </p:sp>
      <p:sp>
        <p:nvSpPr>
          <p:cNvPr id="2" name="slide-number">
            <a:extLst xmlns:a="http://schemas.openxmlformats.org/drawingml/2006/main">
              <a:ext uri="{FF2B5EF4-FFF2-40B4-BE49-F238E27FC236}">
                <a16:creationId xmlns:a16="http://schemas.microsoft.com/office/drawing/2014/main" id="{9576EC05-EE94-4AC9-B171-E66D4B7EEB15}"/>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17</a:t>
            </a:r>
          </a:p>
        </p:txBody>
      </p:sp>
      <p:sp>
        <p:nvSpPr>
          <p:cNvPr id="3" name="appendix-label">
            <a:extLst xmlns:a="http://schemas.openxmlformats.org/drawingml/2006/main">
              <a:ext uri="{FF2B5EF4-FFF2-40B4-BE49-F238E27FC236}">
                <a16:creationId xmlns:a16="http://schemas.microsoft.com/office/drawing/2014/main" id="{734EC348-79D0-4A7A-B251-8F9446596565}"/>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graphicFrame>
        <p:nvGraphicFramePr>
          <p:cNvPr id="10" name=""/>
          <p:cNvGraphicFramePr/>
          <p:nvPr/>
        </p:nvGraphicFramePr>
        <p:xfrm>
          <a:off xmlns:a="http://schemas.openxmlformats.org/drawingml/2006/main" x="685800" y="1838325"/>
          <a:ext xmlns:a="http://schemas.openxmlformats.org/drawingml/2006/main" cx="10820400" cy="2286000"/>
        </p:xfrm>
        <a:graphic xmlns:a="http://schemas.openxmlformats.org/drawingml/2006/main">
          <a:graphicData uri="http://schemas.openxmlformats.org/drawingml/2006/table">
            <a:tbl>
              <a:tblPr firstRow="0" bandRow="0"/>
              <a:tblGrid>
                <a:gridCol w="3581400"/>
                <a:gridCol w="3810000"/>
                <a:gridCol w="3429000"/>
              </a:tblGrid>
              <a:tr h="619125">
                <a:tc>
                  <a:txBody>
                    <a:bodyPr>
                      <a:noAutofit/>
                    </a:bodyPr>
                    <a:lstStyle/>
                    <a:p>
                      <a:pPr algn="l"/>
                      <a:r>
                        <a:rPr sz="1950" b="1">
                          <a:solidFill>
                            <a:srgbClr val="FFFFFF"/>
                          </a:solidFill>
                          <a:latin typeface="Helvetica Neue"/>
                          <a:ea typeface="Helvetica Neue"/>
                          <a:cs typeface="Helvetica Neue"/>
                        </a:rPr>
                        <a:t>Group</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Original source LOC</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Original files</a:t>
                      </a:r>
                    </a:p>
                  </a:txBody>
                  <a:tcPr marL="152400" marR="114300" marT="123825" marB="114300" anchor="ctr">
                    <a:solidFill>
                      <a:srgbClr val="17283D"/>
                    </a:solidFill>
                  </a:tcPr>
                </a:tc>
              </a:tr>
              <a:tr h="781050">
                <a:tc>
                  <a:txBody>
                    <a:bodyPr>
                      <a:noAutofit/>
                    </a:bodyPr>
                    <a:lstStyle/>
                    <a:p>
                      <a:pPr algn="l"/>
                      <a:r>
                        <a:rPr sz="2025" b="0">
                          <a:solidFill>
                            <a:srgbClr val="17283D"/>
                          </a:solidFill>
                          <a:latin typeface="Helvetica Neue"/>
                          <a:ea typeface="Helvetica Neue"/>
                          <a:cs typeface="Helvetica Neue"/>
                        </a:rPr>
                        <a:t>Small</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500–3,000</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5–30</a:t>
                      </a:r>
                    </a:p>
                  </a:txBody>
                  <a:tcPr marL="152400" marR="114300" marT="123825" marB="114300" anchor="ctr">
                    <a:solidFill>
                      <a:srgbClr val="FFFFFF"/>
                    </a:solidFill>
                  </a:tcPr>
                </a:tc>
              </a:tr>
              <a:tr h="781050">
                <a:tc>
                  <a:txBody>
                    <a:bodyPr>
                      <a:noAutofit/>
                    </a:bodyPr>
                    <a:lstStyle/>
                    <a:p>
                      <a:pPr algn="l"/>
                      <a:r>
                        <a:rPr sz="2025" b="0">
                          <a:solidFill>
                            <a:srgbClr val="17283D"/>
                          </a:solidFill>
                          <a:latin typeface="Helvetica Neue"/>
                          <a:ea typeface="Helvetica Neue"/>
                          <a:cs typeface="Helvetica Neue"/>
                        </a:rPr>
                        <a:t>Medium</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3,001–15,000</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31–120</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DAE1DEC0-ACAA-4151-B726-7B67AEFF50CF}"/>
              </a:ext>
            </a:extLst>
          </p:cNvPr>
          <p:cNvSpPr>
            <a:spLocks xmlns:a="http://schemas.openxmlformats.org/drawingml/2006/main" noGrp="1"/>
          </p:cNvSpPr>
          <p:nvPr/>
        </p:nvSpPr>
        <p:spPr>
          <a:xfrm xmlns:a="http://schemas.openxmlformats.org/drawingml/2006/main">
            <a:off x="685800" y="4543425"/>
            <a:ext cx="106203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3D"/>
                </a:solidFill>
                <a:latin typeface="Helvetica Neue"/>
                <a:ea typeface="Helvetica Neue"/>
                <a:cs typeface="Helvetica Neue"/>
              </a:defRPr>
            </a:pPr>
            <a:r>
              <a:rPr sz="2175" b="1">
                <a:solidFill>
                  <a:srgbClr val="17283D"/>
                </a:solidFill>
                <a:latin typeface="Helvetica Neue"/>
                <a:ea typeface="Helvetica Neue"/>
                <a:cs typeface="Helvetica Neue"/>
              </a:rPr>
              <a:t>Final core: 12 tasks per group, from 11 small and 6 medium repositories.</a:t>
            </a:r>
          </a:p>
        </p:txBody>
      </p:sp>
      <p:sp>
        <p:nvSpPr>
          <p:cNvPr id="6" name="text-4">
            <a:extLst xmlns:a="http://schemas.openxmlformats.org/drawingml/2006/main">
              <a:ext uri="{FF2B5EF4-FFF2-40B4-BE49-F238E27FC236}">
                <a16:creationId xmlns:a16="http://schemas.microsoft.com/office/drawing/2014/main" id="{FDA04F16-730E-4983-BFBF-CA4AA26CB501}"/>
              </a:ext>
            </a:extLst>
          </p:cNvPr>
          <p:cNvSpPr>
            <a:spLocks xmlns:a="http://schemas.openxmlformats.org/drawingml/2006/main" noGrp="1"/>
          </p:cNvSpPr>
          <p:nvPr/>
        </p:nvSpPr>
        <p:spPr>
          <a:xfrm xmlns:a="http://schemas.openxmlformats.org/drawingml/2006/main">
            <a:off x="685800" y="55626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174"/>
                </a:solidFill>
                <a:latin typeface="Helvetica Neue"/>
                <a:ea typeface="Helvetica Neue"/>
                <a:cs typeface="Helvetica Neue"/>
              </a:defRPr>
            </a:pPr>
            <a:r>
              <a:rPr sz="1875" b="0">
                <a:solidFill>
                  <a:srgbClr val="516174"/>
                </a:solidFill>
                <a:latin typeface="Helvetica Neue"/>
                <a:ea typeface="Helvetica Neue"/>
                <a:cs typeface="Helvetica Neue"/>
              </a:rPr>
              <a:t>Later rules prioritize LOC. Physical and nonblank counts leave two medium labels ambiguous.</a:t>
            </a:r>
          </a:p>
        </p:txBody>
      </p:sp>
    </p:spTree>
    <p:extLst>
      <p:ext uri="{BB962C8B-B14F-4D97-AF65-F5344CB8AC3E}">
        <p14:creationId xmlns:p14="http://schemas.microsoft.com/office/powerpoint/2010/main" val="1554271947"/>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7B0EACE-56DD-478A-B89C-2FC0625B00FA}"/>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Operational definitions of AI metrics</a:t>
            </a:r>
          </a:p>
        </p:txBody>
      </p:sp>
      <p:sp>
        <p:nvSpPr>
          <p:cNvPr id="2" name="slide-number">
            <a:extLst xmlns:a="http://schemas.openxmlformats.org/drawingml/2006/main">
              <a:ext uri="{FF2B5EF4-FFF2-40B4-BE49-F238E27FC236}">
                <a16:creationId xmlns:a16="http://schemas.microsoft.com/office/drawing/2014/main" id="{95E724A7-7763-4E66-96AE-1017B4F9E54C}"/>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18</a:t>
            </a:r>
          </a:p>
        </p:txBody>
      </p:sp>
      <p:sp>
        <p:nvSpPr>
          <p:cNvPr id="3" name="appendix-label">
            <a:extLst xmlns:a="http://schemas.openxmlformats.org/drawingml/2006/main">
              <a:ext uri="{FF2B5EF4-FFF2-40B4-BE49-F238E27FC236}">
                <a16:creationId xmlns:a16="http://schemas.microsoft.com/office/drawing/2014/main" id="{C00301A7-01D7-4CE3-AA81-D7A92C0BCAB0}"/>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graphicFrame>
        <p:nvGraphicFramePr>
          <p:cNvPr id="9" name=""/>
          <p:cNvGraphicFramePr/>
          <p:nvPr/>
        </p:nvGraphicFramePr>
        <p:xfrm>
          <a:off xmlns:a="http://schemas.openxmlformats.org/drawingml/2006/main" x="685800" y="1809750"/>
          <a:ext xmlns:a="http://schemas.openxmlformats.org/drawingml/2006/main" cx="10820400" cy="3743325"/>
        </p:xfrm>
        <a:graphic xmlns:a="http://schemas.openxmlformats.org/drawingml/2006/main">
          <a:graphicData uri="http://schemas.openxmlformats.org/drawingml/2006/table">
            <a:tbl>
              <a:tblPr firstRow="0" bandRow="0"/>
              <a:tblGrid>
                <a:gridCol w="4152900"/>
                <a:gridCol w="6667500"/>
              </a:tblGrid>
              <a:tr h="619125">
                <a:tc>
                  <a:txBody>
                    <a:bodyPr>
                      <a:noAutofit/>
                    </a:bodyPr>
                    <a:lstStyle/>
                    <a:p>
                      <a:pPr algn="l"/>
                      <a:r>
                        <a:rPr sz="1800" b="1">
                          <a:solidFill>
                            <a:srgbClr val="FFFFFF"/>
                          </a:solidFill>
                          <a:latin typeface="Helvetica Neue"/>
                          <a:ea typeface="Helvetica Neue"/>
                          <a:cs typeface="Helvetica Neue"/>
                        </a:rPr>
                        <a:t>Recorded metric</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Implemented proxy</a:t>
                      </a:r>
                    </a:p>
                  </a:txBody>
                  <a:tcPr marL="152400" marR="114300" marT="123825" marB="114300" anchor="ctr">
                    <a:solidFill>
                      <a:srgbClr val="17283D"/>
                    </a:solidFill>
                  </a:tcPr>
                </a:tc>
              </a:tr>
              <a:tr h="781050">
                <a:tc>
                  <a:txBody>
                    <a:bodyPr>
                      <a:noAutofit/>
                    </a:bodyPr>
                    <a:lstStyle/>
                    <a:p>
                      <a:pPr algn="l"/>
                      <a:r>
                        <a:rPr sz="1875" b="0">
                          <a:solidFill>
                            <a:srgbClr val="17283D"/>
                          </a:solidFill>
                          <a:latin typeface="Helvetica Neue"/>
                          <a:ea typeface="Helvetica Neue"/>
                          <a:cs typeface="Helvetica Neue"/>
                        </a:rPr>
                        <a:t>Patch validity</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Nonempty changed-files list</a:t>
                      </a:r>
                    </a:p>
                  </a:txBody>
                  <a:tcPr marL="152400" marR="114300" marT="123825" marB="114300" anchor="ctr">
                    <a:solidFill>
                      <a:srgbClr val="FFFFFF"/>
                    </a:solidFill>
                  </a:tcPr>
                </a:tc>
              </a:tr>
              <a:tr h="781050">
                <a:tc>
                  <a:txBody>
                    <a:bodyPr>
                      <a:noAutofit/>
                    </a:bodyPr>
                    <a:lstStyle/>
                    <a:p>
                      <a:pPr algn="l"/>
                      <a:r>
                        <a:rPr sz="1875" b="0">
                          <a:solidFill>
                            <a:srgbClr val="17283D"/>
                          </a:solidFill>
                          <a:latin typeface="Helvetica Neue"/>
                          <a:ea typeface="Helvetica Neue"/>
                          <a:cs typeface="Helvetica Neue"/>
                        </a:rPr>
                        <a:t>Hallucinated references</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Invalid, malformed, or missing actions</a:t>
                      </a:r>
                    </a:p>
                  </a:txBody>
                  <a:tcPr marL="152400" marR="114300" marT="123825" marB="114300" anchor="ctr">
                    <a:solidFill>
                      <a:srgbClr val="EFF2F6"/>
                    </a:solidFill>
                  </a:tcPr>
                </a:tc>
              </a:tr>
              <a:tr h="781050">
                <a:tc>
                  <a:txBody>
                    <a:bodyPr>
                      <a:noAutofit/>
                    </a:bodyPr>
                    <a:lstStyle/>
                    <a:p>
                      <a:pPr algn="l"/>
                      <a:r>
                        <a:rPr sz="1875" b="0">
                          <a:solidFill>
                            <a:srgbClr val="17283D"/>
                          </a:solidFill>
                          <a:latin typeface="Helvetica Neue"/>
                          <a:ea typeface="Helvetica Neue"/>
                          <a:cs typeface="Helvetica Neue"/>
                        </a:rPr>
                        <a:t>Repair success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Visible pass with more than one test iteration</a:t>
                      </a:r>
                    </a:p>
                  </a:txBody>
                  <a:tcPr marL="152400" marR="114300" marT="123825" marB="114300" anchor="ctr">
                    <a:solidFill>
                      <a:srgbClr val="FFFFFF"/>
                    </a:solidFill>
                  </a:tcPr>
                </a:tc>
              </a:tr>
              <a:tr h="781050">
                <a:tc>
                  <a:txBody>
                    <a:bodyPr>
                      <a:noAutofit/>
                    </a:bodyPr>
                    <a:lstStyle/>
                    <a:p>
                      <a:pPr algn="l"/>
                      <a:r>
                        <a:rPr sz="1875" b="0">
                          <a:solidFill>
                            <a:srgbClr val="17283D"/>
                          </a:solidFill>
                          <a:latin typeface="Helvetica Neue"/>
                          <a:ea typeface="Helvetica Neue"/>
                          <a:cs typeface="Helvetica Neue"/>
                        </a:rPr>
                        <a:t>Test overfitting</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Final failure despite visible tests passing</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B92412A1-02AD-4BD8-8651-E670DBAECE06}"/>
              </a:ext>
            </a:extLst>
          </p:cNvPr>
          <p:cNvSpPr>
            <a:spLocks xmlns:a="http://schemas.openxmlformats.org/drawingml/2006/main" noGrp="1"/>
          </p:cNvSpPr>
          <p:nvPr/>
        </p:nvSpPr>
        <p:spPr>
          <a:xfrm xmlns:a="http://schemas.openxmlformats.org/drawingml/2006/main">
            <a:off x="685800" y="58769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68C9"/>
                </a:solidFill>
                <a:latin typeface="Helvetica Neue"/>
                <a:ea typeface="Helvetica Neue"/>
                <a:cs typeface="Helvetica Neue"/>
              </a:defRPr>
            </a:pPr>
            <a:r>
              <a:rPr sz="1875" b="1">
                <a:solidFill>
                  <a:srgbClr val="2468C9"/>
                </a:solidFill>
                <a:latin typeface="Helvetica Neue"/>
                <a:ea typeface="Helvetica Neue"/>
                <a:cs typeface="Helvetica Neue"/>
              </a:rPr>
              <a:t>Primary evidence: executable correctness, regressions, and resource cost.</a:t>
            </a:r>
          </a:p>
        </p:txBody>
      </p:sp>
    </p:spTree>
    <p:extLst>
      <p:ext uri="{BB962C8B-B14F-4D97-AF65-F5344CB8AC3E}">
        <p14:creationId xmlns:p14="http://schemas.microsoft.com/office/powerpoint/2010/main" val="2016045938"/>
      </p:ext>
    </p:extLst>
  </p:cSld>
</p:sld>
</file>

<file path=ppt/slides/slide1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0EA8EDD-739D-44F0-B89A-EC0A5C03C3E1}"/>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SWE Pro: quality and agent metrics</a:t>
            </a:r>
          </a:p>
        </p:txBody>
      </p:sp>
      <p:sp>
        <p:nvSpPr>
          <p:cNvPr id="2" name="slide-number">
            <a:extLst xmlns:a="http://schemas.openxmlformats.org/drawingml/2006/main">
              <a:ext uri="{FF2B5EF4-FFF2-40B4-BE49-F238E27FC236}">
                <a16:creationId xmlns:a16="http://schemas.microsoft.com/office/drawing/2014/main" id="{F09F4E93-2ACF-4035-B322-B9AB7628781C}"/>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19</a:t>
            </a:r>
          </a:p>
        </p:txBody>
      </p:sp>
      <p:sp>
        <p:nvSpPr>
          <p:cNvPr id="3" name="appendix-label">
            <a:extLst xmlns:a="http://schemas.openxmlformats.org/drawingml/2006/main">
              <a:ext uri="{FF2B5EF4-FFF2-40B4-BE49-F238E27FC236}">
                <a16:creationId xmlns:a16="http://schemas.microsoft.com/office/drawing/2014/main" id="{2513DF1D-D972-4062-97F6-67503BF343D5}"/>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sp>
        <p:nvSpPr>
          <p:cNvPr id="4" name="text-3">
            <a:extLst xmlns:a="http://schemas.openxmlformats.org/drawingml/2006/main">
              <a:ext uri="{FF2B5EF4-FFF2-40B4-BE49-F238E27FC236}">
                <a16:creationId xmlns:a16="http://schemas.microsoft.com/office/drawing/2014/main" id="{A5115D18-483F-4912-9EF5-9C42A8647C0C}"/>
              </a:ext>
            </a:extLst>
          </p:cNvPr>
          <p:cNvSpPr>
            <a:spLocks xmlns:a="http://schemas.openxmlformats.org/drawingml/2006/main" noGrp="1"/>
          </p:cNvSpPr>
          <p:nvPr/>
        </p:nvSpPr>
        <p:spPr>
          <a:xfrm xmlns:a="http://schemas.openxmlformats.org/drawingml/2006/main">
            <a:off x="685800" y="14382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15 tasks per architecture. Single: 50 steps. Graph: 75 steps.</a:t>
            </a:r>
          </a:p>
        </p:txBody>
      </p:sp>
      <p:graphicFrame>
        <p:nvGraphicFramePr>
          <p:cNvPr id="11" name=""/>
          <p:cNvGraphicFramePr/>
          <p:nvPr/>
        </p:nvGraphicFramePr>
        <p:xfrm>
          <a:off xmlns:a="http://schemas.openxmlformats.org/drawingml/2006/main" x="685800" y="2009775"/>
          <a:ext xmlns:a="http://schemas.openxmlformats.org/drawingml/2006/main" cx="10820400" cy="3895725"/>
        </p:xfrm>
        <a:graphic xmlns:a="http://schemas.openxmlformats.org/drawingml/2006/main">
          <a:graphicData uri="http://schemas.openxmlformats.org/drawingml/2006/table">
            <a:tbl>
              <a:tblPr firstRow="0" bandRow="0"/>
              <a:tblGrid>
                <a:gridCol w="5334000"/>
                <a:gridCol w="2743200"/>
                <a:gridCol w="2743200"/>
              </a:tblGrid>
              <a:tr h="561975">
                <a:tc>
                  <a:txBody>
                    <a:bodyPr>
                      <a:noAutofit/>
                    </a:bodyPr>
                    <a:lstStyle/>
                    <a:p>
                      <a:pPr algn="l"/>
                      <a:r>
                        <a:rPr sz="1650" b="1">
                          <a:solidFill>
                            <a:srgbClr val="FFFFFF"/>
                          </a:solidFill>
                          <a:latin typeface="Helvetica Neue"/>
                          <a:ea typeface="Helvetica Neue"/>
                          <a:cs typeface="Helvetica Neue"/>
                        </a:rPr>
                        <a:t>Metric</a:t>
                      </a:r>
                    </a:p>
                  </a:txBody>
                  <a:tcPr marL="152400" marR="114300" marT="76200" marB="76200"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76200" marB="76200"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76200" marB="76200" anchor="ctr">
                    <a:solidFill>
                      <a:srgbClr val="17283D"/>
                    </a:solidFill>
                  </a:tcPr>
                </a:tc>
              </a:tr>
              <a:tr h="476250">
                <a:tc>
                  <a:txBody>
                    <a:bodyPr>
                      <a:noAutofit/>
                    </a:bodyPr>
                    <a:lstStyle/>
                    <a:p>
                      <a:pPr algn="l"/>
                      <a:r>
                        <a:rPr sz="1725" b="0">
                          <a:solidFill>
                            <a:srgbClr val="17283D"/>
                          </a:solidFill>
                          <a:latin typeface="Helvetica Neue"/>
                          <a:ea typeface="Helvetica Neue"/>
                          <a:cs typeface="Helvetica Neue"/>
                        </a:rPr>
                        <a:t>Resolved@1 / required hidden pass</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60% (9/15)</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60% (9/15)</a:t>
                      </a:r>
                    </a:p>
                  </a:txBody>
                  <a:tcPr marL="152400" marR="114300" marT="76200" marB="76200"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Visible suite pass rate</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100% (15/15)</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100% (15/15)</a:t>
                      </a:r>
                    </a:p>
                  </a:txBody>
                  <a:tcPr marL="152400" marR="114300" marT="76200" marB="76200"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Runs with regressions</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0% (0/15)</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0% (0/15)</a:t>
                      </a:r>
                    </a:p>
                  </a:txBody>
                  <a:tcPr marL="152400" marR="114300" marT="76200" marB="76200"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Tool-use validity</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95.6% (390/408)</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96.7% (639/661)</a:t>
                      </a:r>
                    </a:p>
                  </a:txBody>
                  <a:tcPr marL="152400" marR="114300" marT="76200" marB="76200"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Hallucinated refs / run*</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1.13</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1.20</a:t>
                      </a:r>
                    </a:p>
                  </a:txBody>
                  <a:tcPr marL="152400" marR="114300" marT="76200" marB="76200"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Test overfitting*</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40% (6/15)</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40% (6/15)</a:t>
                      </a:r>
                    </a:p>
                  </a:txBody>
                  <a:tcPr marL="152400" marR="114300" marT="76200" marB="76200"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Repair success*</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(14/14)</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(15/15)</a:t>
                      </a:r>
                    </a:p>
                  </a:txBody>
                  <a:tcPr marL="152400" marR="114300" marT="76200" marB="762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45BF1999-6F51-4845-B6CF-DB67B4DD7A67}"/>
              </a:ext>
            </a:extLst>
          </p:cNvPr>
          <p:cNvSpPr>
            <a:spLocks xmlns:a="http://schemas.openxmlformats.org/drawingml/2006/main" noGrp="1"/>
          </p:cNvSpPr>
          <p:nvPr/>
        </p:nvSpPr>
        <p:spPr>
          <a:xfrm xmlns:a="http://schemas.openxmlformats.org/drawingml/2006/main">
            <a:off x="685800" y="60293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468C9"/>
                </a:solidFill>
                <a:latin typeface="Helvetica Neue"/>
                <a:ea typeface="Helvetica Neue"/>
                <a:cs typeface="Helvetica Neue"/>
              </a:defRPr>
            </a:pPr>
            <a:r>
              <a:rPr sz="1725" b="1">
                <a:solidFill>
                  <a:srgbClr val="2468C9"/>
                </a:solidFill>
                <a:latin typeface="Helvetica Neue"/>
                <a:ea typeface="Helvetica Neue"/>
                <a:cs typeface="Helvetica Neue"/>
              </a:rPr>
              <a:t>*Same proxy definitions as core. Visible passes do not guarantee final success.</a:t>
            </a:r>
          </a:p>
        </p:txBody>
      </p:sp>
    </p:spTree>
    <p:extLst>
      <p:ext uri="{BB962C8B-B14F-4D97-AF65-F5344CB8AC3E}">
        <p14:creationId xmlns:p14="http://schemas.microsoft.com/office/powerpoint/2010/main" val="402757752"/>
      </p:ext>
    </p:extLst>
  </p:cSld>
</p:sld>
</file>

<file path=ppt/slides/slide2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85E0F08F-FF69-4D7A-AA06-765697CCF988}"/>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Related work and reproducibility</a:t>
            </a:r>
          </a:p>
        </p:txBody>
      </p:sp>
      <p:sp>
        <p:nvSpPr>
          <p:cNvPr id="2" name="slide-number">
            <a:extLst xmlns:a="http://schemas.openxmlformats.org/drawingml/2006/main">
              <a:ext uri="{FF2B5EF4-FFF2-40B4-BE49-F238E27FC236}">
                <a16:creationId xmlns:a16="http://schemas.microsoft.com/office/drawing/2014/main" id="{C317E678-F96F-470B-9D6F-AC489F92D026}"/>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20</a:t>
            </a:r>
          </a:p>
        </p:txBody>
      </p:sp>
      <p:sp>
        <p:nvSpPr>
          <p:cNvPr id="3" name="appendix-label">
            <a:extLst xmlns:a="http://schemas.openxmlformats.org/drawingml/2006/main">
              <a:ext uri="{FF2B5EF4-FFF2-40B4-BE49-F238E27FC236}">
                <a16:creationId xmlns:a16="http://schemas.microsoft.com/office/drawing/2014/main" id="{E6BF9F89-E30F-4C0F-B858-14D4FC75FA03}"/>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sp>
        <p:nvSpPr>
          <p:cNvPr id="4" name="text-3">
            <a:extLst xmlns:a="http://schemas.openxmlformats.org/drawingml/2006/main">
              <a:ext uri="{FF2B5EF4-FFF2-40B4-BE49-F238E27FC236}">
                <a16:creationId xmlns:a16="http://schemas.microsoft.com/office/drawing/2014/main" id="{4953F8AA-4875-4DA0-8AFA-CFE5D16CFE3F}"/>
              </a:ext>
            </a:extLst>
          </p:cNvPr>
          <p:cNvSpPr>
            <a:spLocks xmlns:a="http://schemas.openxmlformats.org/drawingml/2006/main" noGrp="1"/>
          </p:cNvSpPr>
          <p:nvPr/>
        </p:nvSpPr>
        <p:spPr>
          <a:xfrm xmlns:a="http://schemas.openxmlformats.org/drawingml/2006/main">
            <a:off x="685800" y="17049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Xu et al. (2026)</a:t>
            </a:r>
          </a:p>
        </p:txBody>
      </p:sp>
      <p:sp>
        <p:nvSpPr>
          <p:cNvPr id="5" name="text-4">
            <a:extLst xmlns:a="http://schemas.openxmlformats.org/drawingml/2006/main">
              <a:ext uri="{FF2B5EF4-FFF2-40B4-BE49-F238E27FC236}">
                <a16:creationId xmlns:a16="http://schemas.microsoft.com/office/drawing/2014/main" id="{CD0BD7C2-A911-4D5D-8C9B-3720E42DA987}"/>
              </a:ext>
            </a:extLst>
          </p:cNvPr>
          <p:cNvSpPr>
            <a:spLocks xmlns:a="http://schemas.openxmlformats.org/drawingml/2006/main" noGrp="1"/>
          </p:cNvSpPr>
          <p:nvPr/>
        </p:nvSpPr>
        <p:spPr>
          <a:xfrm xmlns:a="http://schemas.openxmlformats.org/drawingml/2006/main">
            <a:off x="685800" y="2133600"/>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Rethinking the Value of Multi-Agent Workflow</a:t>
            </a:r>
          </a:p>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A Strong Single Agent Baseline</a:t>
            </a:r>
          </a:p>
        </p:txBody>
      </p:sp>
      <p:sp>
        <p:nvSpPr>
          <p:cNvPr id="6" name="text-5">
            <a:extLst xmlns:a="http://schemas.openxmlformats.org/drawingml/2006/main">
              <a:ext uri="{FF2B5EF4-FFF2-40B4-BE49-F238E27FC236}">
                <a16:creationId xmlns:a16="http://schemas.microsoft.com/office/drawing/2014/main" id="{B84BC57F-C59E-4499-B1E9-1702CCDDE2EC}"/>
              </a:ext>
            </a:extLst>
          </p:cNvPr>
          <p:cNvSpPr>
            <a:spLocks xmlns:a="http://schemas.openxmlformats.org/drawingml/2006/main" noGrp="1"/>
          </p:cNvSpPr>
          <p:nvPr/>
        </p:nvSpPr>
        <p:spPr>
          <a:xfrm xmlns:a="http://schemas.openxmlformats.org/drawingml/2006/main">
            <a:off x="685800" y="31718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Tran and Kiela (2026)</a:t>
            </a:r>
          </a:p>
        </p:txBody>
      </p:sp>
      <p:sp>
        <p:nvSpPr>
          <p:cNvPr id="7" name="text-6">
            <a:extLst xmlns:a="http://schemas.openxmlformats.org/drawingml/2006/main">
              <a:ext uri="{FF2B5EF4-FFF2-40B4-BE49-F238E27FC236}">
                <a16:creationId xmlns:a16="http://schemas.microsoft.com/office/drawing/2014/main" id="{456EBA8B-3165-417E-B77D-47939AF279C9}"/>
              </a:ext>
            </a:extLst>
          </p:cNvPr>
          <p:cNvSpPr>
            <a:spLocks xmlns:a="http://schemas.openxmlformats.org/drawingml/2006/main" noGrp="1"/>
          </p:cNvSpPr>
          <p:nvPr/>
        </p:nvSpPr>
        <p:spPr>
          <a:xfrm xmlns:a="http://schemas.openxmlformats.org/drawingml/2006/main">
            <a:off x="685800" y="36004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Single-Agent LLMs Outperform Multi-Agent Systems on</a:t>
            </a:r>
          </a:p>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Multi-Hop Reasoning Under Equal Thinking Token Budgets</a:t>
            </a:r>
          </a:p>
        </p:txBody>
      </p:sp>
      <p:sp>
        <p:nvSpPr>
          <p:cNvPr id="8" name="text-7">
            <a:extLst xmlns:a="http://schemas.openxmlformats.org/drawingml/2006/main">
              <a:ext uri="{FF2B5EF4-FFF2-40B4-BE49-F238E27FC236}">
                <a16:creationId xmlns:a16="http://schemas.microsoft.com/office/drawing/2014/main" id="{1C5EAD21-0ABC-4382-9C72-D414C0D773A3}"/>
              </a:ext>
            </a:extLst>
          </p:cNvPr>
          <p:cNvSpPr>
            <a:spLocks xmlns:a="http://schemas.openxmlformats.org/drawingml/2006/main" noGrp="1"/>
          </p:cNvSpPr>
          <p:nvPr/>
        </p:nvSpPr>
        <p:spPr>
          <a:xfrm xmlns:a="http://schemas.openxmlformats.org/drawingml/2006/main">
            <a:off x="685800" y="46958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Xia et al. (2024)</a:t>
            </a:r>
          </a:p>
        </p:txBody>
      </p:sp>
      <p:sp>
        <p:nvSpPr>
          <p:cNvPr id="9" name="text-8">
            <a:extLst xmlns:a="http://schemas.openxmlformats.org/drawingml/2006/main">
              <a:ext uri="{FF2B5EF4-FFF2-40B4-BE49-F238E27FC236}">
                <a16:creationId xmlns:a16="http://schemas.microsoft.com/office/drawing/2014/main" id="{69C6F050-CEB2-4082-A0D3-BBDB8EE174F6}"/>
              </a:ext>
            </a:extLst>
          </p:cNvPr>
          <p:cNvSpPr>
            <a:spLocks xmlns:a="http://schemas.openxmlformats.org/drawingml/2006/main" noGrp="1"/>
          </p:cNvSpPr>
          <p:nvPr/>
        </p:nvSpPr>
        <p:spPr>
          <a:xfrm xmlns:a="http://schemas.openxmlformats.org/drawingml/2006/main">
            <a:off x="685800" y="51244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Agentless: Demystifying LLM-based Software Engineering Agents</a:t>
            </a:r>
          </a:p>
        </p:txBody>
      </p:sp>
    </p:spTree>
    <p:extLst>
      <p:ext uri="{BB962C8B-B14F-4D97-AF65-F5344CB8AC3E}">
        <p14:creationId xmlns:p14="http://schemas.microsoft.com/office/powerpoint/2010/main" val="1951928871"/>
      </p:ext>
    </p:extLst>
  </p:cSld>
</p:sld>
</file>

<file path=ppt/theme/theme1.xml><?xml version="1.0" encoding="utf-8"?>
<a:theme xmlns:a="http://schemas.openxmlformats.org/drawingml/2006/main" name="ChatGPT">
  <a:themeElements>
    <a:clrScheme name="Research">
      <a:dk1>
        <a:srgbClr val="000000"/>
      </a:dk1>
      <a:lt1>
        <a:srgbClr val="FFFFFF"/>
      </a:lt1>
      <a:dk2>
        <a:srgbClr val="14243A"/>
      </a:dk2>
      <a:lt2>
        <a:srgbClr val="DCE2E9"/>
      </a:lt2>
      <a:accent1>
        <a:srgbClr val="2468C9"/>
      </a:accent1>
      <a:accent2>
        <a:srgbClr val="D27820"/>
      </a:accent2>
      <a:accent3>
        <a:srgbClr val="147D75"/>
      </a:accent3>
      <a:accent4>
        <a:srgbClr val="A44D51"/>
      </a:accent4>
      <a:accent5>
        <a:srgbClr val="705DA6"/>
      </a:accent5>
      <a:accent6>
        <a:srgbClr val="8093A8"/>
      </a:accent6>
      <a:hlink>
        <a:srgbClr val="2468C9"/>
      </a:hlink>
      <a:folHlink>
        <a:srgbClr val="705DA6"/>
      </a:folHlink>
    </a:clrScheme>
    <a:fontScheme name="Office">
      <a:majorFont>
        <a:latin typeface="Calibri Light"/>
        <a:ea typeface="Calibri Light"/>
        <a:cs typeface="Calibri Light"/>
      </a:majorFont>
      <a:minorFont>
        <a:latin typeface="Calibri"/>
        <a:ea typeface="Calibri"/>
        <a:cs typeface="Calibri"/>
      </a:minorFont>
    </a:fontScheme>
    <a:fmtScheme name="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2026-09-04T20:16:15.4460000Z</dcterms:created>
  <dcterms:modified xsi:type="dcterms:W3CDTF">2026-09-04T20:16:15.4460000Z</dcterms:modified>
</coreProperties>
</file>