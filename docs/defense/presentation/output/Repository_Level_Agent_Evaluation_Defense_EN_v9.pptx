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3ef1dfec6e4b98" /><Relationship Type="http://schemas.openxmlformats.org/officeDocument/2006/relationships/extended-properties" Target="/docProps/app.xml" Id="R1724f7607e694ca5" /><Relationship Type="http://schemas.openxmlformats.org/officeDocument/2006/relationships/officeDocument" Target="/ppt/presentation.xml" Id="R4b29ddd8b0924f15" /></Relationships>
</file>

<file path=ppt/presentation.xml><?xml version="1.0" encoding="utf-8"?>
<p:presentation xmlns:p="http://schemas.openxmlformats.org/presentationml/2006/main">
  <p:sldMasterIdLst>
    <p:sldMasterId xmlns:r="http://schemas.openxmlformats.org/officeDocument/2006/relationships" id="2147483648" r:id="R92a3b24a08e042f6"/>
  </p:sldMasterIdLst>
  <p:notesMasterIdLst>
    <p:notesMasterId xmlns:r="http://schemas.openxmlformats.org/officeDocument/2006/relationships" r:id="Rccbc2b97eeb24740"/>
  </p:notesMasterIdLst>
  <p:sldIdLst>
    <p:sldId xmlns:r="http://schemas.openxmlformats.org/officeDocument/2006/relationships" id="256" r:id="R8d089ee6345344e5"/>
    <p:sldId xmlns:r="http://schemas.openxmlformats.org/officeDocument/2006/relationships" id="257" r:id="Rc4d81120ad9441d9"/>
    <p:sldId xmlns:r="http://schemas.openxmlformats.org/officeDocument/2006/relationships" id="258" r:id="R661d86f89ca649be"/>
    <p:sldId xmlns:r="http://schemas.openxmlformats.org/officeDocument/2006/relationships" id="259" r:id="Re33bccba628a4fb0"/>
    <p:sldId xmlns:r="http://schemas.openxmlformats.org/officeDocument/2006/relationships" id="260" r:id="R4eacc2c324164330"/>
    <p:sldId xmlns:r="http://schemas.openxmlformats.org/officeDocument/2006/relationships" id="261" r:id="R80fe4f1b22b04d72"/>
    <p:sldId xmlns:r="http://schemas.openxmlformats.org/officeDocument/2006/relationships" id="262" r:id="R4eb7a99096a14f2c"/>
    <p:sldId xmlns:r="http://schemas.openxmlformats.org/officeDocument/2006/relationships" id="263" r:id="R4e28b6f660ed4281"/>
    <p:sldId xmlns:r="http://schemas.openxmlformats.org/officeDocument/2006/relationships" id="264" r:id="R6c7d00e89f114fb0"/>
    <p:sldId xmlns:r="http://schemas.openxmlformats.org/officeDocument/2006/relationships" id="265" r:id="R13106638b0314bf2"/>
    <p:sldId xmlns:r="http://schemas.openxmlformats.org/officeDocument/2006/relationships" id="266" r:id="R802aceeca2554135"/>
    <p:sldId xmlns:r="http://schemas.openxmlformats.org/officeDocument/2006/relationships" id="267" r:id="R1e9bb9e564b0465e"/>
    <p:sldId xmlns:r="http://schemas.openxmlformats.org/officeDocument/2006/relationships" id="268" r:id="R2eda421836644cf0"/>
    <p:sldId xmlns:r="http://schemas.openxmlformats.org/officeDocument/2006/relationships" id="269" r:id="R4b81e3c7972a42e0"/>
    <p:sldId xmlns:r="http://schemas.openxmlformats.org/officeDocument/2006/relationships" id="270" r:id="Red75afd29cae4b32"/>
    <p:sldId xmlns:r="http://schemas.openxmlformats.org/officeDocument/2006/relationships" id="271" r:id="Rf164f708dfac40a4"/>
    <p:sldId xmlns:r="http://schemas.openxmlformats.org/officeDocument/2006/relationships" id="272" r:id="Rc93f291d361d4469"/>
    <p:sldId xmlns:r="http://schemas.openxmlformats.org/officeDocument/2006/relationships" id="273" r:id="R1f4fc31a474c4545"/>
    <p:sldId xmlns:r="http://schemas.openxmlformats.org/officeDocument/2006/relationships" id="274" r:id="R5cb4adab45d04be1"/>
    <p:sldId xmlns:r="http://schemas.openxmlformats.org/officeDocument/2006/relationships" id="275" r:id="Ra7c61e97f21d4616"/>
    <p:sldId xmlns:r="http://schemas.openxmlformats.org/officeDocument/2006/relationships" id="276" r:id="R1a2413ac61154866"/>
    <p:sldId xmlns:r="http://schemas.openxmlformats.org/officeDocument/2006/relationships" id="277" r:id="R8537a73a22274a1d"/>
    <p:sldId xmlns:r="http://schemas.openxmlformats.org/officeDocument/2006/relationships" id="278" r:id="R88c8bfda87054dab"/>
    <p:sldId xmlns:r="http://schemas.openxmlformats.org/officeDocument/2006/relationships" id="279" r:id="R1d2ed9ca2e6e48dc"/>
    <p:sldId xmlns:r="http://schemas.openxmlformats.org/officeDocument/2006/relationships" id="280" r:id="R4ba2cd48a777490a"/>
    <p:sldId xmlns:r="http://schemas.openxmlformats.org/officeDocument/2006/relationships" id="281" r:id="Rcfccbb85f23d4a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f3c398447349b8" /><Relationship Type="http://schemas.openxmlformats.org/officeDocument/2006/relationships/slideMaster" Target="/ppt/slideMasters/slideMaster1.xml" Id="R92a3b24a08e042f6" /><Relationship Type="http://schemas.openxmlformats.org/officeDocument/2006/relationships/notesMaster" Target="/ppt/notesMasters/notesMaster1.xml" Id="Rccbc2b97eeb24740" /><Relationship Type="http://schemas.openxmlformats.org/officeDocument/2006/relationships/presProps" Target="/ppt/presProps.xml" Id="Rb90dcc855353436b" /><Relationship Type="http://schemas.openxmlformats.org/officeDocument/2006/relationships/tableStyles" Target="/ppt/tableStyles.xml" Id="R081a0245f3834a21" /><Relationship Type="http://schemas.openxmlformats.org/officeDocument/2006/relationships/slide" Target="/ppt/slides/slide1.xml" Id="R8d089ee6345344e5" /><Relationship Type="http://schemas.openxmlformats.org/officeDocument/2006/relationships/slide" Target="/ppt/slides/slide2.xml" Id="Rc4d81120ad9441d9" /><Relationship Type="http://schemas.openxmlformats.org/officeDocument/2006/relationships/slide" Target="/ppt/slides/slide3.xml" Id="R661d86f89ca649be" /><Relationship Type="http://schemas.openxmlformats.org/officeDocument/2006/relationships/slide" Target="/ppt/slides/slide4.xml" Id="Re33bccba628a4fb0" /><Relationship Type="http://schemas.openxmlformats.org/officeDocument/2006/relationships/slide" Target="/ppt/slides/slide5.xml" Id="R4eacc2c324164330" /><Relationship Type="http://schemas.openxmlformats.org/officeDocument/2006/relationships/slide" Target="/ppt/slides/slide6.xml" Id="R80fe4f1b22b04d72" /><Relationship Type="http://schemas.openxmlformats.org/officeDocument/2006/relationships/slide" Target="/ppt/slides/slide7.xml" Id="R4eb7a99096a14f2c" /><Relationship Type="http://schemas.openxmlformats.org/officeDocument/2006/relationships/slide" Target="/ppt/slides/slide8.xml" Id="R4e28b6f660ed4281" /><Relationship Type="http://schemas.openxmlformats.org/officeDocument/2006/relationships/slide" Target="/ppt/slides/slide9.xml" Id="R6c7d00e89f114fb0" /><Relationship Type="http://schemas.openxmlformats.org/officeDocument/2006/relationships/slide" Target="/ppt/slides/slide10.xml" Id="R13106638b0314bf2" /><Relationship Type="http://schemas.openxmlformats.org/officeDocument/2006/relationships/slide" Target="/ppt/slides/slide11.xml" Id="R802aceeca2554135" /><Relationship Type="http://schemas.openxmlformats.org/officeDocument/2006/relationships/slide" Target="/ppt/slides/slide12.xml" Id="R1e9bb9e564b0465e" /><Relationship Type="http://schemas.openxmlformats.org/officeDocument/2006/relationships/slide" Target="/ppt/slides/slide13.xml" Id="R2eda421836644cf0" /><Relationship Type="http://schemas.openxmlformats.org/officeDocument/2006/relationships/slide" Target="/ppt/slides/slide14.xml" Id="R4b81e3c7972a42e0" /><Relationship Type="http://schemas.openxmlformats.org/officeDocument/2006/relationships/slide" Target="/ppt/slides/slide15.xml" Id="Red75afd29cae4b32" /><Relationship Type="http://schemas.openxmlformats.org/officeDocument/2006/relationships/slide" Target="/ppt/slides/slide16.xml" Id="Rf164f708dfac40a4" /><Relationship Type="http://schemas.openxmlformats.org/officeDocument/2006/relationships/slide" Target="/ppt/slides/slide17.xml" Id="Rc93f291d361d4469" /><Relationship Type="http://schemas.openxmlformats.org/officeDocument/2006/relationships/slide" Target="/ppt/slides/slide18.xml" Id="R1f4fc31a474c4545" /><Relationship Type="http://schemas.openxmlformats.org/officeDocument/2006/relationships/slide" Target="/ppt/slides/slide19.xml" Id="R5cb4adab45d04be1" /><Relationship Type="http://schemas.openxmlformats.org/officeDocument/2006/relationships/slide" Target="/ppt/slides/slide20.xml" Id="Ra7c61e97f21d4616" /><Relationship Type="http://schemas.openxmlformats.org/officeDocument/2006/relationships/slide" Target="/ppt/slides/slide21.xml" Id="R1a2413ac61154866" /><Relationship Type="http://schemas.openxmlformats.org/officeDocument/2006/relationships/slide" Target="/ppt/slides/slide22.xml" Id="R8537a73a22274a1d" /><Relationship Type="http://schemas.openxmlformats.org/officeDocument/2006/relationships/slide" Target="/ppt/slides/slide23.xml" Id="R88c8bfda87054dab" /><Relationship Type="http://schemas.openxmlformats.org/officeDocument/2006/relationships/slide" Target="/ppt/slides/slide24.xml" Id="R1d2ed9ca2e6e48dc" /><Relationship Type="http://schemas.openxmlformats.org/officeDocument/2006/relationships/slide" Target="/ppt/slides/slide25.xml" Id="R4ba2cd48a777490a" /><Relationship Type="http://schemas.openxmlformats.org/officeDocument/2006/relationships/slide" Target="/ppt/slides/slide26.xml" Id="Rcfccbb85f23d4a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a7fc2fcca440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a296557491426b" /><Relationship Type="http://schemas.openxmlformats.org/officeDocument/2006/relationships/notesMaster" Target="/ppt/notesMasters/notesMaster1.xml" Id="R3fe6874fd7d744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c2f28c7ad145ee" /><Relationship Type="http://schemas.openxmlformats.org/officeDocument/2006/relationships/notesMaster" Target="/ppt/notesMasters/notesMaster1.xml" Id="Rb8887400ee2743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85d39025674d0f" /><Relationship Type="http://schemas.openxmlformats.org/officeDocument/2006/relationships/notesMaster" Target="/ppt/notesMasters/notesMaster1.xml" Id="R909a62c232924e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c9d220281448a2" /><Relationship Type="http://schemas.openxmlformats.org/officeDocument/2006/relationships/notesMaster" Target="/ppt/notesMasters/notesMaster1.xml" Id="Rf22104efe46f4c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936c8f49d84565" /><Relationship Type="http://schemas.openxmlformats.org/officeDocument/2006/relationships/notesMaster" Target="/ppt/notesMasters/notesMaster1.xml" Id="R23a5ad31da8b41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91c17c43644dbc" /><Relationship Type="http://schemas.openxmlformats.org/officeDocument/2006/relationships/notesMaster" Target="/ppt/notesMasters/notesMaster1.xml" Id="Rb333307cf9b84f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f7aaf454434574" /><Relationship Type="http://schemas.openxmlformats.org/officeDocument/2006/relationships/notesMaster" Target="/ppt/notesMasters/notesMaster1.xml" Id="Rf181178392ed43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6942dbd55342e7" /><Relationship Type="http://schemas.openxmlformats.org/officeDocument/2006/relationships/notesMaster" Target="/ppt/notesMasters/notesMaster1.xml" Id="R787c4587643640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e766bbe140428e" /><Relationship Type="http://schemas.openxmlformats.org/officeDocument/2006/relationships/notesMaster" Target="/ppt/notesMasters/notesMaster1.xml" Id="R60f55728a23741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6e6d6b87f44b21" /><Relationship Type="http://schemas.openxmlformats.org/officeDocument/2006/relationships/notesMaster" Target="/ppt/notesMasters/notesMaster1.xml" Id="R568ea528e2e44f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d78ae6f7d64e23" /><Relationship Type="http://schemas.openxmlformats.org/officeDocument/2006/relationships/notesMaster" Target="/ppt/notesMasters/notesMaster1.xml" Id="Rdbdd94580e6749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54dfab6ff34676" /><Relationship Type="http://schemas.openxmlformats.org/officeDocument/2006/relationships/notesMaster" Target="/ppt/notesMasters/notesMaster1.xml" Id="R5f8d8a2aa1694a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bc08a8ab244028" /><Relationship Type="http://schemas.openxmlformats.org/officeDocument/2006/relationships/notesMaster" Target="/ppt/notesMasters/notesMaster1.xml" Id="R599e5bfa570d43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cc1f1f0c2745f1" /><Relationship Type="http://schemas.openxmlformats.org/officeDocument/2006/relationships/notesMaster" Target="/ppt/notesMasters/notesMaster1.xml" Id="Rcd10dd567a3649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eb039980a040ed" /><Relationship Type="http://schemas.openxmlformats.org/officeDocument/2006/relationships/notesMaster" Target="/ppt/notesMasters/notesMaster1.xml" Id="Re72d6a13679c46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fd5a64ee894f30" /><Relationship Type="http://schemas.openxmlformats.org/officeDocument/2006/relationships/notesMaster" Target="/ppt/notesMasters/notesMaster1.xml" Id="Rd2ee8c70104047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7d3ba0c1454ff9" /><Relationship Type="http://schemas.openxmlformats.org/officeDocument/2006/relationships/notesMaster" Target="/ppt/notesMasters/notesMaster1.xml" Id="R3d14726b65e043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34f896d72848cd" /><Relationship Type="http://schemas.openxmlformats.org/officeDocument/2006/relationships/notesMaster" Target="/ppt/notesMasters/notesMaster1.xml" Id="R5f5fff08c3b04e3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dbb223965545ff" /><Relationship Type="http://schemas.openxmlformats.org/officeDocument/2006/relationships/notesMaster" Target="/ppt/notesMasters/notesMaster1.xml" Id="R40fda21392674b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e6bcbe7c2d4044" /><Relationship Type="http://schemas.openxmlformats.org/officeDocument/2006/relationships/notesMaster" Target="/ppt/notesMasters/notesMaster1.xml" Id="R3d43f58326574f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27eb9577994e4a" /><Relationship Type="http://schemas.openxmlformats.org/officeDocument/2006/relationships/notesMaster" Target="/ppt/notesMasters/notesMaster1.xml" Id="R385b8112d8aa48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46beea23fa645ac" /><Relationship Type="http://schemas.openxmlformats.org/officeDocument/2006/relationships/notesMaster" Target="/ppt/notesMasters/notesMaster1.xml" Id="Rf89991a91f9c45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7731a85cf64b28" /><Relationship Type="http://schemas.openxmlformats.org/officeDocument/2006/relationships/notesMaster" Target="/ppt/notesMasters/notesMaster1.xml" Id="Rffff836146de4e3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8b4aa0fb464d48" /><Relationship Type="http://schemas.openxmlformats.org/officeDocument/2006/relationships/notesMaster" Target="/ppt/notesMasters/notesMaster1.xml" Id="Rb50da3c8ba2b4a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cda1406da14451" /><Relationship Type="http://schemas.openxmlformats.org/officeDocument/2006/relationships/notesMaster" Target="/ppt/notesMasters/notesMaster1.xml" Id="R8c2148f7017d43d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f01bd0a8354611" /><Relationship Type="http://schemas.openxmlformats.org/officeDocument/2006/relationships/notesMaster" Target="/ppt/notesMasters/notesMaster1.xml" Id="R69792c93a0fa49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evaluates single-agent and multi-agent LLM architectures for autonomous software development at repository level. The defense primarily covers origin/master at commit 8da3f3f. I will also show a separately labeled extension from kernel/v2. The question is whether specialized roles improve the final solution enough to justify their resource cost. The contribution is an executable evaluation framework and an empirical comparison, rather than training a new language model.</a:t>
            </a:r>
          </a:p>
          <a:p xmlns:a="http://schemas.openxmlformats.org/drawingml/2006/main">
            <a:r>
              <a:t/>
            </a:r>
          </a:p>
          <a:p xmlns:a="http://schemas.openxmlformats.org/drawingml/2006/main">
            <a:r>
              <a:t>Sources:</a:t>
            </a:r>
          </a:p>
          <a:p xmlns:a="http://schemas.openxmlformats.org/drawingml/2006/main">
            <a:r>
              <a:t>/Users/tortalpha/Code/repo-level-dev-agent-eval/docs/defense/source/README.md</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hypothesis was that a single agent would be more cost-effective on simple tasks, while specialized roles would become more useful as complexity increased. Existing research argues that a strong single-agent baseline can match homogeneous multi-agent workflows when computation and context are considered. This project examines that question in an existing repository, where the agent must find files, modify code, run tests, and repair failures. These are hypotheses and motivations, not conclusions established in advance.</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/Users/tortalpha/Code/repo-level-dev-agent-eval/docs/defense/source/docs/spec.md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starts from a task description and an initial repository state. The model proposes structured actions. File tools operate within the working repository, while shell commands and tests run in Docker. The agent receives observations and revises its plan or code. After the run, an external evaluator checks the final workspace and records the result. The agent runtime, executor, and evaluator are separate modules. This separation lets the experiment compare workflow policies while reusing much of the execution infrastructure.</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/Users/tortalpha/Code/repo-level-dev-agent-eval/docs/defense/source/src/benchmark/runner.py</a:t>
            </a:r>
          </a:p>
          <a:p xmlns:a="http://schemas.openxmlformats.org/drawingml/2006/main">
            <a:r>
              <a:t>/Users/tortalpha/Code/repo-level-dev-agent-eval/docs/defense/source/src/agents/executor.py</a:t>
            </a:r>
          </a:p>
          <a:p xmlns:a="http://schemas.openxmlformats.org/drawingml/2006/main">
            <a:r>
              <a:t>/Users/tortalpha/Code/repo-level-dev-agent-eval/docs/defense/source/src/benchmark/evaluation.py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contains 39 tasks and 102 scored runs. The core has 24 tasks from 17 Python repositories, split into 12 small and 12 medium tasks. These are tasks, not 24 distinct repositories. The extension contains 15 selected tasks from an adapted SWE-bench Pro subset. Two selected local-large SQLGlot tasks did not produce a completed paired comparison and are excluded. The task count met the project minimum, but it was not a statistical power calculation.</a:t>
            </a:r>
          </a:p>
          <a:p xmlns:a="http://schemas.openxmlformats.org/drawingml/2006/main">
            <a:r>
              <a:t/>
            </a:r>
          </a:p>
          <a:p xmlns:a="http://schemas.openxmlformats.org/drawingml/2006/main">
            <a:r>
              <a:t>Sources:</a:t>
            </a:r>
          </a:p>
          <a:p xmlns:a="http://schemas.openxmlformats.org/drawingml/2006/main">
            <a:r>
              <a:t>/Users/tortalpha/Code/repo-level-dev-agent-eval/docs/defense/source/eval/task_sets/final_v1.json</a:t>
            </a:r>
          </a:p>
          <a:p xmlns:a="http://schemas.openxmlformats.org/drawingml/2006/main">
            <a:r>
              <a:t>/Users/tortalpha/Code/repo-level-dev-agent-eval/docs/defense/source/repositories/collection.csv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reconstructs real upstream changes, mainly merged pull requests. The starting commit precedes the change. The task description explains the expected behavior without providing the solution diff. Visible tests should pass before the task. Semantic hidden tests should fail before the change and pass with the reference solution. Compatibility checks should pass in both states. Local task selection and descriptions involve manual preparation, while validation and execution are automated. An importer automates the SWE Pro adaptation.</a:t>
            </a:r>
          </a:p>
          <a:p xmlns:a="http://schemas.openxmlformats.org/drawingml/2006/main">
            <a:r>
              <a:t/>
            </a:r>
          </a:p>
          <a:p xmlns:a="http://schemas.openxmlformats.org/drawingml/2006/main">
            <a:r>
              <a:t>Sources:</a:t>
            </a:r>
          </a:p>
          <a:p xmlns:a="http://schemas.openxmlformats.org/drawingml/2006/main">
            <a:r>
              <a:t>/Users/tortalpha/Code/repo-level-dev-agent-eval/docs/defense/source/repositories/COLLECT_INSTRUCTION.md</a:t>
            </a:r>
          </a:p>
          <a:p xmlns:a="http://schemas.openxmlformats.org/drawingml/2006/main">
            <a:r>
              <a:t>/Users/tortalpha/Code/repo-level-dev-agent-eval/docs/defense/source/src/benchmark/validate.py</a:t>
            </a:r>
          </a:p>
          <a:p xmlns:a="http://schemas.openxmlformats.org/drawingml/2006/main">
            <a:r>
              <a:t>/Users/tortalpha/Code/repo-level-dev-agent-eval/docs/defense/source/src/benchmark/import_swebench_pro.py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agent handles the complete cycle and includes guards against prolonged research without progress and a compatibility check before finishing. Multi-graph executes planner, developer, tester, and reviewer roles with deterministic routing. The guarded orchestrator delegates through an LLM supervisor, while code enforces phase constraints and reserves verification steps. The multi-agent roles execute sequentially and share the repository and global budget, with separate role contexts. These are concrete systems with different control rules, not an isolated test of agent count.</a:t>
            </a:r>
          </a:p>
          <a:p xmlns:a="http://schemas.openxmlformats.org/drawingml/2006/main">
            <a:r>
              <a:t/>
            </a:r>
          </a:p>
          <a:p xmlns:a="http://schemas.openxmlformats.org/drawingml/2006/main">
            <a:r>
              <a:t>Sources:</a:t>
            </a:r>
          </a:p>
          <a:p xmlns:a="http://schemas.openxmlformats.org/drawingml/2006/main">
            <a:r>
              <a:t>/Users/tortalpha/Code/repo-level-dev-agent-eval/docs/defense/source/src/agents/single_agent.py</a:t>
            </a:r>
          </a:p>
          <a:p xmlns:a="http://schemas.openxmlformats.org/drawingml/2006/main">
            <a:r>
              <a:t>/Users/tortalpha/Code/repo-level-dev-agent-eval/docs/defense/source/src/agents/multi_agent.py</a:t>
            </a:r>
          </a:p>
          <a:p xmlns:a="http://schemas.openxmlformats.org/drawingml/2006/main">
            <a:r>
              <a:t>/Users/tortalpha/Code/repo-level-dev-agent-eval/docs/defense/source/src/agents/roles.py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outcome is task_success from the evaluator, not the agent saying it is solved. Success requires visible tests, every required hidden suite, no measured regressions, and no detected test-oracle tampering. Resolved at one summarizes the first final attempt. The system also records tool-use validity, repair behavior, tokens, calls, duration, and cost. Some named AI metrics are operational proxies. For example, patch validity measures whether files changed, and hallucinated references counts malformed or invalid actions. Those limitations are documented explicitly.</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/Users/tortalpha/Code/repo-level-dev-agent-eval/docs/defense/source/src/benchmark/evaluation.py</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preliminary local trials were too slow and produced insufficient solution quality for the selected repository tasks. This was a qualitative feasibility observation, without a quantified pilot table in the saved master artifacts. The primary comparison therefore uses hosted GLM-5.2 through OpenRouter. Core-small uses the same 50-step cap for all architectures. Medium and SWE Pro allow multi-agent systems 75 steps. The SWE Pro initial max_tokens setting is also unequal: 16,384 for single and 4,096 for graph. A truncation retry can increase the initial setting, so these are not absolute per-call limits. Equal steps still do not mean equal token usage or compute. Report the recorded system policies by block and actual resource use.</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/Users/tortalpha/Code/repo-level-dev-agent-eval/docs/defense/source/docs/final_benchmark_task_set.md</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Author-provided explanation of preliminary local trials, September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architectures resolve 11 of the 12 small tasks. On medium tasks, single resolves 11 while graph and guarded resolve 10 each. On the selected SWE Pro subset, single and graph both resolve 9 of 15, with identical paired outcomes. Guarded was not run on that extension. The figure presents recorded outcomes, not a statistically established ranking. There is one final attempt per task and architecture. The medium and SWE blocks use different step caps across architectures. SWE Pro also uses different initial completion-token settings (16,384 single and 4,096 graph, before any truncation retry). Core-small is the equal-step comparison.</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reaggregate the 72 primary core runs: 24 tasks for each of the three architectures. Resolved at one is 22 of 24 for single and 21 of 24 for graph and guarded. Visible suites pass in 24, 22, and 23 runs respectively. Required hidden suites pass in 22, 21, and 21 runs. These rates count complete suites per run, not individual test cases. One graph run on sqlparse_pr_746 records three regressed tests, so its regression-run rate is 1 of 24. No handoffs occurred. The aggregate combines equal 50-step caps on small tasks and unequal 50/75-step caps on medium tasks. The rubric quality score is unavailable for all 102 primary final runs. The existing reviewer produces one overall 0-to-5 LLM-judge score from the task and diff, guided by correctness, minimality, maintainability, robustness, and safety. None of the historical review run IDs matches a primary final run. Functional test evidence therefore does not establish superior maintainability, robustness, or safety.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/Users/tortalpha/Code/repo-level-dev-agent-eval/docs/defense/source/experiments/results/runs.jsonl</a:t>
            </a:r>
          </a:p>
          <a:p xmlns:a="http://schemas.openxmlformats.org/drawingml/2006/main">
            <a:r>
              <a:t>/Users/tortalpha/Code/repo-level-dev-agent-eval/docs/defense/source/src/metrics/compute.py</a:t>
            </a:r>
          </a:p>
          <a:p xmlns:a="http://schemas.openxmlformats.org/drawingml/2006/main">
            <a:r>
              <a:t>/Users/tortalpha/Code/repo-level-dev-agent-eval/docs/defense/source/src/metrics/quality.py</a:t>
            </a:r>
          </a:p>
          <a:p xmlns:a="http://schemas.openxmlformats.org/drawingml/2006/main">
            <a:r>
              <a:t>/Users/tortalpha/Code/repo-level-dev-agent-eval/docs/defense/source/docs/final_benchmark_results.md</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use the same 24 core tasks per architecture. Tool-use validity pools categorized actions: single 462 of 481, graph 729 of 765, guarded 692 of 719. It measures whether the action is categorized as valid, not whether every tool call achieves its goal. The remaining starred metrics are proxies whose definitions matter. Patch validity means a nonempty changed-files list and is 100 percent for all three systems. Hallucinated references means invalid, malformed, or missing actions per run: 19/24, 32/24, and 25/24, rounded to 0.79, 1.33, and 1.04. It does not count verified nonexistent APIs. Test overfitting is the final-failure fraction among visible-pass runs: 2/24, 1/22, and 2/23. A smaller visible/final gap does not establish better overall performance because denominators differ. Repair success means visible-pass among runs with more than one test iteration: 21/21, 16/17, and 18/19. The metric does not establish that a failure preceded the final pass. Mean test iterations are 3.00, 2.29, and 2.38, and mean LLM calls are 20.71, 37.00, and 40.00. These diagnostics show behavior within this implementation, not a general code-quality ranking.</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39 tasks evaluated by both architectures, single resolves 31 and graph resolves 30. Graph costs 18.6 percent more overall. Its cost per solved task is about 0.1644 dollars, compared with 0.1342 for single. The denominator includes solved tasks, while the numerator includes the cost of both successful and unsuccessful attempts. This pooled comparison is secondary because it combines different step policies and unequal initial completion-token settings in the SWE Pro block. It supports an empirical cost-efficiency finding for this configuration, without establishing universal superiority.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comparison is more informative than looking at two percentages in isolation. Both systems solve 29 tasks, and neither solves 7. Single uniquely solves 2, while graph uniquely solves 1. That leaves only three disagreements out of 39. The feature subset favors graph by one task, but it is the same graph-only success rather than an independent confirmation. The experiment does not establish a statistically convincing difference or equivalence. Repeated runs and a larger independent task sample would be needed.</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experiment uses one model and one final attempt per configuration. Twenty of the 39 shared tasks had exploratory exposure during system development. Most core reference changes are local: 19 of 24 touch one source file, so larger repositories do not necessarily mean harder cross-module changes. Size labels have ambiguities, and the literal repository-count commitment changed to task counts. Dataset files exist locally but need separate packaging for reproduction. The final patches did not receive a new blinded maintainability review.</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/Users/tortalpha/Code/repo-level-dev-agent-eval/docs/defense/source/repositories/collection.csv</a:t>
            </a:r>
          </a:p>
          <a:p xmlns:a="http://schemas.openxmlformats.org/drawingml/2006/main">
            <a:r>
              <a:t>/Users/tortalpha/Code/repo-level-dev-agent-eval/docs/defense/DEFENSE_EN.md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v2 strengthens context accounting, test-evidence validation, execution isolation, and run fingerprints. Its completed core-small blocks show different architecture rankings across configurations. GLM gives 10, 9, and 10 successes. DeepSeek gives 9, 11, and 11. Codex Mini gives 9, 7, and 8. In the original DeepSeek attempt, graph has a slightly lower cost per solved task than single. The following slides report two additional repetitions and show how that relationship changes. However, reasoning and compaction settings differ between model configurations. These observations do not isolate model identity, and they do not establish a complexity effect. The 75-step extension remains separate.</a:t>
            </a:r>
          </a:p>
          <a:p xmlns:a="http://schemas.openxmlformats.org/drawingml/2006/main">
            <a:r>
              <a:t/>
            </a:r>
          </a:p>
          <a:p xmlns:a="http://schemas.openxmlformats.org/drawingml/2006/main">
            <a:r>
              <a:t>Sources:</a:t>
            </a:r>
          </a:p>
          <a:p xmlns:a="http://schemas.openxmlformats.org/drawingml/2006/main">
            <a:r>
              <a:t>/Users/tortalpha/Code/repo-level-dev-agent-eval/docs/defense/kernel_v2_interim_snapshot.json</a:t>
            </a:r>
          </a:p>
          <a:p xmlns:a="http://schemas.openxmlformats.org/drawingml/2006/main">
            <a:r>
              <a:t>/Users/tortalpha/Code/repo-level-dev-agent-eval/docs/agent_kernel_v2.md</a:t>
            </a:r>
          </a:p>
          <a:p xmlns:a="http://schemas.openxmlformats.org/drawingml/2006/main">
            <a:r>
              <a:t>/Users/tortalpha/Code/repo-level-dev-agent-eval/experiments/results/kernel_v2_report/summary.csv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DeepSeek V4 Flash extension now contains the original comparison plus two additional repetitions. Each attempt uses the same 12 core-small tasks, the same 50-step limit, low reasoning effort, temperature zero, a 48,000-token context budget, and checkpoint compaction. All 48 new observations completed, with no new infrastructure failures. The historical comparison includes the scored tenacity recovery, which used the same recorded setup as the repeats. Graph solves two more tasks in the original attempt, ties single in repeat 1, and solves one more task in repeat 2. Across all 72 observations, single succeeds 29/36 times and graph 32/36. These are repeated outcomes on 12 exposed tasks. They do not provide 36 independent tasks per architecture, a complexity experiment, or a held-out generalization result. Interpret the advantage descriptively.</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selected observation has complete provider-reported billing. The table divides all billed LLM cost in a block, including failed task attempts, by the number of successful outcomes in that block. It does not include host electricity or hardware cost. Graph has a slightly lower cost per successful outcome in the original comparison, but a higher value in both new repetitions. Across all three attempts, single costs $0.78458366 for 29 successful outcomes, and graph costs $1.04365076 for 32. Thus graph costs about 33.0 percent more overall and 20.5 percent more per successful outcome. The two new repetitions alone cost $1.03556538 in total. Differences in token usage and cache hits contribute to cost variability. Both systems solve the same 11 distinct tasks at least once. The parse_pr_165 task fails in all three attempts for both. This supports a cost versus consistency tradeoff within the tested configurations, not a universal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36 scored attempts per architecture on the same 12 tasks, comprising the original comparison and two repetitions. All visible suites pass. Required hidden-suite success is 29/36 for single and 32/36 for graph, and no run records a visible-test regression. The hidden compatibility result reuses the visible suite on every task. Patch presence measures a nonempty changed-files list: 31/36 and 36/36. Tool-use validity pools recognized action categories, including finish and other non-tool events, rather than measuring semantic usefulness or runtime success. Counts are 1002/1033 and 1342/1384. Hallucinated-reference proxies count invalid, malformed, or missing actions: 30/36 and 31/36 events per run. The visible/final gap is 7/36 versus 4/36 and does not prove intentional overfitting. Repair success is visible-pass among attempts with more than one test iteration, 23/23 and 29/29, without requiring a recorded failure-to-pass transition. Single records handoff status in 7/36 attempts and graph in 0/36, which is an agent status rather than evidence that a human intervened. All 72 rubric quality scores remain unavailable. No validated ranking of readability, maintainability, robustness, or safety follows from these diagnostics.</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a:p xmlns:a="http://schemas.openxmlformats.org/drawingml/2006/main">
            <a:r>
              <a:t>/Users/tortalpha/Code/repo-level-dev-agent-eval/src/metrics/compute.py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reproduces mean pass@1 and standard deviations from Table 1. Our master core-small comparison supports a similar cost-efficiency finding in a different task setting. The DeepSeek repetition result adds an observed cost-versus-consistency tradeoff. The numerical scores belong to separate benchmarks and should not be pooled or directly ranked across studies.</a:t>
            </a:r>
          </a:p>
          <a:p xmlns:a="http://schemas.openxmlformats.org/drawingml/2006/main">
            <a:r>
              <a:t/>
            </a:r>
          </a:p>
          <a:p xmlns:a="http://schemas.openxmlformats.org/drawingml/2006/main">
            <a:r>
              <a:t>Sources:</a:t>
            </a:r>
          </a:p>
          <a:p xmlns:a="http://schemas.openxmlformats.org/drawingml/2006/main">
            <a:r>
              <a:t>https://arxiv.org/html/2601.12307v1#S4.T1</a:t>
            </a:r>
          </a:p>
          <a:p xmlns:a="http://schemas.openxmlformats.org/drawingml/2006/main">
            <a:r>
              <a:t>https://arxiv.org/html/2601.12307v1#S6</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Homogeneous means that the roles share the same base model. Xu et al. assess workflow simulation and optimize workflows with OneFlow. This project evaluates separately designed agent systems. The API single-execution cost calculation in Xu et al. assumes ideal KV-cache reuse. Our repeated DeepSeek observations use complete provider billing, but we did not experimentally isolate cache effects. Equal step limits do not ensure equal tokens or compute. Larger master blocks also use unequal limits. These design differences support a comparison of findings, without a claim of direct replication.</a:t>
            </a:r>
          </a:p>
          <a:p xmlns:a="http://schemas.openxmlformats.org/drawingml/2006/main">
            <a:r>
              <a:t/>
            </a:r>
          </a:p>
          <a:p xmlns:a="http://schemas.openxmlformats.org/drawingml/2006/main">
            <a:r>
              <a:t>Sources:</a:t>
            </a:r>
          </a:p>
          <a:p xmlns:a="http://schemas.openxmlformats.org/drawingml/2006/main">
            <a:r>
              <a:t>https://arxiv.org/html/2601.12307v1#S3.SS2</a:t>
            </a:r>
          </a:p>
          <a:p xmlns:a="http://schemas.openxmlformats.org/drawingml/2006/main">
            <a:r>
              <a:t>https://arxiv.org/html/2601.12307v1#S4.SS1</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H1 predicted that single agents would be more cost-effective on simple tasks. Master core-small supports it: all three systems solve 11/12 with a 50-step cap, while graph costs 2.03 times and guarded 2.58 times as much as single. H2 predicted that the multi-agent advantage would increase with complexity. That pattern did not appear: single resolves 11/12 medium tasks versus 10/12 for both multi variants, and single and graph tie at 9/15 on SWE Pro. H2 is not supported by this benchmark. Unequal step and initial output-token settings in larger blocks and limited cross-module changes prevent a universal rejection. The additional DeepSeek experiment repeats 12 familiar tasks. Graph succeeds in 32/36 observations versus 29/36 and solves 10 tasks in every attempt versus 7 for single. Both solve the same 11 distinct tasks at least once. Graph costs 20.5 percent more per successful outcome across all three attempts. Thus the observed benefit is greater consistency on this sample, without wider observed task coverage. It does not test complexity or establish better maintainability. Rubric quality scores remain unavailable.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proposal defined small repositories as 500 to 3,000 Python source lines and 5 to 30 source files, and medium repositories as 3,001 to 15,000 lines and 31 to 120 files. The later specification prioritizes LOC when measures disagree. In the core, the original combined thresholds hold for 9 of 12 small tasks and 2 of 12 medium tasks when physical lines are used. boltons and pydash fit the medium range only under nonblank counts, a rule not clearly fixed in the metadata. Multiple tasks share repositories. These are limitations to disclose.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/Users/tortalpha/Code/repo-level-dev-agent-eval/docs/defense/source/repositories/README.md</a:t>
            </a:r>
          </a:p>
          <a:p xmlns:a="http://schemas.openxmlformats.org/drawingml/2006/main">
            <a:r>
              <a:t>/Users/tortalpha/Code/repo-level-dev-agent-eval/docs/defense/source/repositories/collection.csv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should be interpreted through the actual implementation. Patch validity is the fraction of runs with changed files. Hallucinated references counts invalid, malformed, and missing actions rather than checking whether APIs exist. Repair success is the visible-pass fraction among runs with more than one test iteration, without requiring a preceding failure. Test overfitting is the final-failure fraction among visible-pass runs. They are useful diagnostics with limited construct validity. Functional test outcomes and cost provide the clearest primary evidence.</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reports the 15 primary SWE Pro tasks evaluated by single and graph. Guarded was not run on this subset. Both systems pass all visible suites, yet only 9 of 15 pass the required hidden suites and resolve the task. Thus each has a visible/final gap of 6 of 15, or 40 percent. Neither records a visible-test regression. Tool-use validity is 390/408 for single and 639/661 for graph. Hallucinated-reference proxies are 17/15 and 18/15 per run. The repair proxy is 14/14 for single and 15/15 for graph. Patch validity is 15/15 and human handoff is 0/15 for both, while rubric quality scores remain unavailable. Mean test iterations are 3.33 and 3.47, and mean LLM calls are 31.53 and 49.20. Single uses a 50-step cap and graph 75. The initial completion-token settings are 16,384 and 4,096 respectively, with possible increases after truncation. This is a descriptive comparison under the recorded policies.</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Xu et al., Rethinking the Value of Multi-Agent Workflow: A Strong Single Agent Baseline (2026), motivates the primary research question. Dat Tran and Douwe Kiela, Single-Agent LLMs Outperform Multi-Agent Systems on Multi-Hop Reasoning Under Equal Thinking Token Budgets (2026), studies FRAMES and MuSiQue. Requested intermediate thinking caps exclude prompts and final answers, and actual consumption may differ. Gemini accounting is approximate. Our step caps do not reproduce this resource control. Chunqiu Steven Xia, Yinlin Deng, Soren Dunn and Lingming Zhang, Agentless: Demystifying LLM-based Software Engineering Agents (2024), uses a fixed localization, patching and test-selection pipeline. The LLM does not autonomously choose the next tool action. Its comparison does not isolate our single-versus-multi orchestration question.</a:t>
            </a:r>
          </a:p>
          <a:p xmlns:a="http://schemas.openxmlformats.org/drawingml/2006/main">
            <a:r>
              <a:t/>
            </a:r>
          </a:p>
          <a:p xmlns:a="http://schemas.openxmlformats.org/drawingml/2006/main">
            <a:r>
              <a:t>Sources:</a:t>
            </a:r>
          </a:p>
          <a:p xmlns:a="http://schemas.openxmlformats.org/drawingml/2006/main">
            <a:r>
              <a:t>https://arxiv.org/html/2601.12307v1#S6</a:t>
            </a:r>
          </a:p>
          <a:p xmlns:a="http://schemas.openxmlformats.org/drawingml/2006/main">
            <a:r>
              <a:t>https://arxiv.org/html/2604.02460v2#S4</a:t>
            </a:r>
          </a:p>
          <a:p xmlns:a="http://schemas.openxmlformats.org/drawingml/2006/main">
            <a:r>
              <a:t>https://arxiv.org/html/2604.02460v2#A3</a:t>
            </a:r>
          </a:p>
          <a:p xmlns:a="http://schemas.openxmlformats.org/drawingml/2006/main">
            <a:r>
              <a:t>https://arxiv.org/html/2407.01489v2#S3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lists the original scored attempt, repeat 1, and repeat 2 in that order. P means final task_success is true and F means it is false. The original comparison includes the successful tenacity recovery session. Single has seven tasks solved in all three attempts, four with mixed results, and one with three failures. Graph has ten tasks solved in all three, one mixed result, and one with three failures. Both solve the same 11 tasks at least once. Across 36 paired task-by-attempt observations, both succeed in 28, both fail in 3, graph alone succeeds in 4, and single alone succeeds in 1. Repetitions within a task are dependent observations, so this table does not establish a statistically general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95e1807cc34a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3dc8eb3bf543cf" /><Relationship Type="http://schemas.openxmlformats.org/officeDocument/2006/relationships/slideLayout" Target="/ppt/slideLayouts/slideLayout1.xml" Id="Rb2c7e4d06a5f4c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c7e4d06a5f4c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114818973842da" /><Relationship Type="http://schemas.openxmlformats.org/officeDocument/2006/relationships/notesSlide" Target="/ppt/notesSlides/notesSlide1.xml" Id="R88e7c21d43d140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a9ed1cde194828" /><Relationship Type="http://schemas.openxmlformats.org/officeDocument/2006/relationships/notesSlide" Target="/ppt/notesSlides/notesSlide2.xml" Id="R5050fd1fd20f42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fa19c553c64bd6" /><Relationship Type="http://schemas.openxmlformats.org/officeDocument/2006/relationships/notesSlide" Target="/ppt/notesSlides/notesSlide3.xml" Id="R1e44640ac7624f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66d531e0b34d71" /><Relationship Type="http://schemas.openxmlformats.org/officeDocument/2006/relationships/notesSlide" Target="/ppt/notesSlides/notesSlide4.xml" Id="R8b1b9d05be2c43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1253be3a77429e" /><Relationship Type="http://schemas.openxmlformats.org/officeDocument/2006/relationships/notesSlide" Target="/ppt/notesSlides/notesSlide5.xml" Id="R303351a0734c43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806cc916544e60" /><Relationship Type="http://schemas.openxmlformats.org/officeDocument/2006/relationships/notesSlide" Target="/ppt/notesSlides/notesSlide6.xml" Id="R9bf36e4269974e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4e49e2bb944a36" /><Relationship Type="http://schemas.openxmlformats.org/officeDocument/2006/relationships/notesSlide" Target="/ppt/notesSlides/notesSlide7.xml" Id="R982eaab7022045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cabca197c74d0f" /><Relationship Type="http://schemas.openxmlformats.org/officeDocument/2006/relationships/notesSlide" Target="/ppt/notesSlides/notesSlide8.xml" Id="Re8340b5381e544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09dee67a5f4ed3" /><Relationship Type="http://schemas.openxmlformats.org/officeDocument/2006/relationships/chart" Target="/ppt/slides/charts/chart1.xml" Id="R68ba6f7ef60e4869" /><Relationship Type="http://schemas.openxmlformats.org/officeDocument/2006/relationships/chart" Target="/ppt/slides/charts/chart2.xml" Id="R9b6dc021f36c4f57" /><Relationship Type="http://schemas.openxmlformats.org/officeDocument/2006/relationships/chart" Target="/ppt/slides/charts/chart3.xml" Id="Rf1c5216978804012" /><Relationship Type="http://schemas.openxmlformats.org/officeDocument/2006/relationships/notesSlide" Target="/ppt/notesSlides/notesSlide9.xml" Id="Rd138b7ce5ffd49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612f1c46f44f36" /><Relationship Type="http://schemas.openxmlformats.org/officeDocument/2006/relationships/notesSlide" Target="/ppt/notesSlides/notesSlide10.xml" Id="Rf7ed3d203ac843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297f0b9d784714" /><Relationship Type="http://schemas.openxmlformats.org/officeDocument/2006/relationships/notesSlide" Target="/ppt/notesSlides/notesSlide11.xml" Id="R6cf471f4415f4f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c8accead954062" /><Relationship Type="http://schemas.openxmlformats.org/officeDocument/2006/relationships/notesSlide" Target="/ppt/notesSlides/notesSlide12.xml" Id="R7eb04d42343f48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e2cf19e49640ee" /><Relationship Type="http://schemas.openxmlformats.org/officeDocument/2006/relationships/notesSlide" Target="/ppt/notesSlides/notesSlide13.xml" Id="R1b35df3bd6264c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16af771b96489a" /><Relationship Type="http://schemas.openxmlformats.org/officeDocument/2006/relationships/notesSlide" Target="/ppt/notesSlides/notesSlide14.xml" Id="R850139442f2242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f631c30b8d40e9" /><Relationship Type="http://schemas.openxmlformats.org/officeDocument/2006/relationships/notesSlide" Target="/ppt/notesSlides/notesSlide15.xml" Id="R374c83beec154d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6e300fb25d4a5b" /><Relationship Type="http://schemas.openxmlformats.org/officeDocument/2006/relationships/notesSlide" Target="/ppt/notesSlides/notesSlide16.xml" Id="R4520a837c1b64c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669aa49cc34aa8" /><Relationship Type="http://schemas.openxmlformats.org/officeDocument/2006/relationships/notesSlide" Target="/ppt/notesSlides/notesSlide17.xml" Id="R2775be7e204045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116a5f212641f3" /><Relationship Type="http://schemas.openxmlformats.org/officeDocument/2006/relationships/notesSlide" Target="/ppt/notesSlides/notesSlide18.xml" Id="R808a7443a8cd4d56" /></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b10f26f0f7dc4310" /><ns0:Relationship Type="http://schemas.openxmlformats.org/officeDocument/2006/relationships/notesSlide" Target="/ppt/notesSlides/notesSlide19.xml" Id="R53c7d9672d3b43d6" /><ns0:Relationship Id="rIdCitation1" Type="http://schemas.openxmlformats.org/officeDocument/2006/relationships/hyperlink" Target="https://arxiv.org/html/2601.12307v1#S4.T1"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1513b413f6bd4d0f" /><ns0:Relationship Type="http://schemas.openxmlformats.org/officeDocument/2006/relationships/notesSlide" Target="/ppt/notesSlides/notesSlide20.xml" Id="R0679ff7352b5419b" /><ns0:Relationship Id="rIdCitation1" Type="http://schemas.openxmlformats.org/officeDocument/2006/relationships/hyperlink" Target="https://arxiv.org/html/2601.12307v1#S4.SS1" TargetMode="External" /></ns0: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e4d38285e694cbc" /><Relationship Type="http://schemas.openxmlformats.org/officeDocument/2006/relationships/notesSlide" Target="/ppt/notesSlides/notesSlide21.xml" Id="R9e0615a9047b43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81546a4f25148d3" /><Relationship Type="http://schemas.openxmlformats.org/officeDocument/2006/relationships/notesSlide" Target="/ppt/notesSlides/notesSlide22.xml" Id="R6426c15964a844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869bfb3a8dc4df4" /><Relationship Type="http://schemas.openxmlformats.org/officeDocument/2006/relationships/notesSlide" Target="/ppt/notesSlides/notesSlide23.xml" Id="R5e792f7f2b504f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8e5f1b584424afb" /><Relationship Type="http://schemas.openxmlformats.org/officeDocument/2006/relationships/notesSlide" Target="/ppt/notesSlides/notesSlide24.xml" Id="R1a80816613b14acb" /></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f0b35b236ff54517" /><ns0:Relationship Type="http://schemas.openxmlformats.org/officeDocument/2006/relationships/notesSlide" Target="/ppt/notesSlides/notesSlide25.xml" Id="R8e3e20eae9d7411b" /><ns0:Relationship Id="rIdCitation1" Type="http://schemas.openxmlformats.org/officeDocument/2006/relationships/hyperlink" Target="https://arxiv.org/html/2601.12307v1" TargetMode="External" /><ns0:Relationship Id="rIdCitation2" Type="http://schemas.openxmlformats.org/officeDocument/2006/relationships/hyperlink" Target="https://arxiv.org/html/2604.02460v2" TargetMode="External" /><ns0:Relationship Id="rIdCitation3" Type="http://schemas.openxmlformats.org/officeDocument/2006/relationships/hyperlink" Target="https://arxiv.org/html/2407.01489v2" TargetMode="External" /></ns0: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25fb3f94ec40cf" /><Relationship Type="http://schemas.openxmlformats.org/officeDocument/2006/relationships/notesSlide" Target="/ppt/notesSlides/notesSlide26.xml" Id="Rb210fb6b7b5846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small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0.916667</c:v>
                </c:pt>
                <c:pt idx="2">
                  <c:v>0.916667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medium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0.833333</c:v>
                </c:pt>
                <c:pt idx="2">
                  <c:v>0.833333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SWE Pro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Data'!$A$2:$A$3</c:f>
              <c:strCache>
                <c:ptCount val="2"/>
                <c:pt idx="0">
                  <c:v>Single</c:v>
                </c:pt>
                <c:pt idx="1">
                  <c:v>Graph</c:v>
                </c:pt>
              </c:strCache>
            </c:strRef>
          </c:cat>
          <c:val>
            <c:numRef>
              <c:f>'Chart Data'!$B$2:$B$3</c:f>
              <c:numCache>
                <c:formatCode>0%</c:formatCode>
                <c:ptCount val="2"/>
                <c:pt idx="0">
                  <c:v>0.6</c:v>
                </c:pt>
                <c:pt idx="1">
                  <c:v>0.6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65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36FC303C-10FF-4C76-856E-C4772E40231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45C1B6C0-9E89-4AEE-A856-C72F5A0CC31C}"/>
              </a:ext>
            </a:extLst>
          </p:cNvPr>
          <p:cNvSpPr>
            <a:spLocks xmlns:a="http://schemas.openxmlformats.org/drawingml/2006/main" noGrp="1"/>
          </p:cNvSpPr>
          <p:nvPr/>
        </p:nvSpPr>
        <p:spPr>
          <a:xfrm xmlns:a="http://schemas.openxmlformats.org/drawingml/2006/main">
            <a:off x="685800" y="1123950"/>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Single-Agent and</a:t>
            </a:r>
          </a:p>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Multi-Agent LLMs</a:t>
            </a:r>
          </a:p>
        </p:txBody>
      </p:sp>
      <p:sp>
        <p:nvSpPr>
          <p:cNvPr id="3" name="text-2">
            <a:extLst xmlns:a="http://schemas.openxmlformats.org/drawingml/2006/main">
              <a:ext uri="{FF2B5EF4-FFF2-40B4-BE49-F238E27FC236}">
                <a16:creationId xmlns:a16="http://schemas.microsoft.com/office/drawing/2014/main" id="{C861ED8E-E813-49C6-9A1F-C618D56AE3AA}"/>
              </a:ext>
            </a:extLst>
          </p:cNvPr>
          <p:cNvSpPr>
            <a:spLocks xmlns:a="http://schemas.openxmlformats.org/drawingml/2006/main" noGrp="1"/>
          </p:cNvSpPr>
          <p:nvPr/>
        </p:nvSpPr>
        <p:spPr>
          <a:xfrm xmlns:a="http://schemas.openxmlformats.org/drawingml/2006/main">
            <a:off x="723900" y="35814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Autonomous software development</a:t>
            </a:r>
          </a:p>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at repository level</a:t>
            </a:r>
          </a:p>
        </p:txBody>
      </p:sp>
      <p:sp>
        <p:nvSpPr>
          <p:cNvPr id="4" name="text-3">
            <a:extLst xmlns:a="http://schemas.openxmlformats.org/drawingml/2006/main">
              <a:ext uri="{FF2B5EF4-FFF2-40B4-BE49-F238E27FC236}">
                <a16:creationId xmlns:a16="http://schemas.microsoft.com/office/drawing/2014/main" id="{4EEE141B-03BA-472C-87C5-316ED1CB5571}"/>
              </a:ext>
            </a:extLst>
          </p:cNvPr>
          <p:cNvSpPr>
            <a:spLocks xmlns:a="http://schemas.openxmlformats.org/drawingml/2006/main" noGrp="1"/>
          </p:cNvSpPr>
          <p:nvPr/>
        </p:nvSpPr>
        <p:spPr>
          <a:xfrm xmlns:a="http://schemas.openxmlformats.org/drawingml/2006/main">
            <a:off x="723900" y="531495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Roman Avanesov</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SV 88/2024</a:t>
            </a:r>
          </a:p>
        </p:txBody>
      </p:sp>
      <p:sp>
        <p:nvSpPr>
          <p:cNvPr id="5" name="text-4">
            <a:extLst xmlns:a="http://schemas.openxmlformats.org/drawingml/2006/main">
              <a:ext uri="{FF2B5EF4-FFF2-40B4-BE49-F238E27FC236}">
                <a16:creationId xmlns:a16="http://schemas.microsoft.com/office/drawing/2014/main" id="{A129B7E1-F5DC-4491-8F1F-0929F89249B1}"/>
              </a:ext>
            </a:extLst>
          </p:cNvPr>
          <p:cNvSpPr>
            <a:spLocks xmlns:a="http://schemas.openxmlformats.org/drawingml/2006/main" noGrp="1"/>
          </p:cNvSpPr>
          <p:nvPr/>
        </p:nvSpPr>
        <p:spPr>
          <a:xfrm xmlns:a="http://schemas.openxmlformats.org/drawingml/2006/main">
            <a:off x="7572375" y="5810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6FC"/>
                </a:solidFill>
                <a:latin typeface="Helvetica Neue"/>
                <a:ea typeface="Helvetica Neue"/>
                <a:cs typeface="Helvetica Neue"/>
              </a:defRPr>
            </a:pPr>
            <a:r>
              <a:rPr sz="1725" b="0">
                <a:solidFill>
                  <a:srgbClr val="B9D6FC"/>
                </a:solidFill>
                <a:latin typeface="Helvetica Neue"/>
                <a:ea typeface="Helvetica Neue"/>
                <a:cs typeface="Helvetica Neue"/>
              </a:rPr>
              <a:t>Primary study: master 8da3f3f</a:t>
            </a:r>
          </a:p>
        </p:txBody>
      </p:sp>
    </p:spTree>
    <p:extLst>
      <p:ext uri="{BB962C8B-B14F-4D97-AF65-F5344CB8AC3E}">
        <p14:creationId xmlns:p14="http://schemas.microsoft.com/office/powerpoint/2010/main" val="116254059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595AEFC-FA23-475A-A0C6-D97B82C3253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Research question</a:t>
            </a:r>
          </a:p>
        </p:txBody>
      </p:sp>
      <p:sp>
        <p:nvSpPr>
          <p:cNvPr id="2" name="slide-number">
            <a:extLst xmlns:a="http://schemas.openxmlformats.org/drawingml/2006/main">
              <a:ext uri="{FF2B5EF4-FFF2-40B4-BE49-F238E27FC236}">
                <a16:creationId xmlns:a16="http://schemas.microsoft.com/office/drawing/2014/main" id="{7217C01E-4347-41DB-9109-51027A9A4C5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02</a:t>
            </a:r>
          </a:p>
        </p:txBody>
      </p:sp>
      <p:sp>
        <p:nvSpPr>
          <p:cNvPr id="3" name="text-2">
            <a:extLst xmlns:a="http://schemas.openxmlformats.org/drawingml/2006/main">
              <a:ext uri="{FF2B5EF4-FFF2-40B4-BE49-F238E27FC236}">
                <a16:creationId xmlns:a16="http://schemas.microsoft.com/office/drawing/2014/main" id="{7D983ED8-16E9-4B93-9DA7-BD3F0BE1464C}"/>
              </a:ext>
            </a:extLst>
          </p:cNvPr>
          <p:cNvSpPr>
            <a:spLocks xmlns:a="http://schemas.openxmlformats.org/drawingml/2006/main" noGrp="1"/>
          </p:cNvSpPr>
          <p:nvPr/>
        </p:nvSpPr>
        <p:spPr>
          <a:xfrm xmlns:a="http://schemas.openxmlformats.org/drawingml/2006/main">
            <a:off x="685800" y="18383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Does role specialization improve results</a:t>
            </a:r>
          </a:p>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enough to justify its additional cost?</a:t>
            </a:r>
          </a:p>
        </p:txBody>
      </p:sp>
      <p:sp>
        <p:nvSpPr>
          <p:cNvPr id="4" name="text-3">
            <a:extLst xmlns:a="http://schemas.openxmlformats.org/drawingml/2006/main">
              <a:ext uri="{FF2B5EF4-FFF2-40B4-BE49-F238E27FC236}">
                <a16:creationId xmlns:a16="http://schemas.microsoft.com/office/drawing/2014/main" id="{AFB7DB5B-3986-4220-8636-32EBC7216F40}"/>
              </a:ext>
            </a:extLst>
          </p:cNvPr>
          <p:cNvSpPr>
            <a:spLocks xmlns:a="http://schemas.openxmlformats.org/drawingml/2006/main" noGrp="1"/>
          </p:cNvSpPr>
          <p:nvPr/>
        </p:nvSpPr>
        <p:spPr>
          <a:xfrm xmlns:a="http://schemas.openxmlformats.org/drawingml/2006/main">
            <a:off x="685800" y="40576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H1. Simple tasks</a:t>
            </a:r>
          </a:p>
        </p:txBody>
      </p:sp>
      <p:sp>
        <p:nvSpPr>
          <p:cNvPr id="5" name="text-4">
            <a:extLst xmlns:a="http://schemas.openxmlformats.org/drawingml/2006/main">
              <a:ext uri="{FF2B5EF4-FFF2-40B4-BE49-F238E27FC236}">
                <a16:creationId xmlns:a16="http://schemas.microsoft.com/office/drawing/2014/main" id="{D5510B53-0BFF-4104-8D11-F5CCA2430D95}"/>
              </a:ext>
            </a:extLst>
          </p:cNvPr>
          <p:cNvSpPr>
            <a:spLocks xmlns:a="http://schemas.openxmlformats.org/drawingml/2006/main" noGrp="1"/>
          </p:cNvSpPr>
          <p:nvPr/>
        </p:nvSpPr>
        <p:spPr>
          <a:xfrm xmlns:a="http://schemas.openxmlformats.org/drawingml/2006/main">
            <a:off x="685800" y="46291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Single agents are</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more cost-effective</a:t>
            </a:r>
          </a:p>
        </p:txBody>
      </p:sp>
      <p:sp>
        <p:nvSpPr>
          <p:cNvPr id="6" name="text-5">
            <a:extLst xmlns:a="http://schemas.openxmlformats.org/drawingml/2006/main">
              <a:ext uri="{FF2B5EF4-FFF2-40B4-BE49-F238E27FC236}">
                <a16:creationId xmlns:a16="http://schemas.microsoft.com/office/drawing/2014/main" id="{1A6C9F2B-CFA2-412D-88AF-0E53E087F9D7}"/>
              </a:ext>
            </a:extLst>
          </p:cNvPr>
          <p:cNvSpPr>
            <a:spLocks xmlns:a="http://schemas.openxmlformats.org/drawingml/2006/main" noGrp="1"/>
          </p:cNvSpPr>
          <p:nvPr/>
        </p:nvSpPr>
        <p:spPr>
          <a:xfrm xmlns:a="http://schemas.openxmlformats.org/drawingml/2006/main">
            <a:off x="6381750" y="4057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27820"/>
                </a:solidFill>
                <a:latin typeface="Helvetica Neue"/>
                <a:ea typeface="Helvetica Neue"/>
                <a:cs typeface="Helvetica Neue"/>
              </a:defRPr>
            </a:pPr>
            <a:r>
              <a:rPr sz="2175" b="1">
                <a:solidFill>
                  <a:srgbClr val="D27820"/>
                </a:solidFill>
                <a:latin typeface="Helvetica Neue"/>
                <a:ea typeface="Helvetica Neue"/>
                <a:cs typeface="Helvetica Neue"/>
              </a:rPr>
              <a:t>H2. Increasing complexity</a:t>
            </a:r>
          </a:p>
        </p:txBody>
      </p:sp>
      <p:sp>
        <p:nvSpPr>
          <p:cNvPr id="7" name="text-6">
            <a:extLst xmlns:a="http://schemas.openxmlformats.org/drawingml/2006/main">
              <a:ext uri="{FF2B5EF4-FFF2-40B4-BE49-F238E27FC236}">
                <a16:creationId xmlns:a16="http://schemas.microsoft.com/office/drawing/2014/main" id="{189D1EB0-6BEA-4E26-B4E0-113DF805E403}"/>
              </a:ext>
            </a:extLst>
          </p:cNvPr>
          <p:cNvSpPr>
            <a:spLocks xmlns:a="http://schemas.openxmlformats.org/drawingml/2006/main" noGrp="1"/>
          </p:cNvSpPr>
          <p:nvPr/>
        </p:nvSpPr>
        <p:spPr>
          <a:xfrm xmlns:a="http://schemas.openxmlformats.org/drawingml/2006/main">
            <a:off x="6381750" y="4629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Multi-agent benefits grow with</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task and codebase complexity</a:t>
            </a:r>
          </a:p>
        </p:txBody>
      </p:sp>
    </p:spTree>
    <p:extLst>
      <p:ext uri="{BB962C8B-B14F-4D97-AF65-F5344CB8AC3E}">
        <p14:creationId xmlns:p14="http://schemas.microsoft.com/office/powerpoint/2010/main" val="244791268"/>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F8BB1ED-82B1-49CF-9B43-90832126BCC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Repository development loop</a:t>
            </a:r>
          </a:p>
        </p:txBody>
      </p:sp>
      <p:sp>
        <p:nvSpPr>
          <p:cNvPr id="2" name="slide-number">
            <a:extLst xmlns:a="http://schemas.openxmlformats.org/drawingml/2006/main">
              <a:ext uri="{FF2B5EF4-FFF2-40B4-BE49-F238E27FC236}">
                <a16:creationId xmlns:a16="http://schemas.microsoft.com/office/drawing/2014/main" id="{D67403EE-D1D7-4CEC-9F73-D2B297EDB82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7A428035-FE33-4461-A279-41C54929446A}"/>
              </a:ext>
            </a:extLst>
          </p:cNvPr>
          <p:cNvSpPr>
            <a:spLocks xmlns:a="http://schemas.openxmlformats.org/drawingml/2006/main" noGrp="1"/>
          </p:cNvSpPr>
          <p:nvPr/>
        </p:nvSpPr>
        <p:spPr>
          <a:xfrm xmlns:a="http://schemas.openxmlformats.org/drawingml/2006/main">
            <a:off x="685800" y="18097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9B06757F-7D61-4537-B1E1-97ED82C597A3}"/>
              </a:ext>
            </a:extLst>
          </p:cNvPr>
          <p:cNvSpPr>
            <a:spLocks xmlns:a="http://schemas.openxmlformats.org/drawingml/2006/main" noGrp="1"/>
          </p:cNvSpPr>
          <p:nvPr/>
        </p:nvSpPr>
        <p:spPr>
          <a:xfrm xmlns:a="http://schemas.openxmlformats.org/drawingml/2006/main">
            <a:off x="1809750" y="18097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Task input</a:t>
            </a:r>
          </a:p>
        </p:txBody>
      </p:sp>
      <p:sp>
        <p:nvSpPr>
          <p:cNvPr id="5" name="text-4">
            <a:extLst xmlns:a="http://schemas.openxmlformats.org/drawingml/2006/main">
              <a:ext uri="{FF2B5EF4-FFF2-40B4-BE49-F238E27FC236}">
                <a16:creationId xmlns:a16="http://schemas.microsoft.com/office/drawing/2014/main" id="{EE87572F-03BA-4068-931F-44E140F49E1F}"/>
              </a:ext>
            </a:extLst>
          </p:cNvPr>
          <p:cNvSpPr>
            <a:spLocks xmlns:a="http://schemas.openxmlformats.org/drawingml/2006/main" noGrp="1"/>
          </p:cNvSpPr>
          <p:nvPr/>
        </p:nvSpPr>
        <p:spPr>
          <a:xfrm xmlns:a="http://schemas.openxmlformats.org/drawingml/2006/main">
            <a:off x="1809750" y="22574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Repository snapshot, task description, visible tests</a:t>
            </a:r>
          </a:p>
        </p:txBody>
      </p:sp>
      <p:sp>
        <p:nvSpPr>
          <p:cNvPr id="6" name="text-5">
            <a:extLst xmlns:a="http://schemas.openxmlformats.org/drawingml/2006/main">
              <a:ext uri="{FF2B5EF4-FFF2-40B4-BE49-F238E27FC236}">
                <a16:creationId xmlns:a16="http://schemas.microsoft.com/office/drawing/2014/main" id="{F9A6E9D8-0F0E-44E2-B7E2-51478B7EE102}"/>
              </a:ext>
            </a:extLst>
          </p:cNvPr>
          <p:cNvSpPr>
            <a:spLocks xmlns:a="http://schemas.openxmlformats.org/drawingml/2006/main" noGrp="1"/>
          </p:cNvSpPr>
          <p:nvPr/>
        </p:nvSpPr>
        <p:spPr>
          <a:xfrm xmlns:a="http://schemas.openxmlformats.org/drawingml/2006/main">
            <a:off x="685800" y="28384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02</a:t>
            </a:r>
          </a:p>
        </p:txBody>
      </p:sp>
      <p:sp>
        <p:nvSpPr>
          <p:cNvPr id="7" name="text-6">
            <a:extLst xmlns:a="http://schemas.openxmlformats.org/drawingml/2006/main">
              <a:ext uri="{FF2B5EF4-FFF2-40B4-BE49-F238E27FC236}">
                <a16:creationId xmlns:a16="http://schemas.microsoft.com/office/drawing/2014/main" id="{725D994F-3050-4C73-A234-3932FA1BBD6F}"/>
              </a:ext>
            </a:extLst>
          </p:cNvPr>
          <p:cNvSpPr>
            <a:spLocks xmlns:a="http://schemas.openxmlformats.org/drawingml/2006/main" noGrp="1"/>
          </p:cNvSpPr>
          <p:nvPr/>
        </p:nvSpPr>
        <p:spPr>
          <a:xfrm xmlns:a="http://schemas.openxmlformats.org/drawingml/2006/main">
            <a:off x="1809750" y="28384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Agent actions</a:t>
            </a:r>
          </a:p>
        </p:txBody>
      </p:sp>
      <p:sp>
        <p:nvSpPr>
          <p:cNvPr id="8" name="text-7">
            <a:extLst xmlns:a="http://schemas.openxmlformats.org/drawingml/2006/main">
              <a:ext uri="{FF2B5EF4-FFF2-40B4-BE49-F238E27FC236}">
                <a16:creationId xmlns:a16="http://schemas.microsoft.com/office/drawing/2014/main" id="{0B77DADB-9F02-4DB5-BD19-961FD9D330DD}"/>
              </a:ext>
            </a:extLst>
          </p:cNvPr>
          <p:cNvSpPr>
            <a:spLocks xmlns:a="http://schemas.openxmlformats.org/drawingml/2006/main" noGrp="1"/>
          </p:cNvSpPr>
          <p:nvPr/>
        </p:nvSpPr>
        <p:spPr>
          <a:xfrm xmlns:a="http://schemas.openxmlformats.org/drawingml/2006/main">
            <a:off x="1809750" y="32861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Read and search files, plan, edit code, run tests</a:t>
            </a:r>
          </a:p>
        </p:txBody>
      </p:sp>
      <p:sp>
        <p:nvSpPr>
          <p:cNvPr id="9" name="text-8">
            <a:extLst xmlns:a="http://schemas.openxmlformats.org/drawingml/2006/main">
              <a:ext uri="{FF2B5EF4-FFF2-40B4-BE49-F238E27FC236}">
                <a16:creationId xmlns:a16="http://schemas.microsoft.com/office/drawing/2014/main" id="{82D10205-341E-4ABD-8A73-40EEB607006D}"/>
              </a:ext>
            </a:extLst>
          </p:cNvPr>
          <p:cNvSpPr>
            <a:spLocks xmlns:a="http://schemas.openxmlformats.org/drawingml/2006/main" noGrp="1"/>
          </p:cNvSpPr>
          <p:nvPr/>
        </p:nvSpPr>
        <p:spPr>
          <a:xfrm xmlns:a="http://schemas.openxmlformats.org/drawingml/2006/main">
            <a:off x="685800" y="38671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03</a:t>
            </a:r>
          </a:p>
        </p:txBody>
      </p:sp>
      <p:sp>
        <p:nvSpPr>
          <p:cNvPr id="10" name="text-9">
            <a:extLst xmlns:a="http://schemas.openxmlformats.org/drawingml/2006/main">
              <a:ext uri="{FF2B5EF4-FFF2-40B4-BE49-F238E27FC236}">
                <a16:creationId xmlns:a16="http://schemas.microsoft.com/office/drawing/2014/main" id="{1122C0A6-2801-4CCE-BF27-2F3A3D7940CC}"/>
              </a:ext>
            </a:extLst>
          </p:cNvPr>
          <p:cNvSpPr>
            <a:spLocks xmlns:a="http://schemas.openxmlformats.org/drawingml/2006/main" noGrp="1"/>
          </p:cNvSpPr>
          <p:nvPr/>
        </p:nvSpPr>
        <p:spPr>
          <a:xfrm xmlns:a="http://schemas.openxmlformats.org/drawingml/2006/main">
            <a:off x="1809750" y="38671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Revision loop</a:t>
            </a:r>
          </a:p>
        </p:txBody>
      </p:sp>
      <p:sp>
        <p:nvSpPr>
          <p:cNvPr id="11" name="text-10">
            <a:extLst xmlns:a="http://schemas.openxmlformats.org/drawingml/2006/main">
              <a:ext uri="{FF2B5EF4-FFF2-40B4-BE49-F238E27FC236}">
                <a16:creationId xmlns:a16="http://schemas.microsoft.com/office/drawing/2014/main" id="{E92AB277-E06A-4905-A137-31A6E4CF1A59}"/>
              </a:ext>
            </a:extLst>
          </p:cNvPr>
          <p:cNvSpPr>
            <a:spLocks xmlns:a="http://schemas.openxmlformats.org/drawingml/2006/main" noGrp="1"/>
          </p:cNvSpPr>
          <p:nvPr/>
        </p:nvSpPr>
        <p:spPr>
          <a:xfrm xmlns:a="http://schemas.openxmlformats.org/drawingml/2006/main">
            <a:off x="1809750" y="4314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Use tool feedback until completion or a budget limit</a:t>
            </a:r>
          </a:p>
        </p:txBody>
      </p:sp>
      <p:sp>
        <p:nvSpPr>
          <p:cNvPr id="12" name="text-11">
            <a:extLst xmlns:a="http://schemas.openxmlformats.org/drawingml/2006/main">
              <a:ext uri="{FF2B5EF4-FFF2-40B4-BE49-F238E27FC236}">
                <a16:creationId xmlns:a16="http://schemas.microsoft.com/office/drawing/2014/main" id="{63AAACCF-2F69-4535-B6D7-1DEE3E24C45E}"/>
              </a:ext>
            </a:extLst>
          </p:cNvPr>
          <p:cNvSpPr>
            <a:spLocks xmlns:a="http://schemas.openxmlformats.org/drawingml/2006/main" noGrp="1"/>
          </p:cNvSpPr>
          <p:nvPr/>
        </p:nvSpPr>
        <p:spPr>
          <a:xfrm xmlns:a="http://schemas.openxmlformats.org/drawingml/2006/main">
            <a:off x="685800" y="48958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04</a:t>
            </a:r>
          </a:p>
        </p:txBody>
      </p:sp>
      <p:sp>
        <p:nvSpPr>
          <p:cNvPr id="13" name="text-12">
            <a:extLst xmlns:a="http://schemas.openxmlformats.org/drawingml/2006/main">
              <a:ext uri="{FF2B5EF4-FFF2-40B4-BE49-F238E27FC236}">
                <a16:creationId xmlns:a16="http://schemas.microsoft.com/office/drawing/2014/main" id="{03D65F87-515A-4DA4-B049-5A34484D97EF}"/>
              </a:ext>
            </a:extLst>
          </p:cNvPr>
          <p:cNvSpPr>
            <a:spLocks xmlns:a="http://schemas.openxmlformats.org/drawingml/2006/main" noGrp="1"/>
          </p:cNvSpPr>
          <p:nvPr/>
        </p:nvSpPr>
        <p:spPr>
          <a:xfrm xmlns:a="http://schemas.openxmlformats.org/drawingml/2006/main">
            <a:off x="1809750" y="48958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External evaluation</a:t>
            </a:r>
          </a:p>
        </p:txBody>
      </p:sp>
      <p:sp>
        <p:nvSpPr>
          <p:cNvPr id="14" name="text-13">
            <a:extLst xmlns:a="http://schemas.openxmlformats.org/drawingml/2006/main">
              <a:ext uri="{FF2B5EF4-FFF2-40B4-BE49-F238E27FC236}">
                <a16:creationId xmlns:a16="http://schemas.microsoft.com/office/drawing/2014/main" id="{BE554C8D-2D82-4D8C-8DF0-2D2DB2F16EBB}"/>
              </a:ext>
            </a:extLst>
          </p:cNvPr>
          <p:cNvSpPr>
            <a:spLocks xmlns:a="http://schemas.openxmlformats.org/drawingml/2006/main" noGrp="1"/>
          </p:cNvSpPr>
          <p:nvPr/>
        </p:nvSpPr>
        <p:spPr>
          <a:xfrm xmlns:a="http://schemas.openxmlformats.org/drawingml/2006/main">
            <a:off x="1809750" y="53435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Check the final patch, required tests, and regressions</a:t>
            </a:r>
          </a:p>
        </p:txBody>
      </p:sp>
    </p:spTree>
    <p:extLst>
      <p:ext uri="{BB962C8B-B14F-4D97-AF65-F5344CB8AC3E}">
        <p14:creationId xmlns:p14="http://schemas.microsoft.com/office/powerpoint/2010/main" val="2064975712"/>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60DE665-F735-4F21-AB8E-FB032E54F2D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Benchmark composition</a:t>
            </a:r>
          </a:p>
        </p:txBody>
      </p:sp>
      <p:sp>
        <p:nvSpPr>
          <p:cNvPr id="2" name="slide-number">
            <a:extLst xmlns:a="http://schemas.openxmlformats.org/drawingml/2006/main">
              <a:ext uri="{FF2B5EF4-FFF2-40B4-BE49-F238E27FC236}">
                <a16:creationId xmlns:a16="http://schemas.microsoft.com/office/drawing/2014/main" id="{04EDCBAA-197A-43D0-B3C7-829BA3050D6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04</a:t>
            </a:r>
          </a:p>
        </p:txBody>
      </p:sp>
      <p:sp>
        <p:nvSpPr>
          <p:cNvPr id="3" name="text-2">
            <a:extLst xmlns:a="http://schemas.openxmlformats.org/drawingml/2006/main">
              <a:ext uri="{FF2B5EF4-FFF2-40B4-BE49-F238E27FC236}">
                <a16:creationId xmlns:a16="http://schemas.microsoft.com/office/drawing/2014/main" id="{566F8DE9-1B1D-461A-A6C0-A6A5AD84428E}"/>
              </a:ext>
            </a:extLst>
          </p:cNvPr>
          <p:cNvSpPr>
            <a:spLocks xmlns:a="http://schemas.openxmlformats.org/drawingml/2006/main" noGrp="1"/>
          </p:cNvSpPr>
          <p:nvPr/>
        </p:nvSpPr>
        <p:spPr>
          <a:xfrm xmlns:a="http://schemas.openxmlformats.org/drawingml/2006/main">
            <a:off x="685800" y="15621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2468C9"/>
                </a:solidFill>
                <a:latin typeface="Helvetica Neue"/>
                <a:ea typeface="Helvetica Neue"/>
                <a:cs typeface="Helvetica Neue"/>
              </a:defRPr>
            </a:pPr>
            <a:r>
              <a:rPr sz="6300" b="1">
                <a:solidFill>
                  <a:srgbClr val="2468C9"/>
                </a:solidFill>
                <a:latin typeface="Helvetica Neue"/>
                <a:ea typeface="Helvetica Neue"/>
                <a:cs typeface="Helvetica Neue"/>
              </a:rPr>
              <a:t>39</a:t>
            </a:r>
          </a:p>
        </p:txBody>
      </p:sp>
      <p:sp>
        <p:nvSpPr>
          <p:cNvPr id="4" name="text-3">
            <a:extLst xmlns:a="http://schemas.openxmlformats.org/drawingml/2006/main">
              <a:ext uri="{FF2B5EF4-FFF2-40B4-BE49-F238E27FC236}">
                <a16:creationId xmlns:a16="http://schemas.microsoft.com/office/drawing/2014/main" id="{24A02D81-DAC7-407D-814B-87C5E0653032}"/>
              </a:ext>
            </a:extLst>
          </p:cNvPr>
          <p:cNvSpPr>
            <a:spLocks xmlns:a="http://schemas.openxmlformats.org/drawingml/2006/main" noGrp="1"/>
          </p:cNvSpPr>
          <p:nvPr/>
        </p:nvSpPr>
        <p:spPr>
          <a:xfrm xmlns:a="http://schemas.openxmlformats.org/drawingml/2006/main">
            <a:off x="2400300" y="19716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unique tasks</a:t>
            </a:r>
          </a:p>
        </p:txBody>
      </p:sp>
      <p:sp>
        <p:nvSpPr>
          <p:cNvPr id="5" name="text-4">
            <a:extLst xmlns:a="http://schemas.openxmlformats.org/drawingml/2006/main">
              <a:ext uri="{FF2B5EF4-FFF2-40B4-BE49-F238E27FC236}">
                <a16:creationId xmlns:a16="http://schemas.microsoft.com/office/drawing/2014/main" id="{71D560ED-6662-4042-A9E7-960DAABA6701}"/>
              </a:ext>
            </a:extLst>
          </p:cNvPr>
          <p:cNvSpPr>
            <a:spLocks xmlns:a="http://schemas.openxmlformats.org/drawingml/2006/main" noGrp="1"/>
          </p:cNvSpPr>
          <p:nvPr/>
        </p:nvSpPr>
        <p:spPr>
          <a:xfrm xmlns:a="http://schemas.openxmlformats.org/drawingml/2006/main">
            <a:off x="6534150" y="15621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7283D"/>
                </a:solidFill>
                <a:latin typeface="Helvetica Neue"/>
                <a:ea typeface="Helvetica Neue"/>
                <a:cs typeface="Helvetica Neue"/>
              </a:defRPr>
            </a:pPr>
            <a:r>
              <a:rPr sz="6300" b="1">
                <a:solidFill>
                  <a:srgbClr val="17283D"/>
                </a:solidFill>
                <a:latin typeface="Helvetica Neue"/>
                <a:ea typeface="Helvetica Neue"/>
                <a:cs typeface="Helvetica Neue"/>
              </a:rPr>
              <a:t>102</a:t>
            </a:r>
          </a:p>
        </p:txBody>
      </p:sp>
      <p:sp>
        <p:nvSpPr>
          <p:cNvPr id="6" name="text-5">
            <a:extLst xmlns:a="http://schemas.openxmlformats.org/drawingml/2006/main">
              <a:ext uri="{FF2B5EF4-FFF2-40B4-BE49-F238E27FC236}">
                <a16:creationId xmlns:a16="http://schemas.microsoft.com/office/drawing/2014/main" id="{CF500986-7675-47C7-882F-EBE2CF2CFE72}"/>
              </a:ext>
            </a:extLst>
          </p:cNvPr>
          <p:cNvSpPr>
            <a:spLocks xmlns:a="http://schemas.openxmlformats.org/drawingml/2006/main" noGrp="1"/>
          </p:cNvSpPr>
          <p:nvPr/>
        </p:nvSpPr>
        <p:spPr>
          <a:xfrm xmlns:a="http://schemas.openxmlformats.org/drawingml/2006/main">
            <a:off x="8896350" y="19716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scored runs</a:t>
            </a:r>
          </a:p>
        </p:txBody>
      </p:sp>
      <p:graphicFrame>
        <p:nvGraphicFramePr>
          <p:cNvPr id="15" name=""/>
          <p:cNvGraphicFramePr/>
          <p:nvPr/>
        </p:nvGraphicFramePr>
        <p:xfrm>
          <a:off xmlns:a="http://schemas.openxmlformats.org/drawingml/2006/main" x="685800" y="2933700"/>
          <a:ext xmlns:a="http://schemas.openxmlformats.org/drawingml/2006/main" cx="10820400" cy="2781300"/>
        </p:xfrm>
        <a:graphic xmlns:a="http://schemas.openxmlformats.org/drawingml/2006/main">
          <a:graphicData uri="http://schemas.openxmlformats.org/drawingml/2006/table">
            <a:tbl>
              <a:tblPr firstRow="0" bandRow="0"/>
              <a:tblGrid>
                <a:gridCol w="3238500"/>
                <a:gridCol w="1524000"/>
                <a:gridCol w="2000250"/>
                <a:gridCol w="4057650"/>
              </a:tblGrid>
              <a:tr h="619125">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Tasks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Repositories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Architectures</a:t>
                      </a:r>
                    </a:p>
                  </a:txBody>
                  <a:tcPr marL="152400" marR="114300" marT="123825" marB="114300" anchor="ctr">
                    <a:solidFill>
                      <a:srgbClr val="17283D"/>
                    </a:solidFill>
                  </a:tcPr>
                </a:tc>
              </a:tr>
              <a:tr h="695325">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11</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FFFFFF"/>
                    </a:solidFill>
                  </a:tcPr>
                </a:tc>
              </a:tr>
              <a:tr h="695325">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6</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EFF2F6"/>
                    </a:solidFill>
                  </a:tcPr>
                </a:tc>
              </a:tr>
              <a:tr h="695325">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15</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3</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a:t>
                      </a:r>
                    </a:p>
                  </a:txBody>
                  <a:tcPr marL="152400" marR="114300" marT="123825" marB="114300"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5FC06F51-CEF9-4845-9AA0-5F5DA70A7824}"/>
              </a:ext>
            </a:extLst>
          </p:cNvPr>
          <p:cNvSpPr>
            <a:spLocks xmlns:a="http://schemas.openxmlformats.org/drawingml/2006/main" noGrp="1"/>
          </p:cNvSpPr>
          <p:nvPr/>
        </p:nvSpPr>
        <p:spPr>
          <a:xfrm xmlns:a="http://schemas.openxmlformats.org/drawingml/2006/main">
            <a:off x="6858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Core: 24 tasks from 17 Python repositories. Two unpaired SQLGlot tasks are excluded.</a:t>
            </a:r>
          </a:p>
        </p:txBody>
      </p:sp>
    </p:spTree>
    <p:extLst>
      <p:ext uri="{BB962C8B-B14F-4D97-AF65-F5344CB8AC3E}">
        <p14:creationId xmlns:p14="http://schemas.microsoft.com/office/powerpoint/2010/main" val="1065125525"/>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0F6E14D-AC91-4D42-AF11-6BBA20DED5F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construction and validation</a:t>
            </a:r>
          </a:p>
        </p:txBody>
      </p:sp>
      <p:sp>
        <p:nvSpPr>
          <p:cNvPr id="2" name="slide-number">
            <a:extLst xmlns:a="http://schemas.openxmlformats.org/drawingml/2006/main">
              <a:ext uri="{FF2B5EF4-FFF2-40B4-BE49-F238E27FC236}">
                <a16:creationId xmlns:a16="http://schemas.microsoft.com/office/drawing/2014/main" id="{DEB5BA61-DB07-46F7-8E31-C06AA812129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685800" y="1790700"/>
          <a:ext xmlns:a="http://schemas.openxmlformats.org/drawingml/2006/main" cx="10820400" cy="3190875"/>
        </p:xfrm>
        <a:graphic xmlns:a="http://schemas.openxmlformats.org/drawingml/2006/main">
          <a:graphicData uri="http://schemas.openxmlformats.org/drawingml/2006/table">
            <a:tbl>
              <a:tblPr firstRow="0" bandRow="0"/>
              <a:tblGrid>
                <a:gridCol w="3429000"/>
                <a:gridCol w="1905000"/>
                <a:gridCol w="2381250"/>
                <a:gridCol w="3105150"/>
              </a:tblGrid>
              <a:tr h="666750">
                <a:tc>
                  <a:txBody>
                    <a:bodyPr>
                      <a:noAutofit/>
                    </a:bodyPr>
                    <a:lstStyle/>
                    <a:p>
                      <a:pPr algn="l"/>
                      <a:r>
                        <a:rPr sz="1800" b="1">
                          <a:solidFill>
                            <a:srgbClr val="FFFFFF"/>
                          </a:solidFill>
                          <a:latin typeface="Helvetica Neue"/>
                          <a:ea typeface="Helvetica Neue"/>
                          <a:cs typeface="Helvetica Neue"/>
                        </a:rPr>
                        <a:t>Test group</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Base state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Reference solution</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Agent access</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Visible tests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During development</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Hidden semantic</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Fail</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evaluation only</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Compatibility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Depends on the suite</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2234A52-3F93-450D-8FCA-8838E5F191B6}"/>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Real upstream changes provide the starting point and reference behavior.</a:t>
            </a:r>
          </a:p>
        </p:txBody>
      </p:sp>
      <p:sp>
        <p:nvSpPr>
          <p:cNvPr id="5" name="text-3">
            <a:extLst xmlns:a="http://schemas.openxmlformats.org/drawingml/2006/main">
              <a:ext uri="{FF2B5EF4-FFF2-40B4-BE49-F238E27FC236}">
                <a16:creationId xmlns:a16="http://schemas.microsoft.com/office/drawing/2014/main" id="{C136AABB-F4FD-48EB-82A0-6C1E6F7D12D9}"/>
              </a:ext>
            </a:extLst>
          </p:cNvPr>
          <p:cNvSpPr>
            <a:spLocks xmlns:a="http://schemas.openxmlformats.org/drawingml/2006/main" noGrp="1"/>
          </p:cNvSpPr>
          <p:nvPr/>
        </p:nvSpPr>
        <p:spPr>
          <a:xfrm xmlns:a="http://schemas.openxmlformats.org/drawingml/2006/main">
            <a:off x="6858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Local descriptions are curated. The SWE Pro importer and validation pipeline automate later steps.</a:t>
            </a:r>
          </a:p>
        </p:txBody>
      </p:sp>
    </p:spTree>
    <p:extLst>
      <p:ext uri="{BB962C8B-B14F-4D97-AF65-F5344CB8AC3E}">
        <p14:creationId xmlns:p14="http://schemas.microsoft.com/office/powerpoint/2010/main" val="1853206355"/>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F2CA25D-D214-4A9E-96C1-0312914E83C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Three architectures</a:t>
            </a:r>
          </a:p>
        </p:txBody>
      </p:sp>
      <p:sp>
        <p:nvSpPr>
          <p:cNvPr id="2" name="slide-number">
            <a:extLst xmlns:a="http://schemas.openxmlformats.org/drawingml/2006/main">
              <a:ext uri="{FF2B5EF4-FFF2-40B4-BE49-F238E27FC236}">
                <a16:creationId xmlns:a16="http://schemas.microsoft.com/office/drawing/2014/main" id="{0884CA36-2D52-460F-9C08-9A564CECCC8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685800" y="1876425"/>
          <a:ext xmlns:a="http://schemas.openxmlformats.org/drawingml/2006/main" cx="10820400" cy="3181350"/>
        </p:xfrm>
        <a:graphic xmlns:a="http://schemas.openxmlformats.org/drawingml/2006/main">
          <a:graphicData uri="http://schemas.openxmlformats.org/drawingml/2006/table">
            <a:tbl>
              <a:tblPr firstRow="0" bandRow="0"/>
              <a:tblGrid>
                <a:gridCol w="2667000"/>
                <a:gridCol w="3810000"/>
                <a:gridCol w="4343400"/>
              </a:tblGrid>
              <a:tr h="666750">
                <a:tc>
                  <a:txBody>
                    <a:bodyPr>
                      <a:noAutofit/>
                    </a:bodyPr>
                    <a:lstStyle/>
                    <a:p>
                      <a:pPr algn="l"/>
                      <a:r>
                        <a:rPr sz="1800" b="1">
                          <a:solidFill>
                            <a:srgbClr val="FFFFFF"/>
                          </a:solidFill>
                          <a:latin typeface="Helvetica Neue"/>
                          <a:ea typeface="Helvetica Neue"/>
                          <a:cs typeface="Helvetica Neue"/>
                        </a:rPr>
                        <a:t>Architecture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Control policy</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Responsibility</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Single</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One development loop</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Research, code, test, repair</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Multi-graph</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Deterministic role routing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Planner, developer, tester, reviewer</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Guarded</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Supervisor with phase rules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Delegation with enforced checks</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FFB4862-706E-4C82-8E68-CBA38F8D986B}"/>
              </a:ext>
            </a:extLst>
          </p:cNvPr>
          <p:cNvSpPr>
            <a:spLocks xmlns:a="http://schemas.openxmlformats.org/drawingml/2006/main" noGrp="1"/>
          </p:cNvSpPr>
          <p:nvPr/>
        </p:nvSpPr>
        <p:spPr>
          <a:xfrm xmlns:a="http://schemas.openxmlformats.org/drawingml/2006/main">
            <a:off x="685800" y="55054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Shared executor and evaluator. Sequential roles with separate contexts.</a:t>
            </a:r>
          </a:p>
        </p:txBody>
      </p:sp>
    </p:spTree>
    <p:extLst>
      <p:ext uri="{BB962C8B-B14F-4D97-AF65-F5344CB8AC3E}">
        <p14:creationId xmlns:p14="http://schemas.microsoft.com/office/powerpoint/2010/main" val="205335842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1980D11-66B8-4645-9D5D-7FCD6FA70A02}"/>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Evaluation and agent metrics</a:t>
            </a:r>
          </a:p>
        </p:txBody>
      </p:sp>
      <p:sp>
        <p:nvSpPr>
          <p:cNvPr id="2" name="slide-number">
            <a:extLst xmlns:a="http://schemas.openxmlformats.org/drawingml/2006/main">
              <a:ext uri="{FF2B5EF4-FFF2-40B4-BE49-F238E27FC236}">
                <a16:creationId xmlns:a16="http://schemas.microsoft.com/office/drawing/2014/main" id="{AC2D5D7F-259B-491B-BA75-CC9CDF65A93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EE51710A-8F3F-4EEC-B906-D5D7615557D0}"/>
              </a:ext>
            </a:extLst>
          </p:cNvPr>
          <p:cNvSpPr>
            <a:spLocks xmlns:a="http://schemas.openxmlformats.org/drawingml/2006/main" noGrp="1"/>
          </p:cNvSpPr>
          <p:nvPr/>
        </p:nvSpPr>
        <p:spPr>
          <a:xfrm xmlns:a="http://schemas.openxmlformats.org/drawingml/2006/main">
            <a:off x="685800" y="165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Final success requires</a:t>
            </a:r>
          </a:p>
        </p:txBody>
      </p:sp>
      <p:sp>
        <p:nvSpPr>
          <p:cNvPr id="4" name="text-3">
            <a:extLst xmlns:a="http://schemas.openxmlformats.org/drawingml/2006/main">
              <a:ext uri="{FF2B5EF4-FFF2-40B4-BE49-F238E27FC236}">
                <a16:creationId xmlns:a16="http://schemas.microsoft.com/office/drawing/2014/main" id="{6A0B7F39-1E4B-45D8-9653-186414392E9A}"/>
              </a:ext>
            </a:extLst>
          </p:cNvPr>
          <p:cNvSpPr>
            <a:spLocks xmlns:a="http://schemas.openxmlformats.org/drawingml/2006/main" noGrp="1"/>
          </p:cNvSpPr>
          <p:nvPr/>
        </p:nvSpPr>
        <p:spPr>
          <a:xfrm xmlns:a="http://schemas.openxmlformats.org/drawingml/2006/main">
            <a:off x="685800" y="2247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Visible and required hidden tests pass</a:t>
            </a:r>
          </a:p>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No regressions or detected test-oracle tampering</a:t>
            </a:r>
          </a:p>
        </p:txBody>
      </p:sp>
      <p:sp>
        <p:nvSpPr>
          <p:cNvPr id="5" name="text-4">
            <a:extLst xmlns:a="http://schemas.openxmlformats.org/drawingml/2006/main">
              <a:ext uri="{FF2B5EF4-FFF2-40B4-BE49-F238E27FC236}">
                <a16:creationId xmlns:a16="http://schemas.microsoft.com/office/drawing/2014/main" id="{4C494342-41E1-4943-B41C-A1D213A95E05}"/>
              </a:ext>
            </a:extLst>
          </p:cNvPr>
          <p:cNvSpPr>
            <a:spLocks xmlns:a="http://schemas.openxmlformats.org/drawingml/2006/main" noGrp="1"/>
          </p:cNvSpPr>
          <p:nvPr/>
        </p:nvSpPr>
        <p:spPr>
          <a:xfrm xmlns:a="http://schemas.openxmlformats.org/drawingml/2006/main">
            <a:off x="685800" y="3867150"/>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Outcome and efficiency</a:t>
            </a:r>
          </a:p>
        </p:txBody>
      </p:sp>
      <p:sp>
        <p:nvSpPr>
          <p:cNvPr id="6" name="text-5">
            <a:extLst xmlns:a="http://schemas.openxmlformats.org/drawingml/2006/main">
              <a:ext uri="{FF2B5EF4-FFF2-40B4-BE49-F238E27FC236}">
                <a16:creationId xmlns:a16="http://schemas.microsoft.com/office/drawing/2014/main" id="{8C4D8683-26B4-4DB1-A587-50D5F30AF7FD}"/>
              </a:ext>
            </a:extLst>
          </p:cNvPr>
          <p:cNvSpPr>
            <a:spLocks xmlns:a="http://schemas.openxmlformats.org/drawingml/2006/main" noGrp="1"/>
          </p:cNvSpPr>
          <p:nvPr/>
        </p:nvSpPr>
        <p:spPr>
          <a:xfrm xmlns:a="http://schemas.openxmlformats.org/drawingml/2006/main">
            <a:off x="685800" y="44577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Resolved@1</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Cost per solved task</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Tokens, calls, steps, duration</a:t>
            </a:r>
          </a:p>
        </p:txBody>
      </p:sp>
      <p:sp>
        <p:nvSpPr>
          <p:cNvPr id="7" name="text-6">
            <a:extLst xmlns:a="http://schemas.openxmlformats.org/drawingml/2006/main">
              <a:ext uri="{FF2B5EF4-FFF2-40B4-BE49-F238E27FC236}">
                <a16:creationId xmlns:a16="http://schemas.microsoft.com/office/drawing/2014/main" id="{B5A32C14-2F65-4158-AEA0-6915C740E626}"/>
              </a:ext>
            </a:extLst>
          </p:cNvPr>
          <p:cNvSpPr>
            <a:spLocks xmlns:a="http://schemas.openxmlformats.org/drawingml/2006/main" noGrp="1"/>
          </p:cNvSpPr>
          <p:nvPr/>
        </p:nvSpPr>
        <p:spPr>
          <a:xfrm xmlns:a="http://schemas.openxmlformats.org/drawingml/2006/main">
            <a:off x="6457950" y="38671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Behavioral diagnostics</a:t>
            </a:r>
          </a:p>
        </p:txBody>
      </p:sp>
      <p:sp>
        <p:nvSpPr>
          <p:cNvPr id="8" name="text-7">
            <a:extLst xmlns:a="http://schemas.openxmlformats.org/drawingml/2006/main">
              <a:ext uri="{FF2B5EF4-FFF2-40B4-BE49-F238E27FC236}">
                <a16:creationId xmlns:a16="http://schemas.microsoft.com/office/drawing/2014/main" id="{D4F49073-6C1E-4A02-86DB-89680171BABB}"/>
              </a:ext>
            </a:extLst>
          </p:cNvPr>
          <p:cNvSpPr>
            <a:spLocks xmlns:a="http://schemas.openxmlformats.org/drawingml/2006/main" noGrp="1"/>
          </p:cNvSpPr>
          <p:nvPr/>
        </p:nvSpPr>
        <p:spPr>
          <a:xfrm xmlns:a="http://schemas.openxmlformats.org/drawingml/2006/main">
            <a:off x="6457950" y="44577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Tool-use validity</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Repair and visible/final gaps</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Explicitly defined proxy metrics</a:t>
            </a:r>
          </a:p>
        </p:txBody>
      </p:sp>
    </p:spTree>
    <p:extLst>
      <p:ext uri="{BB962C8B-B14F-4D97-AF65-F5344CB8AC3E}">
        <p14:creationId xmlns:p14="http://schemas.microsoft.com/office/powerpoint/2010/main" val="197096767"/>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BB8FCD0-4D75-4C89-869E-509CD5A3313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choice and execution budgets</a:t>
            </a:r>
          </a:p>
        </p:txBody>
      </p:sp>
      <p:sp>
        <p:nvSpPr>
          <p:cNvPr id="2" name="slide-number">
            <a:extLst xmlns:a="http://schemas.openxmlformats.org/drawingml/2006/main">
              <a:ext uri="{FF2B5EF4-FFF2-40B4-BE49-F238E27FC236}">
                <a16:creationId xmlns:a16="http://schemas.microsoft.com/office/drawing/2014/main" id="{2CDBE683-21E4-4A4F-9CC7-DD3C77D0D06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4B322A22-E71F-495F-BB7B-7DA9CFFE24C7}"/>
              </a:ext>
            </a:extLst>
          </p:cNvPr>
          <p:cNvSpPr>
            <a:spLocks xmlns:a="http://schemas.openxmlformats.org/drawingml/2006/main" noGrp="1"/>
          </p:cNvSpPr>
          <p:nvPr/>
        </p:nvSpPr>
        <p:spPr>
          <a:xfrm xmlns:a="http://schemas.openxmlformats.org/drawingml/2006/main">
            <a:off x="685800" y="15906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Primary model: GLM-5.2 through OpenRouter</a:t>
            </a:r>
          </a:p>
        </p:txBody>
      </p:sp>
      <p:graphicFrame>
        <p:nvGraphicFramePr>
          <p:cNvPr id="11" name=""/>
          <p:cNvGraphicFramePr/>
          <p:nvPr/>
        </p:nvGraphicFramePr>
        <p:xfrm>
          <a:off xmlns:a="http://schemas.openxmlformats.org/drawingml/2006/main" x="685800" y="2428875"/>
          <a:ext xmlns:a="http://schemas.openxmlformats.org/drawingml/2006/main" cx="10820400" cy="2686050"/>
        </p:xfrm>
        <a:graphic xmlns:a="http://schemas.openxmlformats.org/drawingml/2006/main">
          <a:graphicData uri="http://schemas.openxmlformats.org/drawingml/2006/table">
            <a:tbl>
              <a:tblPr firstRow="0" bandRow="0"/>
              <a:tblGrid>
                <a:gridCol w="5867400"/>
                <a:gridCol w="2476500"/>
                <a:gridCol w="2476500"/>
              </a:tblGrid>
              <a:tr h="628650">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Multi-agent</a:t>
                      </a:r>
                    </a:p>
                  </a:txBody>
                  <a:tcPr marL="152400" marR="114300" marT="123825" marB="114300" anchor="ctr">
                    <a:solidFill>
                      <a:srgbClr val="17283D"/>
                    </a:solidFill>
                  </a:tcPr>
                </a:tc>
              </a:tr>
              <a:tr h="647700">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r>
              <a:tr h="647700">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EFF2F6"/>
                    </a:solidFill>
                  </a:tcPr>
                </a:tc>
              </a:tr>
              <a:tr h="647700">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E6C6590-1BBB-4B1F-A797-FC7D1E64228F}"/>
              </a:ext>
            </a:extLst>
          </p:cNvPr>
          <p:cNvSpPr>
            <a:spLocks xmlns:a="http://schemas.openxmlformats.org/drawingml/2006/main" noGrp="1"/>
          </p:cNvSpPr>
          <p:nvPr/>
        </p:nvSpPr>
        <p:spPr>
          <a:xfrm xmlns:a="http://schemas.openxmlformats.org/drawingml/2006/main">
            <a:off x="685800" y="519112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SWE Pro initial output limit: single 16,384 tokens, graph 4,096.</a:t>
            </a:r>
          </a:p>
        </p:txBody>
      </p:sp>
      <p:sp>
        <p:nvSpPr>
          <p:cNvPr id="6" name="text-4">
            <a:extLst xmlns:a="http://schemas.openxmlformats.org/drawingml/2006/main">
              <a:ext uri="{FF2B5EF4-FFF2-40B4-BE49-F238E27FC236}">
                <a16:creationId xmlns:a16="http://schemas.microsoft.com/office/drawing/2014/main" id="{2394BE40-5ED9-4530-A3BD-0093678BBA8F}"/>
              </a:ext>
            </a:extLst>
          </p:cNvPr>
          <p:cNvSpPr>
            <a:spLocks xmlns:a="http://schemas.openxmlformats.org/drawingml/2006/main" noGrp="1"/>
          </p:cNvSpPr>
          <p:nvPr/>
        </p:nvSpPr>
        <p:spPr>
          <a:xfrm xmlns:a="http://schemas.openxmlformats.org/drawingml/2006/main">
            <a:off x="685800" y="561975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Local pilot: slow execution and insufficient solution quality</a:t>
            </a:r>
          </a:p>
        </p:txBody>
      </p:sp>
      <p:sp>
        <p:nvSpPr>
          <p:cNvPr id="7" name="text-5">
            <a:extLst xmlns:a="http://schemas.openxmlformats.org/drawingml/2006/main">
              <a:ext uri="{FF2B5EF4-FFF2-40B4-BE49-F238E27FC236}">
                <a16:creationId xmlns:a16="http://schemas.microsoft.com/office/drawing/2014/main" id="{F8CE5012-12D7-472F-B094-CEC1919552ED}"/>
              </a:ext>
            </a:extLst>
          </p:cNvPr>
          <p:cNvSpPr>
            <a:spLocks xmlns:a="http://schemas.openxmlformats.org/drawingml/2006/main" noGrp="1"/>
          </p:cNvSpPr>
          <p:nvPr/>
        </p:nvSpPr>
        <p:spPr>
          <a:xfrm xmlns:a="http://schemas.openxmlformats.org/drawingml/2006/main">
            <a:off x="685800" y="60769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Author-reported feasibility observation. No quantified pilot results in the saved artifacts.</a:t>
            </a:r>
          </a:p>
        </p:txBody>
      </p:sp>
    </p:spTree>
    <p:extLst>
      <p:ext uri="{BB962C8B-B14F-4D97-AF65-F5344CB8AC3E}">
        <p14:creationId xmlns:p14="http://schemas.microsoft.com/office/powerpoint/2010/main" val="1431638088"/>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0C8F7A5-0273-4991-A77B-B40719CB867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Success rates by benchmark block</a:t>
            </a:r>
          </a:p>
        </p:txBody>
      </p:sp>
      <p:sp>
        <p:nvSpPr>
          <p:cNvPr id="2" name="slide-number">
            <a:extLst xmlns:a="http://schemas.openxmlformats.org/drawingml/2006/main">
              <a:ext uri="{FF2B5EF4-FFF2-40B4-BE49-F238E27FC236}">
                <a16:creationId xmlns:a16="http://schemas.microsoft.com/office/drawing/2014/main" id="{B4CBC540-1DFA-4E3F-813B-02633F1BCCE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42E7C5AF-CF56-412C-9AB1-DA925E0593C4}"/>
              </a:ext>
            </a:extLst>
          </p:cNvPr>
          <p:cNvSpPr>
            <a:spLocks xmlns:a="http://schemas.openxmlformats.org/drawingml/2006/main" noGrp="1"/>
          </p:cNvSpPr>
          <p:nvPr/>
        </p:nvSpPr>
        <p:spPr>
          <a:xfrm xmlns:a="http://schemas.openxmlformats.org/drawingml/2006/main">
            <a:off x="6858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small</a:t>
            </a:r>
          </a:p>
        </p:txBody>
      </p:sp>
      <p:sp>
        <p:nvSpPr>
          <p:cNvPr id="4" name="text-3">
            <a:extLst xmlns:a="http://schemas.openxmlformats.org/drawingml/2006/main">
              <a:ext uri="{FF2B5EF4-FFF2-40B4-BE49-F238E27FC236}">
                <a16:creationId xmlns:a16="http://schemas.microsoft.com/office/drawing/2014/main" id="{6CDC6BB0-AC9D-42A4-B341-2170D529F4AF}"/>
              </a:ext>
            </a:extLst>
          </p:cNvPr>
          <p:cNvSpPr>
            <a:spLocks xmlns:a="http://schemas.openxmlformats.org/drawingml/2006/main" noGrp="1"/>
          </p:cNvSpPr>
          <p:nvPr/>
        </p:nvSpPr>
        <p:spPr>
          <a:xfrm xmlns:a="http://schemas.openxmlformats.org/drawingml/2006/main">
            <a:off x="44577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medium</a:t>
            </a:r>
          </a:p>
        </p:txBody>
      </p:sp>
      <p:sp>
        <p:nvSpPr>
          <p:cNvPr id="5" name="text-4">
            <a:extLst xmlns:a="http://schemas.openxmlformats.org/drawingml/2006/main">
              <a:ext uri="{FF2B5EF4-FFF2-40B4-BE49-F238E27FC236}">
                <a16:creationId xmlns:a16="http://schemas.microsoft.com/office/drawing/2014/main" id="{7DEDD521-0C15-4045-899E-74B9920D4CDA}"/>
              </a:ext>
            </a:extLst>
          </p:cNvPr>
          <p:cNvSpPr>
            <a:spLocks xmlns:a="http://schemas.openxmlformats.org/drawingml/2006/main" noGrp="1"/>
          </p:cNvSpPr>
          <p:nvPr/>
        </p:nvSpPr>
        <p:spPr>
          <a:xfrm xmlns:a="http://schemas.openxmlformats.org/drawingml/2006/main">
            <a:off x="82296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SWE Pro subset</a:t>
            </a:r>
          </a:p>
        </p:txBody>
      </p:sp>
      <p:graphicFrame>
        <p:nvGraphicFramePr>
          <p:cNvPr id="17" name="Chart"/>
          <p:cNvGraphicFramePr/>
          <p:nvPr/>
        </p:nvGraphicFramePr>
        <p:xfrm>
          <a:off xmlns:a="http://schemas.openxmlformats.org/drawingml/2006/main" x="5143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68ba6f7ef60e4869"/>
          </a:graphicData>
        </a:graphic>
      </p:graphicFrame>
      <p:graphicFrame>
        <p:nvGraphicFramePr>
          <p:cNvPr id="18" name="Chart"/>
          <p:cNvGraphicFramePr/>
          <p:nvPr/>
        </p:nvGraphicFramePr>
        <p:xfrm>
          <a:off xmlns:a="http://schemas.openxmlformats.org/drawingml/2006/main" x="42862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9b6dc021f36c4f57"/>
          </a:graphicData>
        </a:graphic>
      </p:graphicFrame>
      <p:graphicFrame>
        <p:nvGraphicFramePr>
          <p:cNvPr id="19" name="Chart"/>
          <p:cNvGraphicFramePr/>
          <p:nvPr/>
        </p:nvGraphicFramePr>
        <p:xfrm>
          <a:off xmlns:a="http://schemas.openxmlformats.org/drawingml/2006/main" x="80581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f1c5216978804012"/>
          </a:graphicData>
        </a:graphic>
      </p:graphicFrame>
      <p:sp>
        <p:nvSpPr>
          <p:cNvPr id="9" name="text-5">
            <a:extLst xmlns:a="http://schemas.openxmlformats.org/drawingml/2006/main">
              <a:ext uri="{FF2B5EF4-FFF2-40B4-BE49-F238E27FC236}">
                <a16:creationId xmlns:a16="http://schemas.microsoft.com/office/drawing/2014/main" id="{8CCEF77E-FA41-4418-B5E6-E9DC4C401A52}"/>
              </a:ext>
            </a:extLst>
          </p:cNvPr>
          <p:cNvSpPr>
            <a:spLocks xmlns:a="http://schemas.openxmlformats.org/drawingml/2006/main" noGrp="1"/>
          </p:cNvSpPr>
          <p:nvPr/>
        </p:nvSpPr>
        <p:spPr>
          <a:xfrm xmlns:a="http://schemas.openxmlformats.org/drawingml/2006/main">
            <a:off x="6858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50 steps for all</a:t>
            </a:r>
          </a:p>
        </p:txBody>
      </p:sp>
      <p:sp>
        <p:nvSpPr>
          <p:cNvPr id="10" name="text-6">
            <a:extLst xmlns:a="http://schemas.openxmlformats.org/drawingml/2006/main">
              <a:ext uri="{FF2B5EF4-FFF2-40B4-BE49-F238E27FC236}">
                <a16:creationId xmlns:a16="http://schemas.microsoft.com/office/drawing/2014/main" id="{F67A3474-D013-41FF-8E31-2FA71DE8E230}"/>
              </a:ext>
            </a:extLst>
          </p:cNvPr>
          <p:cNvSpPr>
            <a:spLocks xmlns:a="http://schemas.openxmlformats.org/drawingml/2006/main" noGrp="1"/>
          </p:cNvSpPr>
          <p:nvPr/>
        </p:nvSpPr>
        <p:spPr>
          <a:xfrm xmlns:a="http://schemas.openxmlformats.org/drawingml/2006/main">
            <a:off x="44577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multi 75</a:t>
            </a:r>
          </a:p>
        </p:txBody>
      </p:sp>
      <p:sp>
        <p:nvSpPr>
          <p:cNvPr id="11" name="text-7">
            <a:extLst xmlns:a="http://schemas.openxmlformats.org/drawingml/2006/main">
              <a:ext uri="{FF2B5EF4-FFF2-40B4-BE49-F238E27FC236}">
                <a16:creationId xmlns:a16="http://schemas.microsoft.com/office/drawing/2014/main" id="{C2D1B965-6E7B-48A7-8C43-35DAE1489DFA}"/>
              </a:ext>
            </a:extLst>
          </p:cNvPr>
          <p:cNvSpPr>
            <a:spLocks xmlns:a="http://schemas.openxmlformats.org/drawingml/2006/main" noGrp="1"/>
          </p:cNvSpPr>
          <p:nvPr/>
        </p:nvSpPr>
        <p:spPr>
          <a:xfrm xmlns:a="http://schemas.openxmlformats.org/drawingml/2006/main">
            <a:off x="8229600" y="5772150"/>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graph 75</a:t>
            </a:r>
          </a:p>
        </p:txBody>
      </p:sp>
    </p:spTree>
    <p:extLst>
      <p:ext uri="{BB962C8B-B14F-4D97-AF65-F5344CB8AC3E}">
        <p14:creationId xmlns:p14="http://schemas.microsoft.com/office/powerpoint/2010/main" val="1700618358"/>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EBDA01C-4D2F-4333-9746-3B8FD2B5401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Functional quality results</a:t>
            </a:r>
          </a:p>
        </p:txBody>
      </p:sp>
      <p:sp>
        <p:nvSpPr>
          <p:cNvPr id="2" name="slide-number">
            <a:extLst xmlns:a="http://schemas.openxmlformats.org/drawingml/2006/main">
              <a:ext uri="{FF2B5EF4-FFF2-40B4-BE49-F238E27FC236}">
                <a16:creationId xmlns:a16="http://schemas.microsoft.com/office/drawing/2014/main" id="{D173FFAD-8A90-46A0-A373-8ABB69E6B92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10</a:t>
            </a:r>
          </a:p>
        </p:txBody>
      </p:sp>
      <p:sp>
        <p:nvSpPr>
          <p:cNvPr id="3" name="text-2">
            <a:extLst xmlns:a="http://schemas.openxmlformats.org/drawingml/2006/main">
              <a:ext uri="{FF2B5EF4-FFF2-40B4-BE49-F238E27FC236}">
                <a16:creationId xmlns:a16="http://schemas.microsoft.com/office/drawing/2014/main" id="{40EE1D77-4C5C-4BD2-B730-8406FA0C1897}"/>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Small 50/50 steps, medium 50/75.</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725"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800" b="0">
                          <a:solidFill>
                            <a:srgbClr val="17283D"/>
                          </a:solidFill>
                          <a:latin typeface="Helvetica Neue"/>
                          <a:ea typeface="Helvetica Neue"/>
                          <a:cs typeface="Helvetica Neue"/>
                        </a:rPr>
                        <a:t>Resolved@1</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Visible suite pass rate</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100% (24/24)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95.8% (23/24)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Required hidden suite pass</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Runs with regressions</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4.2% (1/24)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Human handoff rate</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D979D6A9-64A7-411C-836A-2BF941854CA5}"/>
              </a:ext>
            </a:extLst>
          </p:cNvPr>
          <p:cNvSpPr>
            <a:spLocks xmlns:a="http://schemas.openxmlformats.org/drawingml/2006/main" noGrp="1"/>
          </p:cNvSpPr>
          <p:nvPr/>
        </p:nvSpPr>
        <p:spPr>
          <a:xfrm xmlns:a="http://schemas.openxmlformats.org/drawingml/2006/main">
            <a:off x="685800" y="58007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Rubric quality score: N/A for all 102 final runs.</a:t>
            </a:r>
          </a:p>
        </p:txBody>
      </p:sp>
      <p:sp>
        <p:nvSpPr>
          <p:cNvPr id="6" name="text-4">
            <a:extLst xmlns:a="http://schemas.openxmlformats.org/drawingml/2006/main">
              <a:ext uri="{FF2B5EF4-FFF2-40B4-BE49-F238E27FC236}">
                <a16:creationId xmlns:a16="http://schemas.microsoft.com/office/drawing/2014/main" id="{707BD2A1-DD78-4AC4-A89D-0B3639D4940B}"/>
              </a:ext>
            </a:extLst>
          </p:cNvPr>
          <p:cNvSpPr>
            <a:spLocks xmlns:a="http://schemas.openxmlformats.org/drawingml/2006/main" noGrp="1"/>
          </p:cNvSpPr>
          <p:nvPr/>
        </p:nvSpPr>
        <p:spPr>
          <a:xfrm xmlns:a="http://schemas.openxmlformats.org/drawingml/2006/main">
            <a:off x="685800" y="6181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No measured ranking for maintainability, robustness, or safety.</a:t>
            </a:r>
          </a:p>
        </p:txBody>
      </p:sp>
    </p:spTree>
    <p:extLst>
      <p:ext uri="{BB962C8B-B14F-4D97-AF65-F5344CB8AC3E}">
        <p14:creationId xmlns:p14="http://schemas.microsoft.com/office/powerpoint/2010/main" val="327424070"/>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C31E5A2-A3E4-4316-9258-D191B34F23A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AI and agent metric results</a:t>
            </a:r>
          </a:p>
        </p:txBody>
      </p:sp>
      <p:sp>
        <p:nvSpPr>
          <p:cNvPr id="2" name="slide-number">
            <a:extLst xmlns:a="http://schemas.openxmlformats.org/drawingml/2006/main">
              <a:ext uri="{FF2B5EF4-FFF2-40B4-BE49-F238E27FC236}">
                <a16:creationId xmlns:a16="http://schemas.microsoft.com/office/drawing/2014/main" id="{FE79B2F0-9E5E-4BE8-AA0F-0E1F253E46A1}"/>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3F79AAB1-82D5-43CE-B634-0E7DB8C42B7A}"/>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Counts show each denominator.</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6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72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 (462/481)</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95.3% (729/765)</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96.2% (692/719)</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0.79</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1.33</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8.3% (2/24)</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4.5% (1/22)</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8.7% (2/23)</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(21/21)</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94.1% (16/17)</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94.7% (18/19)</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7E5EA05-1356-4ED1-857F-43AC7E45EE3D}"/>
              </a:ext>
            </a:extLst>
          </p:cNvPr>
          <p:cNvSpPr>
            <a:spLocks xmlns:a="http://schemas.openxmlformats.org/drawingml/2006/main" noGrp="1"/>
          </p:cNvSpPr>
          <p:nvPr/>
        </p:nvSpPr>
        <p:spPr>
          <a:xfrm xmlns:a="http://schemas.openxmlformats.org/drawingml/2006/main">
            <a:off x="685800" y="5810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68C9"/>
                </a:solidFill>
                <a:latin typeface="Helvetica Neue"/>
                <a:ea typeface="Helvetica Neue"/>
                <a:cs typeface="Helvetica Neue"/>
              </a:defRPr>
            </a:pPr>
            <a:r>
              <a:rPr sz="1950" b="1">
                <a:solidFill>
                  <a:srgbClr val="2468C9"/>
                </a:solidFill>
                <a:latin typeface="Helvetica Neue"/>
                <a:ea typeface="Helvetica Neue"/>
                <a:cs typeface="Helvetica Neue"/>
              </a:rPr>
              <a:t>*Operational proxies. Exact definitions appear in the appendix.</a:t>
            </a:r>
          </a:p>
        </p:txBody>
      </p:sp>
      <p:sp>
        <p:nvSpPr>
          <p:cNvPr id="6" name="text-4">
            <a:extLst xmlns:a="http://schemas.openxmlformats.org/drawingml/2006/main">
              <a:ext uri="{FF2B5EF4-FFF2-40B4-BE49-F238E27FC236}">
                <a16:creationId xmlns:a16="http://schemas.microsoft.com/office/drawing/2014/main" id="{D7D38F71-F46F-4DCA-B2B0-179D1BEB6126}"/>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Changed files and valid actions do not establish code quality.</a:t>
            </a:r>
          </a:p>
        </p:txBody>
      </p:sp>
    </p:spTree>
    <p:extLst>
      <p:ext uri="{BB962C8B-B14F-4D97-AF65-F5344CB8AC3E}">
        <p14:creationId xmlns:p14="http://schemas.microsoft.com/office/powerpoint/2010/main" val="1524427863"/>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FB90324-CE5B-4D15-9465-A058D7CE4B6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Graph cost more on the 39 shared tasks</a:t>
            </a:r>
          </a:p>
        </p:txBody>
      </p:sp>
      <p:sp>
        <p:nvSpPr>
          <p:cNvPr id="2" name="slide-number">
            <a:extLst xmlns:a="http://schemas.openxmlformats.org/drawingml/2006/main">
              <a:ext uri="{FF2B5EF4-FFF2-40B4-BE49-F238E27FC236}">
                <a16:creationId xmlns:a16="http://schemas.microsoft.com/office/drawing/2014/main" id="{958C034C-E6D3-4FA1-94B5-FF39007A767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6EBA9CB0-C49E-430C-AB14-9567AB450AF6}"/>
              </a:ext>
            </a:extLst>
          </p:cNvPr>
          <p:cNvSpPr>
            <a:spLocks xmlns:a="http://schemas.openxmlformats.org/drawingml/2006/main" noGrp="1"/>
          </p:cNvSpPr>
          <p:nvPr/>
        </p:nvSpPr>
        <p:spPr>
          <a:xfrm xmlns:a="http://schemas.openxmlformats.org/drawingml/2006/main">
            <a:off x="685800" y="1714500"/>
            <a:ext cx="466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D27820"/>
                </a:solidFill>
                <a:latin typeface="Helvetica Neue"/>
                <a:ea typeface="Helvetica Neue"/>
                <a:cs typeface="Helvetica Neue"/>
              </a:defRPr>
            </a:pPr>
            <a:r>
              <a:rPr sz="7800" b="1">
                <a:solidFill>
                  <a:srgbClr val="D27820"/>
                </a:solidFill>
                <a:latin typeface="Helvetica Neue"/>
                <a:ea typeface="Helvetica Neue"/>
                <a:cs typeface="Helvetica Neue"/>
              </a:rPr>
              <a:t>18.6%</a:t>
            </a:r>
          </a:p>
        </p:txBody>
      </p:sp>
      <p:sp>
        <p:nvSpPr>
          <p:cNvPr id="4" name="text-3">
            <a:extLst xmlns:a="http://schemas.openxmlformats.org/drawingml/2006/main">
              <a:ext uri="{FF2B5EF4-FFF2-40B4-BE49-F238E27FC236}">
                <a16:creationId xmlns:a16="http://schemas.microsoft.com/office/drawing/2014/main" id="{028DD5A6-5D1F-4EE1-907B-3FB69FCB8EE9}"/>
              </a:ext>
            </a:extLst>
          </p:cNvPr>
          <p:cNvSpPr>
            <a:spLocks xmlns:a="http://schemas.openxmlformats.org/drawingml/2006/main" noGrp="1"/>
          </p:cNvSpPr>
          <p:nvPr/>
        </p:nvSpPr>
        <p:spPr>
          <a:xfrm xmlns:a="http://schemas.openxmlformats.org/drawingml/2006/main">
            <a:off x="723900" y="30575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higher total cost for graph</a:t>
            </a:r>
          </a:p>
        </p:txBody>
      </p:sp>
      <p:graphicFrame>
        <p:nvGraphicFramePr>
          <p:cNvPr id="11" name=""/>
          <p:cNvGraphicFramePr/>
          <p:nvPr/>
        </p:nvGraphicFramePr>
        <p:xfrm>
          <a:off xmlns:a="http://schemas.openxmlformats.org/drawingml/2006/main" x="4953000" y="1800225"/>
          <a:ext xmlns:a="http://schemas.openxmlformats.org/drawingml/2006/main" cx="6819900" cy="3476625"/>
        </p:xfrm>
        <a:graphic xmlns:a="http://schemas.openxmlformats.org/drawingml/2006/main">
          <a:graphicData uri="http://schemas.openxmlformats.org/drawingml/2006/table">
            <a:tbl>
              <a:tblPr firstRow="0" bandRow="0"/>
              <a:tblGrid>
                <a:gridCol w="3162300"/>
                <a:gridCol w="1828800"/>
                <a:gridCol w="1828800"/>
              </a:tblGrid>
              <a:tr h="666750">
                <a:tc>
                  <a:txBody>
                    <a:bodyPr>
                      <a:noAutofit/>
                    </a:bodyPr>
                    <a:lstStyle/>
                    <a:p>
                      <a:pPr algn="l"/>
                      <a:r>
                        <a:rPr sz="19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Graph</a:t>
                      </a:r>
                    </a:p>
                  </a:txBody>
                  <a:tcPr marL="152400" marR="114300" marT="123825" marB="114300" anchor="ctr">
                    <a:solidFill>
                      <a:srgbClr val="17283D"/>
                    </a:solidFill>
                  </a:tcPr>
                </a:tc>
              </a:tr>
              <a:tr h="876300">
                <a:tc>
                  <a:txBody>
                    <a:bodyPr>
                      <a:noAutofit/>
                    </a:bodyPr>
                    <a:lstStyle/>
                    <a:p>
                      <a:pPr algn="l"/>
                      <a:r>
                        <a:rPr sz="2025" b="0">
                          <a:solidFill>
                            <a:srgbClr val="17283D"/>
                          </a:solidFill>
                          <a:latin typeface="Helvetica Neue"/>
                          <a:ea typeface="Helvetica Neue"/>
                          <a:cs typeface="Helvetica Neue"/>
                        </a:rPr>
                        <a:t>Resolved</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31/39</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30/39</a:t>
                      </a:r>
                    </a:p>
                  </a:txBody>
                  <a:tcPr marL="152400" marR="114300" marT="123825" marB="114300" anchor="ctr">
                    <a:solidFill>
                      <a:srgbClr val="FFFFFF"/>
                    </a:solidFill>
                  </a:tcPr>
                </a:tc>
              </a:tr>
              <a:tr h="876300">
                <a:tc>
                  <a:txBody>
                    <a:bodyPr>
                      <a:noAutofit/>
                    </a:bodyPr>
                    <a:lstStyle/>
                    <a:p>
                      <a:pPr algn="l"/>
                      <a:r>
                        <a:rPr sz="2025" b="0">
                          <a:solidFill>
                            <a:srgbClr val="17283D"/>
                          </a:solidFill>
                          <a:latin typeface="Helvetica Neue"/>
                          <a:ea typeface="Helvetica Neue"/>
                          <a:cs typeface="Helvetica Neue"/>
                        </a:rPr>
                        <a:t>Total cost</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$4.1605</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$4.9328</a:t>
                      </a:r>
                    </a:p>
                  </a:txBody>
                  <a:tcPr marL="152400" marR="114300" marT="123825" marB="114300" anchor="ctr">
                    <a:solidFill>
                      <a:srgbClr val="EFF2F6"/>
                    </a:solidFill>
                  </a:tcPr>
                </a:tc>
              </a:tr>
              <a:tr h="876300">
                <a:tc>
                  <a:txBody>
                    <a:bodyPr>
                      <a:noAutofit/>
                    </a:bodyPr>
                    <a:lstStyle/>
                    <a:p>
                      <a:pPr algn="l"/>
                      <a:r>
                        <a:rPr sz="2025" b="0">
                          <a:solidFill>
                            <a:srgbClr val="17283D"/>
                          </a:solidFill>
                          <a:latin typeface="Helvetica Neue"/>
                          <a:ea typeface="Helvetica Neue"/>
                          <a:cs typeface="Helvetica Neue"/>
                        </a:rPr>
                        <a:t>Cost / solved task</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$0.1342</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$0.1644</a:t>
                      </a:r>
                    </a:p>
                  </a:txBody>
                  <a:tcPr marL="152400" marR="114300" marT="123825"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3325A52C-398D-40DC-99A7-5D783A17FD99}"/>
              </a:ext>
            </a:extLst>
          </p:cNvPr>
          <p:cNvSpPr>
            <a:spLocks xmlns:a="http://schemas.openxmlformats.org/drawingml/2006/main" noGrp="1"/>
          </p:cNvSpPr>
          <p:nvPr/>
        </p:nvSpPr>
        <p:spPr>
          <a:xfrm xmlns:a="http://schemas.openxmlformats.org/drawingml/2006/main">
            <a:off x="6858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Secondary aggregate across mixed step policies</a:t>
            </a:r>
          </a:p>
        </p:txBody>
      </p:sp>
    </p:spTree>
    <p:extLst>
      <p:ext uri="{BB962C8B-B14F-4D97-AF65-F5344CB8AC3E}">
        <p14:creationId xmlns:p14="http://schemas.microsoft.com/office/powerpoint/2010/main" val="1438202681"/>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D0FE841-28BA-4AF6-BC5E-D7034729F8F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Only three tasks changed the ranking</a:t>
            </a:r>
          </a:p>
        </p:txBody>
      </p:sp>
      <p:sp>
        <p:nvSpPr>
          <p:cNvPr id="2" name="slide-number">
            <a:extLst xmlns:a="http://schemas.openxmlformats.org/drawingml/2006/main">
              <a:ext uri="{FF2B5EF4-FFF2-40B4-BE49-F238E27FC236}">
                <a16:creationId xmlns:a16="http://schemas.microsoft.com/office/drawing/2014/main" id="{FBA3F23C-C248-4C61-9E5E-567C308895B3}"/>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85800" y="1809750"/>
          <a:ext xmlns:a="http://schemas.openxmlformats.org/drawingml/2006/main" cx="10820400" cy="3390900"/>
        </p:xfrm>
        <a:graphic xmlns:a="http://schemas.openxmlformats.org/drawingml/2006/main">
          <a:graphicData uri="http://schemas.openxmlformats.org/drawingml/2006/table">
            <a:tbl>
              <a:tblPr firstRow="0" bandRow="0"/>
              <a:tblGrid>
                <a:gridCol w="7239000"/>
                <a:gridCol w="3581400"/>
              </a:tblGrid>
              <a:tr h="619125">
                <a:tc>
                  <a:txBody>
                    <a:bodyPr>
                      <a:noAutofit/>
                    </a:bodyPr>
                    <a:lstStyle/>
                    <a:p>
                      <a:pPr algn="l"/>
                      <a:r>
                        <a:rPr sz="2025" b="1">
                          <a:solidFill>
                            <a:srgbClr val="FFFFFF"/>
                          </a:solidFill>
                          <a:latin typeface="Helvetica Neue"/>
                          <a:ea typeface="Helvetica Neue"/>
                          <a:cs typeface="Helvetica Neue"/>
                        </a:rPr>
                        <a:t>Paired outcome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Tasks</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Both solved</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29</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Neither solved</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7</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Single only</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Graph only</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a:t>
                      </a:r>
                    </a:p>
                  </a:txBody>
                  <a:tcPr marL="152400" marR="114300" marT="123825" marB="114300" anchor="ctr">
                    <a:solidFill>
                      <a:srgbClr val="EFF2F6"/>
                    </a:solidFill>
                  </a:tcPr>
                </a:tc>
              </a:tr>
            </a:tbl>
          </a:graphicData>
        </a:graphic>
      </p:graphicFrame>
      <p:sp>
        <p:nvSpPr>
          <p:cNvPr id="4" name="text-2">
            <a:extLst xmlns:a="http://schemas.openxmlformats.org/drawingml/2006/main">
              <a:ext uri="{FF2B5EF4-FFF2-40B4-BE49-F238E27FC236}">
                <a16:creationId xmlns:a16="http://schemas.microsoft.com/office/drawing/2014/main" id="{70A00859-282D-4E3C-8F76-2AE175DA5C1A}"/>
              </a:ext>
            </a:extLst>
          </p:cNvPr>
          <p:cNvSpPr>
            <a:spLocks xmlns:a="http://schemas.openxmlformats.org/drawingml/2006/main" noGrp="1"/>
          </p:cNvSpPr>
          <p:nvPr/>
        </p:nvSpPr>
        <p:spPr>
          <a:xfrm xmlns:a="http://schemas.openxmlformats.org/drawingml/2006/main">
            <a:off x="685800" y="5553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468C9"/>
                </a:solidFill>
                <a:latin typeface="Helvetica Neue"/>
                <a:ea typeface="Helvetica Neue"/>
                <a:cs typeface="Helvetica Neue"/>
              </a:defRPr>
            </a:pPr>
            <a:r>
              <a:rPr sz="2400" b="1">
                <a:solidFill>
                  <a:srgbClr val="2468C9"/>
                </a:solidFill>
                <a:latin typeface="Helvetica Neue"/>
                <a:ea typeface="Helvetica Neue"/>
                <a:cs typeface="Helvetica Neue"/>
              </a:rPr>
              <a:t>A one-task aggregate difference is weak evidence for a general ranking.</a:t>
            </a:r>
          </a:p>
        </p:txBody>
      </p:sp>
    </p:spTree>
    <p:extLst>
      <p:ext uri="{BB962C8B-B14F-4D97-AF65-F5344CB8AC3E}">
        <p14:creationId xmlns:p14="http://schemas.microsoft.com/office/powerpoint/2010/main" val="1477640878"/>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6EF0AAE-BA73-47DA-AAFC-FFF5AD37F5E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primary experiment</a:t>
            </a:r>
          </a:p>
        </p:txBody>
      </p:sp>
      <p:sp>
        <p:nvSpPr>
          <p:cNvPr id="2" name="slide-number">
            <a:extLst xmlns:a="http://schemas.openxmlformats.org/drawingml/2006/main">
              <a:ext uri="{FF2B5EF4-FFF2-40B4-BE49-F238E27FC236}">
                <a16:creationId xmlns:a16="http://schemas.microsoft.com/office/drawing/2014/main" id="{D84D8661-C220-4A95-BF09-884AB3D4679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0FB88B56-592B-4CE7-A543-B4D74B78B135}"/>
              </a:ext>
            </a:extLst>
          </p:cNvPr>
          <p:cNvSpPr>
            <a:spLocks xmlns:a="http://schemas.openxmlformats.org/drawingml/2006/main" noGrp="1"/>
          </p:cNvSpPr>
          <p:nvPr/>
        </p:nvSpPr>
        <p:spPr>
          <a:xfrm xmlns:a="http://schemas.openxmlformats.org/drawingml/2006/main">
            <a:off x="685800" y="1714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One model and one final attempt</a:t>
            </a:r>
          </a:p>
        </p:txBody>
      </p:sp>
      <p:sp>
        <p:nvSpPr>
          <p:cNvPr id="4" name="text-3">
            <a:extLst xmlns:a="http://schemas.openxmlformats.org/drawingml/2006/main">
              <a:ext uri="{FF2B5EF4-FFF2-40B4-BE49-F238E27FC236}">
                <a16:creationId xmlns:a16="http://schemas.microsoft.com/office/drawing/2014/main" id="{CEF13704-748C-4B1F-AB42-8F8B7B11501E}"/>
              </a:ext>
            </a:extLst>
          </p:cNvPr>
          <p:cNvSpPr>
            <a:spLocks xmlns:a="http://schemas.openxmlformats.org/drawingml/2006/main" noGrp="1"/>
          </p:cNvSpPr>
          <p:nvPr/>
        </p:nvSpPr>
        <p:spPr>
          <a:xfrm xmlns:a="http://schemas.openxmlformats.org/drawingml/2006/main">
            <a:off x="685800" y="2162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Small effects and run-to-run stability remain uncertain</a:t>
            </a:r>
          </a:p>
        </p:txBody>
      </p:sp>
      <p:sp>
        <p:nvSpPr>
          <p:cNvPr id="5" name="text-4">
            <a:extLst xmlns:a="http://schemas.openxmlformats.org/drawingml/2006/main">
              <a:ext uri="{FF2B5EF4-FFF2-40B4-BE49-F238E27FC236}">
                <a16:creationId xmlns:a16="http://schemas.microsoft.com/office/drawing/2014/main" id="{42CA4A4F-28C4-4913-A0FF-997B87AA41DD}"/>
              </a:ext>
            </a:extLst>
          </p:cNvPr>
          <p:cNvSpPr>
            <a:spLocks xmlns:a="http://schemas.openxmlformats.org/drawingml/2006/main" noGrp="1"/>
          </p:cNvSpPr>
          <p:nvPr/>
        </p:nvSpPr>
        <p:spPr>
          <a:xfrm xmlns:a="http://schemas.openxmlformats.org/drawingml/2006/main">
            <a:off x="685800" y="2771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Limited complexity coverage</a:t>
            </a:r>
          </a:p>
        </p:txBody>
      </p:sp>
      <p:sp>
        <p:nvSpPr>
          <p:cNvPr id="6" name="text-5">
            <a:extLst xmlns:a="http://schemas.openxmlformats.org/drawingml/2006/main">
              <a:ext uri="{FF2B5EF4-FFF2-40B4-BE49-F238E27FC236}">
                <a16:creationId xmlns:a16="http://schemas.microsoft.com/office/drawing/2014/main" id="{057956B9-0EAF-42EC-A84D-628B9FDC9C19}"/>
              </a:ext>
            </a:extLst>
          </p:cNvPr>
          <p:cNvSpPr>
            <a:spLocks xmlns:a="http://schemas.openxmlformats.org/drawingml/2006/main" noGrp="1"/>
          </p:cNvSpPr>
          <p:nvPr/>
        </p:nvSpPr>
        <p:spPr>
          <a:xfrm xmlns:a="http://schemas.openxmlformats.org/drawingml/2006/main">
            <a:off x="68580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19 of 24 core patches change one source file</a:t>
            </a:r>
          </a:p>
        </p:txBody>
      </p:sp>
      <p:sp>
        <p:nvSpPr>
          <p:cNvPr id="7" name="text-6">
            <a:extLst xmlns:a="http://schemas.openxmlformats.org/drawingml/2006/main">
              <a:ext uri="{FF2B5EF4-FFF2-40B4-BE49-F238E27FC236}">
                <a16:creationId xmlns:a16="http://schemas.microsoft.com/office/drawing/2014/main" id="{45D7B41E-74F5-4ADB-B06C-C16CF053F9F5}"/>
              </a:ext>
            </a:extLst>
          </p:cNvPr>
          <p:cNvSpPr>
            <a:spLocks xmlns:a="http://schemas.openxmlformats.org/drawingml/2006/main" noGrp="1"/>
          </p:cNvSpPr>
          <p:nvPr/>
        </p:nvSpPr>
        <p:spPr>
          <a:xfrm xmlns:a="http://schemas.openxmlformats.org/drawingml/2006/main">
            <a:off x="6858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Development exposure</a:t>
            </a:r>
          </a:p>
        </p:txBody>
      </p:sp>
      <p:sp>
        <p:nvSpPr>
          <p:cNvPr id="8" name="text-7">
            <a:extLst xmlns:a="http://schemas.openxmlformats.org/drawingml/2006/main">
              <a:ext uri="{FF2B5EF4-FFF2-40B4-BE49-F238E27FC236}">
                <a16:creationId xmlns:a16="http://schemas.microsoft.com/office/drawing/2014/main" id="{08828EA9-0425-4BB8-88C6-EE45A933B326}"/>
              </a:ext>
            </a:extLst>
          </p:cNvPr>
          <p:cNvSpPr>
            <a:spLocks xmlns:a="http://schemas.openxmlformats.org/drawingml/2006/main" noGrp="1"/>
          </p:cNvSpPr>
          <p:nvPr/>
        </p:nvSpPr>
        <p:spPr>
          <a:xfrm xmlns:a="http://schemas.openxmlformats.org/drawingml/2006/main">
            <a:off x="685800" y="4276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20 of 39 shared tasks appeared in exploratory runs</a:t>
            </a:r>
          </a:p>
        </p:txBody>
      </p:sp>
      <p:sp>
        <p:nvSpPr>
          <p:cNvPr id="9" name="text-8">
            <a:extLst xmlns:a="http://schemas.openxmlformats.org/drawingml/2006/main">
              <a:ext uri="{FF2B5EF4-FFF2-40B4-BE49-F238E27FC236}">
                <a16:creationId xmlns:a16="http://schemas.microsoft.com/office/drawing/2014/main" id="{28BA8384-C644-4E42-BC6D-187B49776323}"/>
              </a:ext>
            </a:extLst>
          </p:cNvPr>
          <p:cNvSpPr>
            <a:spLocks xmlns:a="http://schemas.openxmlformats.org/drawingml/2006/main" noGrp="1"/>
          </p:cNvSpPr>
          <p:nvPr/>
        </p:nvSpPr>
        <p:spPr>
          <a:xfrm xmlns:a="http://schemas.openxmlformats.org/drawingml/2006/main">
            <a:off x="685800" y="4886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Rubric quality review and reproduction</a:t>
            </a:r>
          </a:p>
        </p:txBody>
      </p:sp>
      <p:sp>
        <p:nvSpPr>
          <p:cNvPr id="10" name="text-9">
            <a:extLst xmlns:a="http://schemas.openxmlformats.org/drawingml/2006/main">
              <a:ext uri="{FF2B5EF4-FFF2-40B4-BE49-F238E27FC236}">
                <a16:creationId xmlns:a16="http://schemas.microsoft.com/office/drawing/2014/main" id="{16AC98FF-E2DE-4EB1-BBA4-67023533346D}"/>
              </a:ext>
            </a:extLst>
          </p:cNvPr>
          <p:cNvSpPr>
            <a:spLocks xmlns:a="http://schemas.openxmlformats.org/drawingml/2006/main" noGrp="1"/>
          </p:cNvSpPr>
          <p:nvPr/>
        </p:nvSpPr>
        <p:spPr>
          <a:xfrm xmlns:a="http://schemas.openxmlformats.org/drawingml/2006/main">
            <a:off x="685800" y="5334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No rubric scores for 102 final runs. Dataset packaging remains incomplete.</a:t>
            </a:r>
          </a:p>
        </p:txBody>
      </p:sp>
    </p:spTree>
    <p:extLst>
      <p:ext uri="{BB962C8B-B14F-4D97-AF65-F5344CB8AC3E}">
        <p14:creationId xmlns:p14="http://schemas.microsoft.com/office/powerpoint/2010/main" val="1907053559"/>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C6F5781-F0B7-482B-8C01-0836758E139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initial comparisons</a:t>
            </a:r>
          </a:p>
        </p:txBody>
      </p:sp>
      <p:sp>
        <p:nvSpPr>
          <p:cNvPr id="2" name="slide-number">
            <a:extLst xmlns:a="http://schemas.openxmlformats.org/drawingml/2006/main">
              <a:ext uri="{FF2B5EF4-FFF2-40B4-BE49-F238E27FC236}">
                <a16:creationId xmlns:a16="http://schemas.microsoft.com/office/drawing/2014/main" id="{1B6DE9D6-3EE7-41DB-A555-81168970A1A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15</a:t>
            </a:r>
          </a:p>
        </p:txBody>
      </p:sp>
      <p:sp>
        <p:nvSpPr>
          <p:cNvPr id="3" name="text-2">
            <a:extLst xmlns:a="http://schemas.openxmlformats.org/drawingml/2006/main">
              <a:ext uri="{FF2B5EF4-FFF2-40B4-BE49-F238E27FC236}">
                <a16:creationId xmlns:a16="http://schemas.microsoft.com/office/drawing/2014/main" id="{FF1207F7-F69C-42EB-909E-3C457801C417}"/>
              </a:ext>
            </a:extLst>
          </p:cNvPr>
          <p:cNvSpPr>
            <a:spLocks xmlns:a="http://schemas.openxmlformats.org/drawingml/2006/main" noGrp="1"/>
          </p:cNvSpPr>
          <p:nvPr/>
        </p:nvSpPr>
        <p:spPr>
          <a:xfrm xmlns:a="http://schemas.openxmlformats.org/drawingml/2006/main">
            <a:off x="685800"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16174"/>
                </a:solidFill>
                <a:latin typeface="Helvetica Neue"/>
                <a:ea typeface="Helvetica Neue"/>
                <a:cs typeface="Helvetica Neue"/>
              </a:defRPr>
            </a:pPr>
            <a:r>
              <a:rPr sz="2325" b="0">
                <a:solidFill>
                  <a:srgbClr val="516174"/>
                </a:solidFill>
                <a:latin typeface="Helvetica Neue"/>
                <a:ea typeface="Helvetica Neue"/>
                <a:cs typeface="Helvetica Neue"/>
              </a:rPr>
              <a:t>Initial core-small comparisons at a 50-step cap</a:t>
            </a:r>
          </a:p>
        </p:txBody>
      </p:sp>
      <p:graphicFrame>
        <p:nvGraphicFramePr>
          <p:cNvPr id="10" name=""/>
          <p:cNvGraphicFramePr/>
          <p:nvPr/>
        </p:nvGraphicFramePr>
        <p:xfrm>
          <a:off xmlns:a="http://schemas.openxmlformats.org/drawingml/2006/main" x="685800" y="2266950"/>
          <a:ext xmlns:a="http://schemas.openxmlformats.org/drawingml/2006/main" cx="10820400" cy="3048000"/>
        </p:xfrm>
        <a:graphic xmlns:a="http://schemas.openxmlformats.org/drawingml/2006/main">
          <a:graphicData uri="http://schemas.openxmlformats.org/drawingml/2006/table">
            <a:tbl>
              <a:tblPr firstRow="0" bandRow="0"/>
              <a:tblGrid>
                <a:gridCol w="5676900"/>
                <a:gridCol w="1714500"/>
                <a:gridCol w="1714500"/>
                <a:gridCol w="1714500"/>
              </a:tblGrid>
              <a:tr h="619125">
                <a:tc>
                  <a:txBody>
                    <a:bodyPr>
                      <a:noAutofit/>
                    </a:bodyPr>
                    <a:lstStyle/>
                    <a:p>
                      <a:pPr algn="l"/>
                      <a:r>
                        <a:rPr sz="1875" b="1">
                          <a:solidFill>
                            <a:srgbClr val="FFFFFF"/>
                          </a:solidFill>
                          <a:latin typeface="Helvetica Neue"/>
                          <a:ea typeface="Helvetica Neue"/>
                          <a:cs typeface="Helvetica Neue"/>
                        </a:rPr>
                        <a:t>Model configuration</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790575">
                <a:tc>
                  <a:txBody>
                    <a:bodyPr>
                      <a:noAutofit/>
                    </a:bodyPr>
                    <a:lstStyle/>
                    <a:p>
                      <a:pPr algn="l"/>
                      <a:r>
                        <a:rPr sz="1950" b="0">
                          <a:solidFill>
                            <a:srgbClr val="17283D"/>
                          </a:solidFill>
                          <a:latin typeface="Helvetica Neue"/>
                          <a:ea typeface="Helvetica Neue"/>
                          <a:cs typeface="Helvetica Neue"/>
                        </a:rPr>
                        <a:t>GLM-5.2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r>
              <a:tr h="790575">
                <a:tc>
                  <a:txBody>
                    <a:bodyPr>
                      <a:noAutofit/>
                    </a:bodyPr>
                    <a:lstStyle/>
                    <a:p>
                      <a:pPr algn="l"/>
                      <a:r>
                        <a:rPr sz="1950" b="0">
                          <a:solidFill>
                            <a:srgbClr val="17283D"/>
                          </a:solidFill>
                          <a:latin typeface="Helvetica Neue"/>
                          <a:ea typeface="Helvetica Neue"/>
                          <a:cs typeface="Helvetica Neue"/>
                        </a:rPr>
                        <a:t>DeepSeek V4 Flash</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r>
              <a:tr h="790575">
                <a:tc>
                  <a:txBody>
                    <a:bodyPr>
                      <a:noAutofit/>
                    </a:bodyPr>
                    <a:lstStyle/>
                    <a:p>
                      <a:pPr algn="l"/>
                      <a:r>
                        <a:rPr sz="1950" b="0">
                          <a:solidFill>
                            <a:srgbClr val="17283D"/>
                          </a:solidFill>
                          <a:latin typeface="Helvetica Neue"/>
                          <a:ea typeface="Helvetica Neue"/>
                          <a:cs typeface="Helvetica Neue"/>
                        </a:rPr>
                        <a:t>GPT-5.1 Codex Mini</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7/12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8/12</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72B1202-929B-40C2-9D40-79AA1B33CDF6}"/>
              </a:ext>
            </a:extLst>
          </p:cNvPr>
          <p:cNvSpPr>
            <a:spLocks xmlns:a="http://schemas.openxmlformats.org/drawingml/2006/main" noGrp="1"/>
          </p:cNvSpPr>
          <p:nvPr/>
        </p:nvSpPr>
        <p:spPr>
          <a:xfrm xmlns:a="http://schemas.openxmlformats.org/drawingml/2006/main">
            <a:off x="685800" y="5562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8C9"/>
                </a:solidFill>
                <a:latin typeface="Helvetica Neue"/>
                <a:ea typeface="Helvetica Neue"/>
                <a:cs typeface="Helvetica Neue"/>
              </a:defRPr>
            </a:pPr>
            <a:r>
              <a:rPr sz="2250" b="1">
                <a:solidFill>
                  <a:srgbClr val="2468C9"/>
                </a:solidFill>
                <a:latin typeface="Helvetica Neue"/>
                <a:ea typeface="Helvetica Neue"/>
                <a:cs typeface="Helvetica Neue"/>
              </a:rPr>
              <a:t>Architecture rankings vary across configurations.</a:t>
            </a:r>
          </a:p>
        </p:txBody>
      </p:sp>
      <p:sp>
        <p:nvSpPr>
          <p:cNvPr id="6" name="text-4">
            <a:extLst xmlns:a="http://schemas.openxmlformats.org/drawingml/2006/main">
              <a:ext uri="{FF2B5EF4-FFF2-40B4-BE49-F238E27FC236}">
                <a16:creationId xmlns:a16="http://schemas.microsoft.com/office/drawing/2014/main" id="{5FC5514C-18E8-494E-A9D9-B703C39EF9C3}"/>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Different reasoning and compaction settings. These results do not extend the master totals.</a:t>
            </a:r>
          </a:p>
        </p:txBody>
      </p:sp>
    </p:spTree>
    <p:extLst>
      <p:ext uri="{BB962C8B-B14F-4D97-AF65-F5344CB8AC3E}">
        <p14:creationId xmlns:p14="http://schemas.microsoft.com/office/powerpoint/2010/main" val="1808659588"/>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ADDAEC0-1BB9-47E6-BACB-B9230ACC8BE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 runs: a smaller graph advantage</a:t>
            </a:r>
          </a:p>
        </p:txBody>
      </p:sp>
      <p:sp>
        <p:nvSpPr>
          <p:cNvPr id="2" name="slide-number">
            <a:extLst xmlns:a="http://schemas.openxmlformats.org/drawingml/2006/main">
              <a:ext uri="{FF2B5EF4-FFF2-40B4-BE49-F238E27FC236}">
                <a16:creationId xmlns:a16="http://schemas.microsoft.com/office/drawing/2014/main" id="{C302B16A-CA1B-4130-868B-6B8AA930FE1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7FC91BED-075C-406C-8ECE-4C2B734EC84C}"/>
              </a:ext>
            </a:extLst>
          </p:cNvPr>
          <p:cNvSpPr>
            <a:spLocks xmlns:a="http://schemas.openxmlformats.org/drawingml/2006/main" noGrp="1"/>
          </p:cNvSpPr>
          <p:nvPr/>
        </p:nvSpPr>
        <p:spPr>
          <a:xfrm xmlns:a="http://schemas.openxmlformats.org/drawingml/2006/main">
            <a:off x="685800" y="14763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DeepSeek V4 Flash. The same 12 tasks and 50-step limit.</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4000500"/>
                <a:gridCol w="2095500"/>
                <a:gridCol w="2095500"/>
                <a:gridCol w="2628900"/>
              </a:tblGrid>
              <a:tr h="609600">
                <a:tc>
                  <a:txBody>
                    <a:bodyPr>
                      <a:noAutofit/>
                    </a:bodyPr>
                    <a:lstStyle/>
                    <a:p>
                      <a:pPr algn="l"/>
                      <a:r>
                        <a:rPr sz="2025"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 lead</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 tasks</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Tie</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 task</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29/36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32/36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 outcomes</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73A06357-A864-42D0-9582-483E7E429251}"/>
              </a:ext>
            </a:extLst>
          </p:cNvPr>
          <p:cNvSpPr>
            <a:spLocks xmlns:a="http://schemas.openxmlformats.org/drawingml/2006/main" noGrp="1"/>
          </p:cNvSpPr>
          <p:nvPr/>
        </p:nvSpPr>
        <p:spPr>
          <a:xfrm xmlns:a="http://schemas.openxmlformats.org/drawingml/2006/main">
            <a:off x="685800" y="5715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Solved in all three attempts: single 7/12 tasks, graph 10/12.</a:t>
            </a:r>
          </a:p>
        </p:txBody>
      </p:sp>
      <p:sp>
        <p:nvSpPr>
          <p:cNvPr id="6" name="text-4">
            <a:extLst xmlns:a="http://schemas.openxmlformats.org/drawingml/2006/main">
              <a:ext uri="{FF2B5EF4-FFF2-40B4-BE49-F238E27FC236}">
                <a16:creationId xmlns:a16="http://schemas.microsoft.com/office/drawing/2014/main" id="{130966C2-5072-4418-842A-844E83542B23}"/>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Repeated outcomes on 12 familiar tasks. Graph tied single in one repetition.</a:t>
            </a:r>
          </a:p>
        </p:txBody>
      </p:sp>
    </p:spTree>
    <p:extLst>
      <p:ext uri="{BB962C8B-B14F-4D97-AF65-F5344CB8AC3E}">
        <p14:creationId xmlns:p14="http://schemas.microsoft.com/office/powerpoint/2010/main" val="930856249"/>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2D14B78-4F69-40EC-8765-924031FB8A2B}"/>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Single cost less in both new repetitions</a:t>
            </a:r>
          </a:p>
        </p:txBody>
      </p:sp>
      <p:sp>
        <p:nvSpPr>
          <p:cNvPr id="2" name="slide-number">
            <a:extLst xmlns:a="http://schemas.openxmlformats.org/drawingml/2006/main">
              <a:ext uri="{FF2B5EF4-FFF2-40B4-BE49-F238E27FC236}">
                <a16:creationId xmlns:a16="http://schemas.microsoft.com/office/drawing/2014/main" id="{FC71F539-8111-4FA4-B413-38971F439CD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17</a:t>
            </a:r>
          </a:p>
        </p:txBody>
      </p:sp>
      <p:sp>
        <p:nvSpPr>
          <p:cNvPr id="3" name="text-2">
            <a:extLst xmlns:a="http://schemas.openxmlformats.org/drawingml/2006/main">
              <a:ext uri="{FF2B5EF4-FFF2-40B4-BE49-F238E27FC236}">
                <a16:creationId xmlns:a16="http://schemas.microsoft.com/office/drawing/2014/main" id="{403587E8-3EE6-454B-AF85-05FF6D91179E}"/>
              </a:ext>
            </a:extLst>
          </p:cNvPr>
          <p:cNvSpPr>
            <a:spLocks xmlns:a="http://schemas.openxmlformats.org/drawingml/2006/main" noGrp="1"/>
          </p:cNvSpPr>
          <p:nvPr/>
        </p:nvSpPr>
        <p:spPr>
          <a:xfrm xmlns:a="http://schemas.openxmlformats.org/drawingml/2006/main">
            <a:off x="685800" y="1485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Helvetica Neue"/>
                <a:ea typeface="Helvetica Neue"/>
                <a:cs typeface="Helvetica Neue"/>
              </a:defRPr>
            </a:pPr>
            <a:r>
              <a:rPr sz="2250" b="0">
                <a:solidFill>
                  <a:srgbClr val="516174"/>
                </a:solidFill>
                <a:latin typeface="Helvetica Neue"/>
                <a:ea typeface="Helvetica Neue"/>
                <a:cs typeface="Helvetica Neue"/>
              </a:rPr>
              <a:t>Provider-billed LLM cost per successful outcome</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5715000"/>
                <a:gridCol w="2552700"/>
                <a:gridCol w="2552700"/>
              </a:tblGrid>
              <a:tr h="609600">
                <a:tc>
                  <a:txBody>
                    <a:bodyPr>
                      <a:noAutofit/>
                    </a:bodyPr>
                    <a:lstStyle/>
                    <a:p>
                      <a:pPr algn="l"/>
                      <a:r>
                        <a:rPr sz="2100"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Graph</a:t>
                      </a:r>
                    </a:p>
                  </a:txBody>
                  <a:tcPr marL="152400" marR="114300" marT="123825" marB="114300" anchor="ctr">
                    <a:solidFill>
                      <a:srgbClr val="17283D"/>
                    </a:solidFill>
                  </a:tcPr>
                </a:tc>
              </a:tr>
              <a:tr h="695325">
                <a:tc>
                  <a:txBody>
                    <a:bodyPr>
                      <a:noAutofit/>
                    </a:bodyPr>
                    <a:lstStyle/>
                    <a:p>
                      <a:pPr algn="l"/>
                      <a:r>
                        <a:rPr sz="2175"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$0.0409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$0.0386</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$0.0187</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$0.0306</a:t>
                      </a:r>
                    </a:p>
                  </a:txBody>
                  <a:tcPr marL="152400" marR="114300" marT="123825" marB="114300" anchor="ctr">
                    <a:solidFill>
                      <a:srgbClr val="EFF2F6"/>
                    </a:solidFill>
                  </a:tcPr>
                </a:tc>
              </a:tr>
              <a:tr h="695325">
                <a:tc>
                  <a:txBody>
                    <a:bodyPr>
                      <a:noAutofit/>
                    </a:bodyPr>
                    <a:lstStyle/>
                    <a:p>
                      <a:pPr algn="l"/>
                      <a:r>
                        <a:rPr sz="2175"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$0.0229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$0.0285</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$0.0271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$0.0326</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56979107-54EF-437B-BECA-8F702FE57ADA}"/>
              </a:ext>
            </a:extLst>
          </p:cNvPr>
          <p:cNvSpPr>
            <a:spLocks xmlns:a="http://schemas.openxmlformats.org/drawingml/2006/main" noGrp="1"/>
          </p:cNvSpPr>
          <p:nvPr/>
        </p:nvSpPr>
        <p:spPr>
          <a:xfrm xmlns:a="http://schemas.openxmlformats.org/drawingml/2006/main">
            <a:off x="685800" y="56864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Total billed: single $0.7846, graph $1.0437.</a:t>
            </a:r>
          </a:p>
        </p:txBody>
      </p:sp>
      <p:sp>
        <p:nvSpPr>
          <p:cNvPr id="6" name="text-4">
            <a:extLst xmlns:a="http://schemas.openxmlformats.org/drawingml/2006/main">
              <a:ext uri="{FF2B5EF4-FFF2-40B4-BE49-F238E27FC236}">
                <a16:creationId xmlns:a16="http://schemas.microsoft.com/office/drawing/2014/main" id="{126D9F48-1D5B-42CB-B2EE-A99E0C6D4C0E}"/>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Both architectures solved the same 11 distinct tasks at least once.</a:t>
            </a:r>
          </a:p>
        </p:txBody>
      </p:sp>
    </p:spTree>
    <p:extLst>
      <p:ext uri="{BB962C8B-B14F-4D97-AF65-F5344CB8AC3E}">
        <p14:creationId xmlns:p14="http://schemas.microsoft.com/office/powerpoint/2010/main" val="1205291901"/>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3C7A168-414D-4600-827C-756AFA7151D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Repeated-run quality and agent metrics</a:t>
            </a:r>
          </a:p>
        </p:txBody>
      </p:sp>
      <p:sp>
        <p:nvSpPr>
          <p:cNvPr id="2" name="slide-number">
            <a:extLst xmlns:a="http://schemas.openxmlformats.org/drawingml/2006/main">
              <a:ext uri="{FF2B5EF4-FFF2-40B4-BE49-F238E27FC236}">
                <a16:creationId xmlns:a16="http://schemas.microsoft.com/office/drawing/2014/main" id="{39E87938-747E-4C2C-9FF2-0310850653B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8CBE82EC-245C-4F02-B741-BC6CB1DE2CF7}"/>
              </a:ext>
            </a:extLst>
          </p:cNvPr>
          <p:cNvSpPr>
            <a:spLocks xmlns:a="http://schemas.openxmlformats.org/drawingml/2006/main" noGrp="1"/>
          </p:cNvSpPr>
          <p:nvPr/>
        </p:nvSpPr>
        <p:spPr>
          <a:xfrm xmlns:a="http://schemas.openxmlformats.org/drawingml/2006/main">
            <a:off x="685800" y="14192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Original plus two repeats: 36 attempts per architecture, 12 tasks.</a:t>
            </a:r>
          </a:p>
        </p:txBody>
      </p:sp>
      <p:graphicFrame>
        <p:nvGraphicFramePr>
          <p:cNvPr id="9" name=""/>
          <p:cNvGraphicFramePr/>
          <p:nvPr/>
        </p:nvGraphicFramePr>
        <p:xfrm>
          <a:off xmlns:a="http://schemas.openxmlformats.org/drawingml/2006/main" x="685800" y="1933575"/>
          <a:ext xmlns:a="http://schemas.openxmlformats.org/drawingml/2006/main" cx="10820400" cy="4057650"/>
        </p:xfrm>
        <a:graphic xmlns:a="http://schemas.openxmlformats.org/drawingml/2006/main">
          <a:graphicData uri="http://schemas.openxmlformats.org/drawingml/2006/table">
            <a:tbl>
              <a:tblPr firstRow="0" bandRow="0"/>
              <a:tblGrid>
                <a:gridCol w="5314950"/>
                <a:gridCol w="2752725"/>
                <a:gridCol w="2752725"/>
              </a:tblGrid>
              <a:tr h="476250">
                <a:tc>
                  <a:txBody>
                    <a:bodyPr>
                      <a:noAutofit/>
                    </a:bodyPr>
                    <a:lstStyle/>
                    <a:p>
                      <a:pPr algn="l"/>
                      <a:r>
                        <a:rPr sz="1650" b="1">
                          <a:solidFill>
                            <a:srgbClr val="FFFFFF"/>
                          </a:solidFill>
                          <a:latin typeface="Helvetica Neue"/>
                          <a:ea typeface="Helvetica Neue"/>
                          <a:cs typeface="Helvetica Neue"/>
                        </a:rPr>
                        <a:t>Metric</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47675">
                <a:tc>
                  <a:txBody>
                    <a:bodyPr>
                      <a:noAutofit/>
                    </a:bodyPr>
                    <a:lstStyle/>
                    <a:p>
                      <a:pPr algn="l"/>
                      <a:r>
                        <a:rPr sz="1725" b="0">
                          <a:solidFill>
                            <a:srgbClr val="17283D"/>
                          </a:solidFill>
                          <a:latin typeface="Helvetica Neue"/>
                          <a:ea typeface="Helvetica Neue"/>
                          <a:cs typeface="Helvetica Neue"/>
                        </a:rPr>
                        <a:t>Required hidden suite pass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80.6% (29/36)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88.9% (32/36)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suite pass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Patch presence*</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86.1% (31/36)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Tool-use validity*</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(1002/1033)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(1342/1384)</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Hallucinated refs / attempt*</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0.83</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Repair success*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(23/23)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(29/29)</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 final gap*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19.4% (7/36)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11.1% (4/36)</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D017C4F4-491B-4244-8791-BF33E5A48351}"/>
              </a:ext>
            </a:extLst>
          </p:cNvPr>
          <p:cNvSpPr>
            <a:spLocks xmlns:a="http://schemas.openxmlformats.org/drawingml/2006/main" noGrp="1"/>
          </p:cNvSpPr>
          <p:nvPr/>
        </p:nvSpPr>
        <p:spPr>
          <a:xfrm xmlns:a="http://schemas.openxmlformats.org/drawingml/2006/main">
            <a:off x="685800" y="6200775"/>
            <a:ext cx="1052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468C9"/>
                </a:solidFill>
                <a:latin typeface="Helvetica Neue"/>
                <a:ea typeface="Helvetica Neue"/>
                <a:cs typeface="Helvetica Neue"/>
              </a:defRPr>
            </a:pPr>
            <a:r>
              <a:rPr sz="1650" b="1">
                <a:solidFill>
                  <a:srgbClr val="2468C9"/>
                </a:solidFill>
                <a:latin typeface="Helvetica Neue"/>
                <a:ea typeface="Helvetica Neue"/>
                <a:cs typeface="Helvetica Neue"/>
              </a:rPr>
              <a:t>*Operational proxies. Rubric quality scores: N/A for all 72 attempts.</a:t>
            </a:r>
          </a:p>
        </p:txBody>
      </p:sp>
    </p:spTree>
    <p:extLst>
      <p:ext uri="{BB962C8B-B14F-4D97-AF65-F5344CB8AC3E}">
        <p14:creationId xmlns:p14="http://schemas.microsoft.com/office/powerpoint/2010/main" val="1070630302"/>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9" name="slide-title">
            <a:extLst>
              <a:ext uri="{FF2B5EF4-FFF2-40B4-BE49-F238E27FC236}">
                <ns2:creationId id="{F63AF522-8870-4959-BC16-1FAE7D648AD8}"/>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Comparison with Xu et al.</a:t>
            </a:r>
          </a:p>
        </p:txBody>
      </p:sp>
      <p:sp>
        <p:nvSpPr>
          <p:cNvPr id="2" name="slide-number">
            <a:extLst>
              <a:ext uri="{FF2B5EF4-FFF2-40B4-BE49-F238E27FC236}">
                <ns2:creationId id="{9040C2E5-ED54-4517-AF7D-EFFAFB9473F2}"/>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19</a:t>
            </a:r>
          </a:p>
        </p:txBody>
      </p:sp>
      <p:sp>
        <p:nvSpPr>
          <p:cNvPr id="3" name="text-2">
            <a:extLst>
              <a:ext uri="{FF2B5EF4-FFF2-40B4-BE49-F238E27FC236}">
                <ns2:creationId id="{1C18963B-09B4-4DB6-B44A-6CCACD4911B7}"/>
              </a:ext>
            </a:extLst>
          </p:cNvPr>
          <p:cNvSpPr>
            <a:spLocks noGrp="1"/>
          </p:cNvSpPr>
          <p:nvPr/>
        </p:nvSpPr>
        <p:spPr>
          <a:xfrm>
            <a:off x="685800" y="1419225"/>
            <a:ext cx="10763250" cy="419100"/>
          </a:xfrm>
          <a:prstGeom prst="rect">
            <a:avLst/>
          </a:prstGeom>
          <a:noFill/>
          <a:ln w="0">
            <a:noFill/>
          </a:ln>
        </p:spPr>
        <p:txBody>
          <a:bodyPr wrap="square" lIns="0" tIns="0" rIns="0" bIns="0" anchor="t">
            <a:noAutofit/>
          </a:bodyPr>
          <a:lstStyle/>
          <a:p>
            <a:pPr algn="l">
              <a:defRPr sz="2100" b="0">
                <a:solidFill>
                  <a:srgbClr val="516174"/>
                </a:solidFill>
                <a:latin typeface="Helvetica Neue"/>
                <a:ea typeface="Helvetica Neue"/>
                <a:cs typeface="Helvetica Neue"/>
              </a:defRPr>
            </a:pPr>
            <a:r>
              <a:rPr sz="2100" b="0">
                <a:solidFill>
                  <a:srgbClr val="516174"/>
                </a:solidFill>
                <a:latin typeface="Helvetica Neue"/>
                <a:ea typeface="Helvetica Neue"/>
                <a:cs typeface="Helvetica Neue"/>
              </a:rPr>
              <a:t>OneFlow with GPT-4o mini. Three runs, mean pass@1 ± SD.</a:t>
            </a:r>
          </a:p>
        </p:txBody>
      </p:sp>
      <p:graphicFrame>
        <p:nvGraphicFramePr>
          <p:cNvPr id="12" name=""/>
          <p:cNvGraphicFramePr/>
          <p:nvPr/>
        </p:nvGraphicFramePr>
        <p:xfrm>
          <a:off x="685800" y="2028825"/>
          <a:ext cx="10820400" cy="1828800"/>
        </p:xfrm>
        <a:graphic>
          <a:graphicData uri="http://schemas.openxmlformats.org/drawingml/2006/table">
            <a:tbl>
              <a:tblPr firstRow="0" bandRow="0"/>
              <a:tblGrid>
                <a:gridCol w="4857750"/>
                <a:gridCol w="2981325"/>
                <a:gridCol w="2981325"/>
              </a:tblGrid>
              <a:tr h="609600">
                <a:tc>
                  <a:txBody>
                    <a:bodyPr>
                      <a:noAutofit/>
                    </a:bodyPr>
                    <a:lstStyle/>
                    <a:p>
                      <a:pPr algn="l"/>
                      <a:r>
                        <a:rPr sz="1875" b="1">
                          <a:solidFill>
                            <a:srgbClr val="FFFFFF"/>
                          </a:solidFill>
                          <a:latin typeface="Helvetica Neue"/>
                          <a:ea typeface="Helvetica Neue"/>
                          <a:cs typeface="Helvetica Neue"/>
                        </a:rPr>
                        <a:t>Benchmark</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Multi-agent</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 execution</a:t>
                      </a:r>
                    </a:p>
                  </a:txBody>
                  <a:tcPr marL="152400" marR="114300" marT="95250" marB="95250" anchor="ctr">
                    <a:solidFill>
                      <a:srgbClr val="17283D"/>
                    </a:solidFill>
                  </a:tcPr>
                </a:tc>
              </a:tr>
              <a:tr h="609600">
                <a:tc>
                  <a:txBody>
                    <a:bodyPr>
                      <a:noAutofit/>
                    </a:bodyPr>
                    <a:lstStyle/>
                    <a:p>
                      <a:pPr algn="l"/>
                      <a:r>
                        <a:rPr sz="1950" b="0">
                          <a:solidFill>
                            <a:srgbClr val="17283D"/>
                          </a:solidFill>
                          <a:latin typeface="Helvetica Neue"/>
                          <a:ea typeface="Helvetica Neue"/>
                          <a:cs typeface="Helvetica Neue"/>
                        </a:rPr>
                        <a:t>HumanEval</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91.6% ± 0.8</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92.1% ± 0.4</a:t>
                      </a:r>
                    </a:p>
                  </a:txBody>
                  <a:tcPr marL="152400" marR="114300" marT="95250" marB="95250" anchor="ctr">
                    <a:solidFill>
                      <a:srgbClr val="FFFFFF"/>
                    </a:solidFill>
                  </a:tcPr>
                </a:tc>
              </a:tr>
              <a:tr h="609600">
                <a:tc>
                  <a:txBody>
                    <a:bodyPr>
                      <a:noAutofit/>
                    </a:bodyPr>
                    <a:lstStyle/>
                    <a:p>
                      <a:pPr algn="l"/>
                      <a:r>
                        <a:rPr sz="1950" b="0">
                          <a:solidFill>
                            <a:srgbClr val="17283D"/>
                          </a:solidFill>
                          <a:latin typeface="Helvetica Neue"/>
                          <a:ea typeface="Helvetica Neue"/>
                          <a:cs typeface="Helvetica Neue"/>
                        </a:rPr>
                        <a:t>MBPP</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81.1% ± 0.4</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81.4% ± 0.6</a:t>
                      </a:r>
                    </a:p>
                  </a:txBody>
                  <a:tcPr marL="152400" marR="114300" marT="95250" marB="95250" anchor="ctr">
                    <a:solidFill>
                      <a:srgbClr val="EFF2F6"/>
                    </a:solidFill>
                  </a:tcPr>
                </a:tc>
              </a:tr>
            </a:tbl>
          </a:graphicData>
        </a:graphic>
      </p:graphicFrame>
      <p:sp>
        <p:nvSpPr>
          <p:cNvPr id="5" name="text-3">
            <a:extLst>
              <a:ext uri="{FF2B5EF4-FFF2-40B4-BE49-F238E27FC236}">
                <ns2:creationId id="{9E9A7AC2-CB9F-4701-AE2D-962288116098}"/>
              </a:ext>
            </a:extLst>
          </p:cNvPr>
          <p:cNvSpPr>
            <a:spLocks noGrp="1"/>
          </p:cNvSpPr>
          <p:nvPr/>
        </p:nvSpPr>
        <p:spPr>
          <a:xfrm>
            <a:off x="685800" y="4200525"/>
            <a:ext cx="10763250" cy="38100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Master core-small: the same success at lower single-agent cost</a:t>
            </a:r>
          </a:p>
        </p:txBody>
      </p:sp>
      <p:sp>
        <p:nvSpPr>
          <p:cNvPr id="6" name="text-4">
            <a:extLst>
              <a:ext uri="{FF2B5EF4-FFF2-40B4-BE49-F238E27FC236}">
                <ns2:creationId id="{E09C3D52-40C8-4944-A03D-D791DF2F126B}"/>
              </a:ext>
            </a:extLst>
          </p:cNvPr>
          <p:cNvSpPr>
            <a:spLocks noGrp="1"/>
          </p:cNvSpPr>
          <p:nvPr/>
        </p:nvSpPr>
        <p:spPr>
          <a:xfrm>
            <a:off x="685800" y="4648200"/>
            <a:ext cx="10763250" cy="381000"/>
          </a:xfrm>
          <a:prstGeom prst="rect">
            <a:avLst/>
          </a:prstGeom>
          <a:noFill/>
          <a:ln w="0">
            <a:noFill/>
          </a:ln>
        </p:spPr>
        <p:txBody>
          <a:bodyPr wrap="square" lIns="0" tIns="0" rIns="0" bIns="0" anchor="t">
            <a:noAutofit/>
          </a:bodyPr>
          <a:lstStyle/>
          <a:p>
            <a:pPr algn="l">
              <a:defRPr sz="2025" b="0">
                <a:solidFill>
                  <a:srgbClr val="17283D"/>
                </a:solidFill>
                <a:latin typeface="Helvetica Neue"/>
                <a:ea typeface="Helvetica Neue"/>
                <a:cs typeface="Helvetica Neue"/>
              </a:defRPr>
            </a:pPr>
            <a:r>
              <a:rPr sz="2025" b="0">
                <a:solidFill>
                  <a:srgbClr val="17283D"/>
                </a:solidFill>
                <a:latin typeface="Helvetica Neue"/>
                <a:ea typeface="Helvetica Neue"/>
                <a:cs typeface="Helvetica Neue"/>
              </a:rPr>
              <a:t>All systems solve 11/12. Graph costs 2.03× as much as single.</a:t>
            </a:r>
          </a:p>
        </p:txBody>
      </p:sp>
      <p:sp>
        <p:nvSpPr>
          <p:cNvPr id="7" name="text-5">
            <a:extLst>
              <a:ext uri="{FF2B5EF4-FFF2-40B4-BE49-F238E27FC236}">
                <ns2:creationId id="{C73397D6-09B7-4A58-84E2-1B5F4E7CA807}"/>
              </a:ext>
            </a:extLst>
          </p:cNvPr>
          <p:cNvSpPr>
            <a:spLocks noGrp="1"/>
          </p:cNvSpPr>
          <p:nvPr/>
        </p:nvSpPr>
        <p:spPr>
          <a:xfrm>
            <a:off x="685800" y="5229225"/>
            <a:ext cx="10763250" cy="409575"/>
          </a:xfrm>
          <a:prstGeom prst="rect">
            <a:avLst/>
          </a:prstGeom>
          <a:noFill/>
          <a:ln w="0">
            <a:noFill/>
          </a:ln>
        </p:spPr>
        <p:txBody>
          <a:bodyPr wrap="square" lIns="0" tIns="0" rIns="0" bIns="0" anchor="t">
            <a:noAutofit/>
          </a:bodyPr>
          <a:lstStyle/>
          <a:p>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DeepSeek repeats: graph improves consistency at a higher cost.</a:t>
            </a:r>
          </a:p>
        </p:txBody>
      </p:sp>
      <p:sp>
        <p:nvSpPr>
          <p:cNvPr id="8" name="citation-1">
            <a:extLst>
              <a:ext uri="{FF2B5EF4-FFF2-40B4-BE49-F238E27FC236}">
                <ns2:creationId id="{ED74FD4D-EDCC-4495-9277-171686ED7562}"/>
              </a:ext>
            </a:extLst>
            <a:hlinkClick r:id="rIdCitation1" tooltip="Open the cited paper"/>
          </p:cNvPr>
          <p:cNvSpPr>
            <a:spLocks noGrp="1"/>
          </p:cNvSpPr>
          <p:nvPr/>
        </p:nvSpPr>
        <p:spPr>
          <a:xfrm>
            <a:off x="685800" y="60102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Table 1 and §6. arxiv.org/abs/2601.12307</a:t>
            </a:r>
          </a:p>
        </p:txBody>
      </p:sp>
    </p:spTree>
    <p:extLst>
      <p:ext uri="{BB962C8B-B14F-4D97-AF65-F5344CB8AC3E}">
        <ns4:creationId val="1777624355"/>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6" name="slide-title">
            <a:extLst>
              <a:ext uri="{FF2B5EF4-FFF2-40B4-BE49-F238E27FC236}">
                <ns2:creationId id="{35CC35A8-99C0-4302-AA1C-D746D5B06918}"/>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comparison</a:t>
            </a:r>
          </a:p>
        </p:txBody>
      </p:sp>
      <p:sp>
        <p:nvSpPr>
          <p:cNvPr id="2" name="slide-number">
            <a:extLst>
              <a:ext uri="{FF2B5EF4-FFF2-40B4-BE49-F238E27FC236}">
                <ns2:creationId id="{958E1BC8-2901-45E3-B7A5-0EE3F3973A01}"/>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20</a:t>
            </a:r>
          </a:p>
        </p:txBody>
      </p:sp>
      <p:sp>
        <p:nvSpPr>
          <p:cNvPr id="3" name="text-2">
            <a:extLst>
              <a:ext uri="{FF2B5EF4-FFF2-40B4-BE49-F238E27FC236}">
                <ns2:creationId id="{DE387926-362A-45DA-A7BB-E916469DA5CE}"/>
              </a:ext>
            </a:extLst>
          </p:cNvPr>
          <p:cNvSpPr>
            <a:spLocks noGrp="1"/>
          </p:cNvSpPr>
          <p:nvPr/>
        </p:nvSpPr>
        <p:spPr>
          <a:xfrm>
            <a:off x="685800" y="1400175"/>
            <a:ext cx="10763250" cy="40005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Both studies use engineered workflows with roles and tools.</a:t>
            </a:r>
          </a:p>
        </p:txBody>
      </p:sp>
      <p:graphicFrame>
        <p:nvGraphicFramePr>
          <p:cNvPr id="9" name=""/>
          <p:cNvGraphicFramePr/>
          <p:nvPr/>
        </p:nvGraphicFramePr>
        <p:xfrm>
          <a:off x="685800" y="2019300"/>
          <a:ext cx="10820400" cy="3695700"/>
        </p:xfrm>
        <a:graphic>
          <a:graphicData uri="http://schemas.openxmlformats.org/drawingml/2006/table">
            <a:tbl>
              <a:tblPr firstRow="0" bandRow="0"/>
              <a:tblGrid>
                <a:gridCol w="2343150"/>
                <a:gridCol w="4238625"/>
                <a:gridCol w="4238625"/>
              </a:tblGrid>
              <a:tr h="571500">
                <a:tc>
                  <a:txBody>
                    <a:bodyPr>
                      <a:noAutofit/>
                    </a:bodyPr>
                    <a:lstStyle/>
                    <a:p>
                      <a:pPr algn="l"/>
                      <a:r>
                        <a:rPr sz="1725" b="1">
                          <a:solidFill>
                            <a:srgbClr val="FFFFFF"/>
                          </a:solidFill>
                          <a:latin typeface="Helvetica Neue"/>
                          <a:ea typeface="Helvetica Neue"/>
                          <a:cs typeface="Helvetica Neue"/>
                        </a:rPr>
                        <a:t>Aspect</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Xu et al.</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This project</a:t>
                      </a:r>
                    </a:p>
                  </a:txBody>
                  <a:tcPr marL="152400" marR="114300" marT="66675" marB="66675" anchor="ctr">
                    <a:solidFill>
                      <a:srgbClr val="17283D"/>
                    </a:solidFill>
                  </a:tcPr>
                </a:tc>
              </a:tr>
              <a:tr h="781050">
                <a:tc>
                  <a:txBody>
                    <a:bodyPr>
                      <a:noAutofit/>
                    </a:bodyPr>
                    <a:lstStyle/>
                    <a:p>
                      <a:pPr algn="l"/>
                      <a:r>
                        <a:rPr sz="1800" b="0">
                          <a:solidFill>
                            <a:srgbClr val="17283D"/>
                          </a:solidFill>
                          <a:latin typeface="Helvetica Neue"/>
                          <a:ea typeface="Helvetica Neue"/>
                          <a:cs typeface="Helvetica Neue"/>
                        </a:rPr>
                        <a:t>Execution</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Single simulates the same</a:t>
                      </a:r>
                    </a:p>
                    <a:p>
                      <a:pPr algn="l"/>
                      <a:r>
                        <a:rPr sz="1800" b="0">
                          <a:solidFill>
                            <a:srgbClr val="17283D"/>
                          </a:solidFill>
                          <a:latin typeface="Helvetica Neue"/>
                          <a:ea typeface="Helvetica Neue"/>
                          <a:cs typeface="Helvetica Neue"/>
                        </a:rPr>
                        <a:t>workflow across roles</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Separate single and multi</a:t>
                      </a:r>
                    </a:p>
                    <a:p>
                      <a:pPr algn="l"/>
                      <a:r>
                        <a:rPr sz="1800" b="0">
                          <a:solidFill>
                            <a:srgbClr val="17283D"/>
                          </a:solidFill>
                          <a:latin typeface="Helvetica Neue"/>
                          <a:ea typeface="Helvetica Neue"/>
                          <a:cs typeface="Helvetica Neue"/>
                        </a:rPr>
                        <a:t>workflow implementations</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Coding tasks</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HumanEval and MBPP</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Repository edits with</a:t>
                      </a:r>
                    </a:p>
                    <a:p>
                      <a:pPr algn="l"/>
                      <a:r>
                        <a:rPr sz="1800" b="0">
                          <a:solidFill>
                            <a:srgbClr val="17283D"/>
                          </a:solidFill>
                          <a:latin typeface="Helvetica Neue"/>
                          <a:ea typeface="Helvetica Neue"/>
                          <a:cs typeface="Helvetica Neue"/>
                        </a:rPr>
                        <a:t>visible and withheld tests</a:t>
                      </a:r>
                    </a:p>
                  </a:txBody>
                  <a:tcPr marL="152400" marR="114300" marT="66675" marB="66675" anchor="ctr">
                    <a:solidFill>
                      <a:srgbClr val="EFF2F6"/>
                    </a:solidFill>
                  </a:tcPr>
                </a:tc>
              </a:tr>
              <a:tr h="781050">
                <a:tc>
                  <a:txBody>
                    <a:bodyPr>
                      <a:noAutofit/>
                    </a:bodyPr>
                    <a:lstStyle/>
                    <a:p>
                      <a:pPr algn="l"/>
                      <a:r>
                        <a:rPr sz="1800" b="0">
                          <a:solidFill>
                            <a:srgbClr val="17283D"/>
                          </a:solidFill>
                          <a:latin typeface="Helvetica Neue"/>
                          <a:ea typeface="Helvetica Neue"/>
                          <a:cs typeface="Helvetica Neue"/>
                        </a:rPr>
                        <a:t>Cost evidence</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Ideal KV-cache API estimate.</a:t>
                      </a:r>
                    </a:p>
                    <a:p>
                      <a:pPr algn="l"/>
                      <a:r>
                        <a:rPr sz="1800" b="0">
                          <a:solidFill>
                            <a:srgbClr val="17283D"/>
                          </a:solidFill>
                          <a:latin typeface="Helvetica Neue"/>
                          <a:ea typeface="Helvetica Neue"/>
                          <a:cs typeface="Helvetica Neue"/>
                        </a:rPr>
                        <a:t>Qwen latency measured.</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Actual DeepSeek billing.</a:t>
                      </a:r>
                    </a:p>
                    <a:p>
                      <a:pPr algn="l"/>
                      <a:r>
                        <a:rPr sz="1800" b="0">
                          <a:solidFill>
                            <a:srgbClr val="17283D"/>
                          </a:solidFill>
                          <a:latin typeface="Helvetica Neue"/>
                          <a:ea typeface="Helvetica Neue"/>
                          <a:cs typeface="Helvetica Neue"/>
                        </a:rPr>
                        <a:t>No cache-control ablation.</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Budget control</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Workflow-specific usage</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Step caps and cost guards.</a:t>
                      </a:r>
                    </a:p>
                    <a:p>
                      <a:pPr algn="l"/>
                      <a:r>
                        <a:rPr sz="1800" b="0">
                          <a:solidFill>
                            <a:srgbClr val="17283D"/>
                          </a:solidFill>
                          <a:latin typeface="Helvetica Neue"/>
                          <a:ea typeface="Helvetica Neue"/>
                          <a:cs typeface="Helvetica Neue"/>
                        </a:rPr>
                        <a:t>Actual compute differs.</a:t>
                      </a:r>
                    </a:p>
                  </a:txBody>
                  <a:tcPr marL="152400" marR="114300" marT="66675" marB="66675" anchor="ctr">
                    <a:solidFill>
                      <a:srgbClr val="EFF2F6"/>
                    </a:solidFill>
                  </a:tcPr>
                </a:tc>
              </a:tr>
            </a:tbl>
          </a:graphicData>
        </a:graphic>
      </p:graphicFrame>
      <p:sp>
        <p:nvSpPr>
          <p:cNvPr id="5" name="citation-2">
            <a:extLst>
              <a:ext uri="{FF2B5EF4-FFF2-40B4-BE49-F238E27FC236}">
                <ns2:creationId id="{F949938A-4CAE-4ABE-A501-29EB0F8FFBA8}"/>
              </a:ext>
            </a:extLst>
            <a:hlinkClick r:id="rIdCitation1" tooltip="Open the cited paper"/>
          </p:cNvPr>
          <p:cNvSpPr>
            <a:spLocks noGrp="1"/>
          </p:cNvSpPr>
          <p:nvPr/>
        </p:nvSpPr>
        <p:spPr>
          <a:xfrm>
            <a:off x="685800" y="60483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§§3.2 and 4.1. arxiv.org/abs/2601.12307</a:t>
            </a:r>
          </a:p>
        </p:txBody>
      </p:sp>
    </p:spTree>
    <p:extLst>
      <p:ext uri="{BB962C8B-B14F-4D97-AF65-F5344CB8AC3E}">
        <ns4:creationId val="1466430977"/>
      </p:ext>
    </p:extLst>
  </p:cSld>
</p:sld>
</file>

<file path=ppt/slides/slide2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5B9A74F-965B-43D4-80E1-0FB4CEFDE35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Hypotheses and conclusions</a:t>
            </a:r>
          </a:p>
        </p:txBody>
      </p:sp>
      <p:sp>
        <p:nvSpPr>
          <p:cNvPr id="2" name="slide-number">
            <a:extLst xmlns:a="http://schemas.openxmlformats.org/drawingml/2006/main">
              <a:ext uri="{FF2B5EF4-FFF2-40B4-BE49-F238E27FC236}">
                <a16:creationId xmlns:a16="http://schemas.microsoft.com/office/drawing/2014/main" id="{1CCA0E6B-3B63-42B4-A6C0-2B308994E02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21</a:t>
            </a:r>
          </a:p>
        </p:txBody>
      </p:sp>
      <p:sp>
        <p:nvSpPr>
          <p:cNvPr id="3" name="text-2">
            <a:extLst xmlns:a="http://schemas.openxmlformats.org/drawingml/2006/main">
              <a:ext uri="{FF2B5EF4-FFF2-40B4-BE49-F238E27FC236}">
                <a16:creationId xmlns:a16="http://schemas.microsoft.com/office/drawing/2014/main" id="{42A64EB5-7531-484B-8A1B-6CA052C5EF1C}"/>
              </a:ext>
            </a:extLst>
          </p:cNvPr>
          <p:cNvSpPr>
            <a:spLocks xmlns:a="http://schemas.openxmlformats.org/drawingml/2006/main" noGrp="1"/>
          </p:cNvSpPr>
          <p:nvPr/>
        </p:nvSpPr>
        <p:spPr>
          <a:xfrm xmlns:a="http://schemas.openxmlformats.org/drawingml/2006/main">
            <a:off x="685800" y="15335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H1. Single is more cost-effective on simple tasks</a:t>
            </a:r>
          </a:p>
        </p:txBody>
      </p:sp>
      <p:sp>
        <p:nvSpPr>
          <p:cNvPr id="4" name="text-3">
            <a:extLst xmlns:a="http://schemas.openxmlformats.org/drawingml/2006/main">
              <a:ext uri="{FF2B5EF4-FFF2-40B4-BE49-F238E27FC236}">
                <a16:creationId xmlns:a16="http://schemas.microsoft.com/office/drawing/2014/main" id="{B20A7A35-47BC-45D3-94ED-C48AA925F645}"/>
              </a:ext>
            </a:extLst>
          </p:cNvPr>
          <p:cNvSpPr>
            <a:spLocks xmlns:a="http://schemas.openxmlformats.org/drawingml/2006/main" noGrp="1"/>
          </p:cNvSpPr>
          <p:nvPr/>
        </p:nvSpPr>
        <p:spPr>
          <a:xfrm xmlns:a="http://schemas.openxmlformats.org/drawingml/2006/main">
            <a:off x="685800" y="200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9D6FC"/>
                </a:solidFill>
                <a:latin typeface="Helvetica Neue"/>
                <a:ea typeface="Helvetica Neue"/>
                <a:cs typeface="Helvetica Neue"/>
              </a:defRPr>
            </a:pPr>
            <a:r>
              <a:rPr sz="2100" b="1">
                <a:solidFill>
                  <a:srgbClr val="B9D6FC"/>
                </a:solidFill>
                <a:latin typeface="Helvetica Neue"/>
                <a:ea typeface="Helvetica Neue"/>
                <a:cs typeface="Helvetica Neue"/>
              </a:rPr>
              <a:t>Supported in master: all systems solve 11/12.</a:t>
            </a:r>
          </a:p>
        </p:txBody>
      </p:sp>
      <p:sp>
        <p:nvSpPr>
          <p:cNvPr id="5" name="text-4">
            <a:extLst xmlns:a="http://schemas.openxmlformats.org/drawingml/2006/main">
              <a:ext uri="{FF2B5EF4-FFF2-40B4-BE49-F238E27FC236}">
                <a16:creationId xmlns:a16="http://schemas.microsoft.com/office/drawing/2014/main" id="{BC7E6A86-BC22-4E5F-AAF3-5FD3C4F81105}"/>
              </a:ext>
            </a:extLst>
          </p:cNvPr>
          <p:cNvSpPr>
            <a:spLocks xmlns:a="http://schemas.openxmlformats.org/drawingml/2006/main" noGrp="1"/>
          </p:cNvSpPr>
          <p:nvPr/>
        </p:nvSpPr>
        <p:spPr>
          <a:xfrm xmlns:a="http://schemas.openxmlformats.org/drawingml/2006/main">
            <a:off x="685800" y="24193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Graph costs 2.03× single. Guarded costs 2.58×.</a:t>
            </a:r>
          </a:p>
        </p:txBody>
      </p:sp>
      <p:sp>
        <p:nvSpPr>
          <p:cNvPr id="6" name="text-5">
            <a:extLst xmlns:a="http://schemas.openxmlformats.org/drawingml/2006/main">
              <a:ext uri="{FF2B5EF4-FFF2-40B4-BE49-F238E27FC236}">
                <a16:creationId xmlns:a16="http://schemas.microsoft.com/office/drawing/2014/main" id="{313E4BC2-20DF-4256-AA4E-AE2457C03561}"/>
              </a:ext>
            </a:extLst>
          </p:cNvPr>
          <p:cNvSpPr>
            <a:spLocks xmlns:a="http://schemas.openxmlformats.org/drawingml/2006/main" noGrp="1"/>
          </p:cNvSpPr>
          <p:nvPr/>
        </p:nvSpPr>
        <p:spPr>
          <a:xfrm xmlns:a="http://schemas.openxmlformats.org/drawingml/2006/main">
            <a:off x="685800" y="31146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H2. Multi-agent benefits increase with complexity</a:t>
            </a:r>
          </a:p>
        </p:txBody>
      </p:sp>
      <p:sp>
        <p:nvSpPr>
          <p:cNvPr id="7" name="text-6">
            <a:extLst xmlns:a="http://schemas.openxmlformats.org/drawingml/2006/main">
              <a:ext uri="{FF2B5EF4-FFF2-40B4-BE49-F238E27FC236}">
                <a16:creationId xmlns:a16="http://schemas.microsoft.com/office/drawing/2014/main" id="{3CFB6AE6-2198-4786-A400-515C0909FB41}"/>
              </a:ext>
            </a:extLst>
          </p:cNvPr>
          <p:cNvSpPr>
            <a:spLocks xmlns:a="http://schemas.openxmlformats.org/drawingml/2006/main" noGrp="1"/>
          </p:cNvSpPr>
          <p:nvPr/>
        </p:nvSpPr>
        <p:spPr>
          <a:xfrm xmlns:a="http://schemas.openxmlformats.org/drawingml/2006/main">
            <a:off x="685800" y="36004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B9D6FC"/>
                </a:solidFill>
                <a:latin typeface="Helvetica Neue"/>
                <a:ea typeface="Helvetica Neue"/>
                <a:cs typeface="Helvetica Neue"/>
              </a:defRPr>
            </a:pPr>
            <a:r>
              <a:rPr sz="2025" b="1">
                <a:solidFill>
                  <a:srgbClr val="B9D6FC"/>
                </a:solidFill>
                <a:latin typeface="Helvetica Neue"/>
                <a:ea typeface="Helvetica Neue"/>
                <a:cs typeface="Helvetica Neue"/>
              </a:rPr>
              <a:t>Not supported: medium single 11/12, multi 10/12.</a:t>
            </a:r>
          </a:p>
        </p:txBody>
      </p:sp>
      <p:sp>
        <p:nvSpPr>
          <p:cNvPr id="8" name="text-7">
            <a:extLst xmlns:a="http://schemas.openxmlformats.org/drawingml/2006/main">
              <a:ext uri="{FF2B5EF4-FFF2-40B4-BE49-F238E27FC236}">
                <a16:creationId xmlns:a16="http://schemas.microsoft.com/office/drawing/2014/main" id="{F1F230C1-17F4-457D-BB87-2893FEA9F872}"/>
              </a:ext>
            </a:extLst>
          </p:cNvPr>
          <p:cNvSpPr>
            <a:spLocks xmlns:a="http://schemas.openxmlformats.org/drawingml/2006/main" noGrp="1"/>
          </p:cNvSpPr>
          <p:nvPr/>
        </p:nvSpPr>
        <p:spPr>
          <a:xfrm xmlns:a="http://schemas.openxmlformats.org/drawingml/2006/main">
            <a:off x="685800" y="39719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SWE Pro: single and graph both solve 9/15.</a:t>
            </a:r>
          </a:p>
        </p:txBody>
      </p:sp>
      <p:sp>
        <p:nvSpPr>
          <p:cNvPr id="9" name="text-8">
            <a:extLst xmlns:a="http://schemas.openxmlformats.org/drawingml/2006/main">
              <a:ext uri="{FF2B5EF4-FFF2-40B4-BE49-F238E27FC236}">
                <a16:creationId xmlns:a16="http://schemas.microsoft.com/office/drawing/2014/main" id="{01A678FF-6D00-428B-9686-99E5E1A848C0}"/>
              </a:ext>
            </a:extLst>
          </p:cNvPr>
          <p:cNvSpPr>
            <a:spLocks xmlns:a="http://schemas.openxmlformats.org/drawingml/2006/main" noGrp="1"/>
          </p:cNvSpPr>
          <p:nvPr/>
        </p:nvSpPr>
        <p:spPr>
          <a:xfrm xmlns:a="http://schemas.openxmlformats.org/drawingml/2006/main">
            <a:off x="685800" y="4429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DeepSeek: more consistent graph results at higher cost</a:t>
            </a:r>
          </a:p>
        </p:txBody>
      </p:sp>
      <p:sp>
        <p:nvSpPr>
          <p:cNvPr id="10" name="text-9">
            <a:extLst xmlns:a="http://schemas.openxmlformats.org/drawingml/2006/main">
              <a:ext uri="{FF2B5EF4-FFF2-40B4-BE49-F238E27FC236}">
                <a16:creationId xmlns:a16="http://schemas.microsoft.com/office/drawing/2014/main" id="{0412B73A-6E3C-4164-B2BA-D59C663DC245}"/>
              </a:ext>
            </a:extLst>
          </p:cNvPr>
          <p:cNvSpPr>
            <a:spLocks xmlns:a="http://schemas.openxmlformats.org/drawingml/2006/main" noGrp="1"/>
          </p:cNvSpPr>
          <p:nvPr/>
        </p:nvSpPr>
        <p:spPr>
          <a:xfrm xmlns:a="http://schemas.openxmlformats.org/drawingml/2006/main">
            <a:off x="685800" y="4895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9D6FC"/>
                </a:solidFill>
                <a:latin typeface="Helvetica Neue"/>
                <a:ea typeface="Helvetica Neue"/>
                <a:cs typeface="Helvetica Neue"/>
              </a:defRPr>
            </a:pPr>
            <a:r>
              <a:rPr sz="2025" b="0">
                <a:solidFill>
                  <a:srgbClr val="B9D6FC"/>
                </a:solidFill>
                <a:latin typeface="Helvetica Neue"/>
                <a:ea typeface="Helvetica Neue"/>
                <a:cs typeface="Helvetica Neue"/>
              </a:rPr>
              <a:t>Solved in all three attempts: graph 10/12 tasks, single 7/12.</a:t>
            </a:r>
          </a:p>
        </p:txBody>
      </p:sp>
      <p:sp>
        <p:nvSpPr>
          <p:cNvPr id="11" name="text-10">
            <a:extLst xmlns:a="http://schemas.openxmlformats.org/drawingml/2006/main">
              <a:ext uri="{FF2B5EF4-FFF2-40B4-BE49-F238E27FC236}">
                <a16:creationId xmlns:a16="http://schemas.microsoft.com/office/drawing/2014/main" id="{0B013F23-9E9D-4ABC-B685-E2021FFC9C0F}"/>
              </a:ext>
            </a:extLst>
          </p:cNvPr>
          <p:cNvSpPr>
            <a:spLocks xmlns:a="http://schemas.openxmlformats.org/drawingml/2006/main" noGrp="1"/>
          </p:cNvSpPr>
          <p:nvPr/>
        </p:nvSpPr>
        <p:spPr>
          <a:xfrm xmlns:a="http://schemas.openxmlformats.org/drawingml/2006/main">
            <a:off x="685800" y="52863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Both solve the same 11 tasks at least once. Graph cost/success: +20.5%.</a:t>
            </a:r>
          </a:p>
        </p:txBody>
      </p:sp>
      <p:sp>
        <p:nvSpPr>
          <p:cNvPr id="12" name="text-11">
            <a:extLst xmlns:a="http://schemas.openxmlformats.org/drawingml/2006/main">
              <a:ext uri="{FF2B5EF4-FFF2-40B4-BE49-F238E27FC236}">
                <a16:creationId xmlns:a16="http://schemas.microsoft.com/office/drawing/2014/main" id="{A2E26D57-242B-4127-A97E-B2644086FB6E}"/>
              </a:ext>
            </a:extLst>
          </p:cNvPr>
          <p:cNvSpPr>
            <a:spLocks xmlns:a="http://schemas.openxmlformats.org/drawingml/2006/main" noGrp="1"/>
          </p:cNvSpPr>
          <p:nvPr/>
        </p:nvSpPr>
        <p:spPr>
          <a:xfrm xmlns:a="http://schemas.openxmlformats.org/drawingml/2006/main">
            <a:off x="685800" y="591502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Scope: 12 familiar tasks in repeats. Larger master blocks use unequal budgets.</a:t>
            </a:r>
          </a:p>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Repository size only approximates task complexity.</a:t>
            </a:r>
          </a:p>
        </p:txBody>
      </p:sp>
    </p:spTree>
    <p:extLst>
      <p:ext uri="{BB962C8B-B14F-4D97-AF65-F5344CB8AC3E}">
        <p14:creationId xmlns:p14="http://schemas.microsoft.com/office/powerpoint/2010/main" val="1938417561"/>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712E8AF-A3BE-4AE9-BB55-05AF1011B1B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Dataset definitions and scope changes</a:t>
            </a:r>
          </a:p>
        </p:txBody>
      </p:sp>
      <p:sp>
        <p:nvSpPr>
          <p:cNvPr id="2" name="slide-number">
            <a:extLst xmlns:a="http://schemas.openxmlformats.org/drawingml/2006/main">
              <a:ext uri="{FF2B5EF4-FFF2-40B4-BE49-F238E27FC236}">
                <a16:creationId xmlns:a16="http://schemas.microsoft.com/office/drawing/2014/main" id="{2E5CB882-66A3-4D54-9BAF-39ACE0D7DF7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22</a:t>
            </a:r>
          </a:p>
        </p:txBody>
      </p:sp>
      <p:sp>
        <p:nvSpPr>
          <p:cNvPr id="3" name="appendix-label">
            <a:extLst xmlns:a="http://schemas.openxmlformats.org/drawingml/2006/main">
              <a:ext uri="{FF2B5EF4-FFF2-40B4-BE49-F238E27FC236}">
                <a16:creationId xmlns:a16="http://schemas.microsoft.com/office/drawing/2014/main" id="{7BCD4EC2-2C25-4CEB-B712-FBB1FD503C7F}"/>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10" name=""/>
          <p:cNvGraphicFramePr/>
          <p:nvPr/>
        </p:nvGraphicFramePr>
        <p:xfrm>
          <a:off xmlns:a="http://schemas.openxmlformats.org/drawingml/2006/main" x="685800" y="1838325"/>
          <a:ext xmlns:a="http://schemas.openxmlformats.org/drawingml/2006/main" cx="10820400" cy="2286000"/>
        </p:xfrm>
        <a:graphic xmlns:a="http://schemas.openxmlformats.org/drawingml/2006/main">
          <a:graphicData uri="http://schemas.openxmlformats.org/drawingml/2006/table">
            <a:tbl>
              <a:tblPr firstRow="0" bandRow="0"/>
              <a:tblGrid>
                <a:gridCol w="3581400"/>
                <a:gridCol w="3810000"/>
                <a:gridCol w="3429000"/>
              </a:tblGrid>
              <a:tr h="619125">
                <a:tc>
                  <a:txBody>
                    <a:bodyPr>
                      <a:noAutofit/>
                    </a:bodyPr>
                    <a:lstStyle/>
                    <a:p>
                      <a:pPr algn="l"/>
                      <a:r>
                        <a:rPr sz="1950" b="1">
                          <a:solidFill>
                            <a:srgbClr val="FFFFFF"/>
                          </a:solidFill>
                          <a:latin typeface="Helvetica Neue"/>
                          <a:ea typeface="Helvetica Neue"/>
                          <a:cs typeface="Helvetica Neue"/>
                        </a:rPr>
                        <a:t>Group</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source LOC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files</a:t>
                      </a:r>
                    </a:p>
                  </a:txBody>
                  <a:tcPr marL="152400" marR="114300" marT="123825" marB="114300" anchor="ctr">
                    <a:solidFill>
                      <a:srgbClr val="17283D"/>
                    </a:solidFill>
                  </a:tcPr>
                </a:tc>
              </a:tr>
              <a:tr h="781050">
                <a:tc>
                  <a:txBody>
                    <a:bodyPr>
                      <a:noAutofit/>
                    </a:bodyPr>
                    <a:lstStyle/>
                    <a:p>
                      <a:pPr algn="l"/>
                      <a:r>
                        <a:rPr sz="2025" b="0">
                          <a:solidFill>
                            <a:srgbClr val="17283D"/>
                          </a:solidFill>
                          <a:latin typeface="Helvetica Neue"/>
                          <a:ea typeface="Helvetica Neue"/>
                          <a:cs typeface="Helvetica Neue"/>
                        </a:rPr>
                        <a:t>Small</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500–3,000</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5–30</a:t>
                      </a:r>
                    </a:p>
                  </a:txBody>
                  <a:tcPr marL="152400" marR="114300" marT="123825" marB="114300" anchor="ctr">
                    <a:solidFill>
                      <a:srgbClr val="FFFFFF"/>
                    </a:solidFill>
                  </a:tcPr>
                </a:tc>
              </a:tr>
              <a:tr h="781050">
                <a:tc>
                  <a:txBody>
                    <a:bodyPr>
                      <a:noAutofit/>
                    </a:bodyPr>
                    <a:lstStyle/>
                    <a:p>
                      <a:pPr algn="l"/>
                      <a:r>
                        <a:rPr sz="2025" b="0">
                          <a:solidFill>
                            <a:srgbClr val="17283D"/>
                          </a:solidFill>
                          <a:latin typeface="Helvetica Neue"/>
                          <a:ea typeface="Helvetica Neue"/>
                          <a:cs typeface="Helvetica Neue"/>
                        </a:rPr>
                        <a:t>Medium</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3,001–15,000</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31–120</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786AAEB6-A020-45E7-828A-1DFA46672F29}"/>
              </a:ext>
            </a:extLst>
          </p:cNvPr>
          <p:cNvSpPr>
            <a:spLocks xmlns:a="http://schemas.openxmlformats.org/drawingml/2006/main" noGrp="1"/>
          </p:cNvSpPr>
          <p:nvPr/>
        </p:nvSpPr>
        <p:spPr>
          <a:xfrm xmlns:a="http://schemas.openxmlformats.org/drawingml/2006/main">
            <a:off x="685800" y="454342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Final core: 12 tasks per group, from 11 small and 6 medium repositories.</a:t>
            </a:r>
          </a:p>
        </p:txBody>
      </p:sp>
      <p:sp>
        <p:nvSpPr>
          <p:cNvPr id="6" name="text-4">
            <a:extLst xmlns:a="http://schemas.openxmlformats.org/drawingml/2006/main">
              <a:ext uri="{FF2B5EF4-FFF2-40B4-BE49-F238E27FC236}">
                <a16:creationId xmlns:a16="http://schemas.microsoft.com/office/drawing/2014/main" id="{C9256ABF-A9B4-4342-9EE5-416AE3E7707E}"/>
              </a:ext>
            </a:extLst>
          </p:cNvPr>
          <p:cNvSpPr>
            <a:spLocks xmlns:a="http://schemas.openxmlformats.org/drawingml/2006/main" noGrp="1"/>
          </p:cNvSpPr>
          <p:nvPr/>
        </p:nvSpPr>
        <p:spPr>
          <a:xfrm xmlns:a="http://schemas.openxmlformats.org/drawingml/2006/main">
            <a:off x="685800" y="55626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Later rules prioritize LOC. Physical and nonblank counts leave two medium labels ambiguous.</a:t>
            </a:r>
          </a:p>
        </p:txBody>
      </p:sp>
    </p:spTree>
    <p:extLst>
      <p:ext uri="{BB962C8B-B14F-4D97-AF65-F5344CB8AC3E}">
        <p14:creationId xmlns:p14="http://schemas.microsoft.com/office/powerpoint/2010/main" val="1722152323"/>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2C69EEE-4939-433F-8BDB-D2F0B75AE8A3}"/>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Operational definitions of AI metrics</a:t>
            </a:r>
          </a:p>
        </p:txBody>
      </p:sp>
      <p:sp>
        <p:nvSpPr>
          <p:cNvPr id="2" name="slide-number">
            <a:extLst xmlns:a="http://schemas.openxmlformats.org/drawingml/2006/main">
              <a:ext uri="{FF2B5EF4-FFF2-40B4-BE49-F238E27FC236}">
                <a16:creationId xmlns:a16="http://schemas.microsoft.com/office/drawing/2014/main" id="{7E2DC995-4187-47B3-B04D-205DC0149A13}"/>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23</a:t>
            </a:r>
          </a:p>
        </p:txBody>
      </p:sp>
      <p:sp>
        <p:nvSpPr>
          <p:cNvPr id="3" name="appendix-label">
            <a:extLst xmlns:a="http://schemas.openxmlformats.org/drawingml/2006/main">
              <a:ext uri="{FF2B5EF4-FFF2-40B4-BE49-F238E27FC236}">
                <a16:creationId xmlns:a16="http://schemas.microsoft.com/office/drawing/2014/main" id="{E776159A-7F45-4C65-A4A8-AF3C4AAD63E7}"/>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9" name=""/>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0" bandRow="0"/>
              <a:tblGrid>
                <a:gridCol w="4152900"/>
                <a:gridCol w="6667500"/>
              </a:tblGrid>
              <a:tr h="619125">
                <a:tc>
                  <a:txBody>
                    <a:bodyPr>
                      <a:noAutofit/>
                    </a:bodyPr>
                    <a:lstStyle/>
                    <a:p>
                      <a:pPr algn="l"/>
                      <a:r>
                        <a:rPr sz="1800" b="1">
                          <a:solidFill>
                            <a:srgbClr val="FFFFFF"/>
                          </a:solidFill>
                          <a:latin typeface="Helvetica Neue"/>
                          <a:ea typeface="Helvetica Neue"/>
                          <a:cs typeface="Helvetica Neue"/>
                        </a:rPr>
                        <a:t>Recorded metric</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Implemented proxy</a:t>
                      </a:r>
                    </a:p>
                  </a:txBody>
                  <a:tcPr marL="152400" marR="114300" marT="123825" marB="114300" anchor="ctr">
                    <a:solidFill>
                      <a:srgbClr val="17283D"/>
                    </a:solidFill>
                  </a:tcPr>
                </a:tc>
              </a:tr>
              <a:tr h="781050">
                <a:tc>
                  <a:txBody>
                    <a:bodyPr>
                      <a:noAutofit/>
                    </a:bodyPr>
                    <a:lstStyle/>
                    <a:p>
                      <a:pPr algn="l"/>
                      <a:r>
                        <a:rPr sz="187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Nonempty changed-files list</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Hallucinated references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Invalid, malformed, or missing actions</a:t>
                      </a:r>
                    </a:p>
                  </a:txBody>
                  <a:tcPr marL="152400" marR="114300" marT="123825" marB="114300" anchor="ctr">
                    <a:solidFill>
                      <a:srgbClr val="EFF2F6"/>
                    </a:solidFill>
                  </a:tcPr>
                </a:tc>
              </a:tr>
              <a:tr h="781050">
                <a:tc>
                  <a:txBody>
                    <a:bodyPr>
                      <a:noAutofit/>
                    </a:bodyPr>
                    <a:lstStyle/>
                    <a:p>
                      <a:pPr algn="l"/>
                      <a:r>
                        <a:rPr sz="187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Visible pass with more than one test iteration</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failure despite visible tests passing</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415D91DF-0AEC-49B3-9EC1-5244A503F420}"/>
              </a:ext>
            </a:extLst>
          </p:cNvPr>
          <p:cNvSpPr>
            <a:spLocks xmlns:a="http://schemas.openxmlformats.org/drawingml/2006/main" noGrp="1"/>
          </p:cNvSpPr>
          <p:nvPr/>
        </p:nvSpPr>
        <p:spPr>
          <a:xfrm xmlns:a="http://schemas.openxmlformats.org/drawingml/2006/main">
            <a:off x="685800" y="5876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68C9"/>
                </a:solidFill>
                <a:latin typeface="Helvetica Neue"/>
                <a:ea typeface="Helvetica Neue"/>
                <a:cs typeface="Helvetica Neue"/>
              </a:defRPr>
            </a:pPr>
            <a:r>
              <a:rPr sz="1875" b="1">
                <a:solidFill>
                  <a:srgbClr val="2468C9"/>
                </a:solidFill>
                <a:latin typeface="Helvetica Neue"/>
                <a:ea typeface="Helvetica Neue"/>
                <a:cs typeface="Helvetica Neue"/>
              </a:rPr>
              <a:t>Primary evidence: executable correctness, regressions, and resource cost.</a:t>
            </a:r>
          </a:p>
        </p:txBody>
      </p:sp>
    </p:spTree>
    <p:extLst>
      <p:ext uri="{BB962C8B-B14F-4D97-AF65-F5344CB8AC3E}">
        <p14:creationId xmlns:p14="http://schemas.microsoft.com/office/powerpoint/2010/main" val="1835139055"/>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018D876-33F0-4FB6-98C4-D0F1E22532A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SWE Pro: quality and agent metrics</a:t>
            </a:r>
          </a:p>
        </p:txBody>
      </p:sp>
      <p:sp>
        <p:nvSpPr>
          <p:cNvPr id="2" name="slide-number">
            <a:extLst xmlns:a="http://schemas.openxmlformats.org/drawingml/2006/main">
              <a:ext uri="{FF2B5EF4-FFF2-40B4-BE49-F238E27FC236}">
                <a16:creationId xmlns:a16="http://schemas.microsoft.com/office/drawing/2014/main" id="{49C04D3C-2D99-4309-88BB-4439C01AC0E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24</a:t>
            </a:r>
          </a:p>
        </p:txBody>
      </p:sp>
      <p:sp>
        <p:nvSpPr>
          <p:cNvPr id="3" name="appendix-label">
            <a:extLst xmlns:a="http://schemas.openxmlformats.org/drawingml/2006/main">
              <a:ext uri="{FF2B5EF4-FFF2-40B4-BE49-F238E27FC236}">
                <a16:creationId xmlns:a16="http://schemas.microsoft.com/office/drawing/2014/main" id="{ADF73295-AFDB-4EFD-A7E6-CEA7B9B12C09}"/>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6C94AA63-702C-4CA8-ABAD-707C226521E7}"/>
              </a:ext>
            </a:extLst>
          </p:cNvPr>
          <p:cNvSpPr>
            <a:spLocks xmlns:a="http://schemas.openxmlformats.org/drawingml/2006/main" noGrp="1"/>
          </p:cNvSpPr>
          <p:nvPr/>
        </p:nvSpPr>
        <p:spPr>
          <a:xfrm xmlns:a="http://schemas.openxmlformats.org/drawingml/2006/main">
            <a:off x="68580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15 tasks per architecture. Single: 50 steps. Graph: 75 steps.</a:t>
            </a:r>
          </a:p>
        </p:txBody>
      </p:sp>
      <p:graphicFrame>
        <p:nvGraphicFramePr>
          <p:cNvPr id="11" name=""/>
          <p:cNvGraphicFramePr/>
          <p:nvPr/>
        </p:nvGraphicFramePr>
        <p:xfrm>
          <a:off xmlns:a="http://schemas.openxmlformats.org/drawingml/2006/main" x="685800" y="2009775"/>
          <a:ext xmlns:a="http://schemas.openxmlformats.org/drawingml/2006/main" cx="10820400" cy="3895725"/>
        </p:xfrm>
        <a:graphic xmlns:a="http://schemas.openxmlformats.org/drawingml/2006/main">
          <a:graphicData uri="http://schemas.openxmlformats.org/drawingml/2006/table">
            <a:tbl>
              <a:tblPr firstRow="0" bandRow="0"/>
              <a:tblGrid>
                <a:gridCol w="5334000"/>
                <a:gridCol w="2743200"/>
                <a:gridCol w="2743200"/>
              </a:tblGrid>
              <a:tr h="561975">
                <a:tc>
                  <a:txBody>
                    <a:bodyPr>
                      <a:noAutofit/>
                    </a:bodyPr>
                    <a:lstStyle/>
                    <a:p>
                      <a:pPr algn="l"/>
                      <a:r>
                        <a:rPr sz="1650" b="1">
                          <a:solidFill>
                            <a:srgbClr val="FFFFFF"/>
                          </a:solidFill>
                          <a:latin typeface="Helvetica Neue"/>
                          <a:ea typeface="Helvetica Neue"/>
                          <a:cs typeface="Helvetica Neue"/>
                        </a:rPr>
                        <a:t>Metric</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76200" marB="76200"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Resolved@1 / required hidden pass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Visible suite pass rate</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95.6% (390/408)</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96.7% (639/661)</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1.13</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1.20</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Repair success*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(14/14)</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837F3662-25E7-41C1-B2A8-472965E25054}"/>
              </a:ext>
            </a:extLst>
          </p:cNvPr>
          <p:cNvSpPr>
            <a:spLocks xmlns:a="http://schemas.openxmlformats.org/drawingml/2006/main" noGrp="1"/>
          </p:cNvSpPr>
          <p:nvPr/>
        </p:nvSpPr>
        <p:spPr>
          <a:xfrm xmlns:a="http://schemas.openxmlformats.org/drawingml/2006/main">
            <a:off x="685800" y="6029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8C9"/>
                </a:solidFill>
                <a:latin typeface="Helvetica Neue"/>
                <a:ea typeface="Helvetica Neue"/>
                <a:cs typeface="Helvetica Neue"/>
              </a:defRPr>
            </a:pPr>
            <a:r>
              <a:rPr sz="1725" b="1">
                <a:solidFill>
                  <a:srgbClr val="2468C9"/>
                </a:solidFill>
                <a:latin typeface="Helvetica Neue"/>
                <a:ea typeface="Helvetica Neue"/>
                <a:cs typeface="Helvetica Neue"/>
              </a:rPr>
              <a:t>*Same proxy definitions as core. Visible passes do not guarantee final success.</a:t>
            </a:r>
          </a:p>
        </p:txBody>
      </p:sp>
    </p:spTree>
    <p:extLst>
      <p:ext uri="{BB962C8B-B14F-4D97-AF65-F5344CB8AC3E}">
        <p14:creationId xmlns:p14="http://schemas.microsoft.com/office/powerpoint/2010/main" val="32260152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3" name="slide-title">
            <a:extLst>
              <a:ext uri="{FF2B5EF4-FFF2-40B4-BE49-F238E27FC236}">
                <ns2:creationId id="{E7F0B9C2-2473-420D-957D-9C957D97BB7A}"/>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Related work and scope</a:t>
            </a:r>
          </a:p>
        </p:txBody>
      </p:sp>
      <p:sp>
        <p:nvSpPr>
          <p:cNvPr id="2" name="slide-number">
            <a:extLst>
              <a:ext uri="{FF2B5EF4-FFF2-40B4-BE49-F238E27FC236}">
                <ns2:creationId id="{E7EB97C4-1AD7-4E28-A96B-B44C17E32F39}"/>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25</a:t>
            </a:r>
          </a:p>
        </p:txBody>
      </p:sp>
      <p:sp>
        <p:nvSpPr>
          <p:cNvPr id="3" name="appendix-label">
            <a:extLst>
              <a:ext uri="{FF2B5EF4-FFF2-40B4-BE49-F238E27FC236}">
                <ns2:creationId id="{7336D948-E343-4308-9424-141F1ED55D84}"/>
              </a:ext>
            </a:extLst>
          </p:cNvPr>
          <p:cNvSpPr>
            <a:spLocks noGrp="1"/>
          </p:cNvSpPr>
          <p:nvPr/>
        </p:nvSpPr>
        <p:spPr>
          <a:xfrm>
            <a:off x="685800" y="6381750"/>
            <a:ext cx="1428750" cy="228600"/>
          </a:xfrm>
          <a:prstGeom prst="rect">
            <a:avLst/>
          </a:prstGeom>
          <a:noFill/>
          <a:ln w="0">
            <a:noFill/>
          </a:ln>
        </p:spPr>
        <p:txBody>
          <a:bodyPr wrap="square" lIns="0" tIns="0" rIns="0" bIns="0" anchor="t">
            <a:noAutofit/>
          </a:bodyPr>
          <a:lstStyle/>
          <a:p>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a:ext uri="{FF2B5EF4-FFF2-40B4-BE49-F238E27FC236}">
                <ns2:creationId id="{5D4B0202-A807-482A-AD34-4870AF6FCBE1}"/>
              </a:ext>
            </a:extLst>
          </p:cNvPr>
          <p:cNvSpPr>
            <a:spLocks noGrp="1"/>
          </p:cNvSpPr>
          <p:nvPr/>
        </p:nvSpPr>
        <p:spPr>
          <a:xfrm>
            <a:off x="685800" y="1533525"/>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Xu et al. (2026): OneFlow</a:t>
            </a:r>
          </a:p>
        </p:txBody>
      </p:sp>
      <p:sp>
        <p:nvSpPr>
          <p:cNvPr id="5" name="text-4">
            <a:extLst>
              <a:ext uri="{FF2B5EF4-FFF2-40B4-BE49-F238E27FC236}">
                <ns2:creationId id="{4C5D3518-5B4F-4908-A66C-8FA1526A871E}"/>
              </a:ext>
            </a:extLst>
          </p:cNvPr>
          <p:cNvSpPr>
            <a:spLocks noGrp="1"/>
          </p:cNvSpPr>
          <p:nvPr/>
        </p:nvSpPr>
        <p:spPr>
          <a:xfrm>
            <a:off x="685800" y="1971675"/>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Homogeneous workflow simulation. Our study compares</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separately designed repository agents.</a:t>
            </a:r>
          </a:p>
        </p:txBody>
      </p:sp>
      <p:sp>
        <p:nvSpPr>
          <p:cNvPr id="6" name="citation-3">
            <a:extLst>
              <a:ext uri="{FF2B5EF4-FFF2-40B4-BE49-F238E27FC236}">
                <ns2:creationId id="{40A43E52-B743-4159-861C-A12A4466B63E}"/>
              </a:ext>
            </a:extLst>
            <a:hlinkClick r:id="rIdCitation1" tooltip="Open the cited paper"/>
          </p:cNvPr>
          <p:cNvSpPr>
            <a:spLocks noGrp="1"/>
          </p:cNvSpPr>
          <p:nvPr/>
        </p:nvSpPr>
        <p:spPr>
          <a:xfrm>
            <a:off x="685800" y="26860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arxiv.org/abs/2601.12307  (§§3.2, 4.1 and 6)</a:t>
            </a:r>
          </a:p>
        </p:txBody>
      </p:sp>
      <p:sp>
        <p:nvSpPr>
          <p:cNvPr id="7" name="text-6">
            <a:extLst>
              <a:ext uri="{FF2B5EF4-FFF2-40B4-BE49-F238E27FC236}">
                <ns2:creationId id="{90235371-D471-415B-8A19-9BC4E51490FF}"/>
              </a:ext>
            </a:extLst>
          </p:cNvPr>
          <p:cNvSpPr>
            <a:spLocks noGrp="1"/>
          </p:cNvSpPr>
          <p:nvPr/>
        </p:nvSpPr>
        <p:spPr>
          <a:xfrm>
            <a:off x="685800" y="31813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Tran and Kiela (2026): thinking-token budgets</a:t>
            </a:r>
          </a:p>
        </p:txBody>
      </p:sp>
      <p:sp>
        <p:nvSpPr>
          <p:cNvPr id="8" name="text-7">
            <a:extLst>
              <a:ext uri="{FF2B5EF4-FFF2-40B4-BE49-F238E27FC236}">
                <ns2:creationId id="{E0B97962-BE76-4D62-AAA3-09AF956FBC59}"/>
              </a:ext>
            </a:extLst>
          </p:cNvPr>
          <p:cNvSpPr>
            <a:spLocks noGrp="1"/>
          </p:cNvSpPr>
          <p:nvPr/>
        </p:nvSpPr>
        <p:spPr>
          <a:xfrm>
            <a:off x="685800" y="36195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Text-only multi-hop QA. Requested thinking caps exclude</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prompts and final answers. Our step limits control a different resource.</a:t>
            </a:r>
          </a:p>
        </p:txBody>
      </p:sp>
      <p:sp>
        <p:nvSpPr>
          <p:cNvPr id="9" name="citation-4">
            <a:extLst>
              <a:ext uri="{FF2B5EF4-FFF2-40B4-BE49-F238E27FC236}">
                <ns2:creationId id="{EC81242A-CE4B-4E62-A849-9EE58CA05395}"/>
              </a:ext>
            </a:extLst>
            <a:hlinkClick r:id="rIdCitation2" tooltip="Open the cited paper"/>
          </p:cNvPr>
          <p:cNvSpPr>
            <a:spLocks noGrp="1"/>
          </p:cNvSpPr>
          <p:nvPr/>
        </p:nvSpPr>
        <p:spPr>
          <a:xfrm>
            <a:off x="685800" y="43243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arxiv.org/abs/2604.02460  (§4 and Appendix C)</a:t>
            </a:r>
          </a:p>
        </p:txBody>
      </p:sp>
      <p:sp>
        <p:nvSpPr>
          <p:cNvPr id="10" name="text-9">
            <a:extLst>
              <a:ext uri="{FF2B5EF4-FFF2-40B4-BE49-F238E27FC236}">
                <ns2:creationId id="{2F055904-D592-4C24-9F99-464B2C7EBD21}"/>
              </a:ext>
            </a:extLst>
          </p:cNvPr>
          <p:cNvSpPr>
            <a:spLocks noGrp="1"/>
          </p:cNvSpPr>
          <p:nvPr/>
        </p:nvSpPr>
        <p:spPr>
          <a:xfrm>
            <a:off x="685800" y="48196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Xia et al. (2024): Agentless</a:t>
            </a:r>
          </a:p>
        </p:txBody>
      </p:sp>
      <p:sp>
        <p:nvSpPr>
          <p:cNvPr id="11" name="text-10">
            <a:extLst>
              <a:ext uri="{FF2B5EF4-FFF2-40B4-BE49-F238E27FC236}">
                <ns2:creationId id="{FC378404-5B3D-4DB6-A2DC-85B3F9870FFC}"/>
              </a:ext>
            </a:extLst>
          </p:cNvPr>
          <p:cNvSpPr>
            <a:spLocks noGrp="1"/>
          </p:cNvSpPr>
          <p:nvPr/>
        </p:nvSpPr>
        <p:spPr>
          <a:xfrm>
            <a:off x="685800" y="52578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Fixed repair pipeline with tests. Its baseline differs from</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our autonomous agent loop.</a:t>
            </a:r>
          </a:p>
        </p:txBody>
      </p:sp>
      <p:sp>
        <p:nvSpPr>
          <p:cNvPr id="12" name="citation-5">
            <a:extLst>
              <a:ext uri="{FF2B5EF4-FFF2-40B4-BE49-F238E27FC236}">
                <ns2:creationId id="{B673BD96-2780-4FEA-9C12-1A2105D9FC7B}"/>
              </a:ext>
            </a:extLst>
            <a:hlinkClick r:id="rIdCitation3" tooltip="Open the cited paper"/>
          </p:cNvPr>
          <p:cNvSpPr>
            <a:spLocks noGrp="1"/>
          </p:cNvSpPr>
          <p:nvPr/>
        </p:nvSpPr>
        <p:spPr>
          <a:xfrm>
            <a:off x="685800" y="59626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arxiv.org/abs/2407.01489  (§3)</a:t>
            </a:r>
          </a:p>
        </p:txBody>
      </p:sp>
    </p:spTree>
    <p:extLst>
      <p:ext uri="{BB962C8B-B14F-4D97-AF65-F5344CB8AC3E}">
        <ns4:creationId val="1190756976"/>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6632908-0828-40AD-957B-244EE9F0D1C3}"/>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outcomes across three attempts</a:t>
            </a:r>
          </a:p>
        </p:txBody>
      </p:sp>
      <p:sp>
        <p:nvSpPr>
          <p:cNvPr id="2" name="slide-number">
            <a:extLst xmlns:a="http://schemas.openxmlformats.org/drawingml/2006/main">
              <a:ext uri="{FF2B5EF4-FFF2-40B4-BE49-F238E27FC236}">
                <a16:creationId xmlns:a16="http://schemas.microsoft.com/office/drawing/2014/main" id="{97F4B798-9066-4537-8DBA-DA4392FD29F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26</a:t>
            </a:r>
          </a:p>
        </p:txBody>
      </p:sp>
      <p:sp>
        <p:nvSpPr>
          <p:cNvPr id="3" name="appendix-label">
            <a:extLst xmlns:a="http://schemas.openxmlformats.org/drawingml/2006/main">
              <a:ext uri="{FF2B5EF4-FFF2-40B4-BE49-F238E27FC236}">
                <a16:creationId xmlns:a16="http://schemas.microsoft.com/office/drawing/2014/main" id="{761D1717-F6A6-40AF-8870-3B2E4BD89BBB}"/>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8BC08CE4-CFE6-4C27-9DDD-31DC89E4CC70}"/>
              </a:ext>
            </a:extLst>
          </p:cNvPr>
          <p:cNvSpPr>
            <a:spLocks xmlns:a="http://schemas.openxmlformats.org/drawingml/2006/main" noGrp="1"/>
          </p:cNvSpPr>
          <p:nvPr/>
        </p:nvSpPr>
        <p:spPr>
          <a:xfrm xmlns:a="http://schemas.openxmlformats.org/drawingml/2006/main">
            <a:off x="685800" y="1400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Order within each cell: original, repeat 1, repeat 2</a:t>
            </a:r>
          </a:p>
        </p:txBody>
      </p:sp>
      <p:graphicFrame>
        <p:nvGraphicFramePr>
          <p:cNvPr id="12" name=""/>
          <p:cNvGraphicFramePr/>
          <p:nvPr/>
        </p:nvGraphicFramePr>
        <p:xfrm>
          <a:off xmlns:a="http://schemas.openxmlformats.org/drawingml/2006/main" x="6858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h11 #181</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humanize #329</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pluggy #646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w3lib #272</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parse #165</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parse #227</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graphicFrame>
        <p:nvGraphicFramePr>
          <p:cNvPr id="13" name=""/>
          <p:cNvGraphicFramePr/>
          <p:nvPr/>
        </p:nvGraphicFramePr>
        <p:xfrm>
          <a:off xmlns:a="http://schemas.openxmlformats.org/drawingml/2006/main" x="62865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cachetools 57d2e48</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tinydb #616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python-dotenv #640</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tenacity #628</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freezegun #546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croniter #235</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sp>
        <p:nvSpPr>
          <p:cNvPr id="7" name="text-4">
            <a:extLst xmlns:a="http://schemas.openxmlformats.org/drawingml/2006/main">
              <a:ext uri="{FF2B5EF4-FFF2-40B4-BE49-F238E27FC236}">
                <a16:creationId xmlns:a16="http://schemas.microsoft.com/office/drawing/2014/main" id="{05F04820-4C3C-4D88-87DB-01380F20973A}"/>
              </a:ext>
            </a:extLst>
          </p:cNvPr>
          <p:cNvSpPr>
            <a:spLocks xmlns:a="http://schemas.openxmlformats.org/drawingml/2006/main" noGrp="1"/>
          </p:cNvSpPr>
          <p:nvPr/>
        </p:nvSpPr>
        <p:spPr>
          <a:xfrm xmlns:a="http://schemas.openxmlformats.org/drawingml/2006/main">
            <a:off x="685800" y="58293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Helvetica Neue"/>
                <a:ea typeface="Helvetica Neue"/>
                <a:cs typeface="Helvetica Neue"/>
              </a:defRPr>
            </a:pPr>
            <a:r>
              <a:rPr sz="1800" b="0">
                <a:solidFill>
                  <a:srgbClr val="516174"/>
                </a:solidFill>
                <a:latin typeface="Helvetica Neue"/>
                <a:ea typeface="Helvetica Neue"/>
                <a:cs typeface="Helvetica Neue"/>
              </a:rPr>
              <a:t>P = required evaluation passed. F = final task failure.</a:t>
            </a:r>
          </a:p>
        </p:txBody>
      </p:sp>
    </p:spTree>
    <p:extLst>
      <p:ext uri="{BB962C8B-B14F-4D97-AF65-F5344CB8AC3E}">
        <p14:creationId xmlns:p14="http://schemas.microsoft.com/office/powerpoint/2010/main" val="706477055"/>
      </p:ext>
    </p:extLst>
  </p:cSld>
</p:sld>
</file>

<file path=ppt/theme/theme1.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2026-09-05T06:35:10.0780000Z</dcterms:created>
  <dcterms:modified xsi:type="dcterms:W3CDTF">2026-09-05T06:35:10.0780000Z</dcterms:modified>
</coreProperties>
</file>