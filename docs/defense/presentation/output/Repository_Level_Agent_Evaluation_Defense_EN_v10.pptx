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6a724407e6e47f3" /><Relationship Type="http://schemas.openxmlformats.org/officeDocument/2006/relationships/extended-properties" Target="/docProps/app.xml" Id="R22305e2018704090" /><Relationship Type="http://schemas.openxmlformats.org/officeDocument/2006/relationships/officeDocument" Target="/ppt/presentation.xml" Id="R0ac3a20313e24d40" /></Relationships>
</file>

<file path=ppt/presentation.xml><?xml version="1.0" encoding="utf-8"?>
<p:presentation xmlns:p="http://schemas.openxmlformats.org/presentationml/2006/main">
  <p:sldMasterIdLst>
    <p:sldMasterId xmlns:r="http://schemas.openxmlformats.org/officeDocument/2006/relationships" id="2147483648" r:id="Rc3c6797ae8dc468e"/>
  </p:sldMasterIdLst>
  <p:notesMasterIdLst>
    <p:notesMasterId xmlns:r="http://schemas.openxmlformats.org/officeDocument/2006/relationships" r:id="R89987b558efa4cd4"/>
  </p:notesMasterIdLst>
  <p:sldIdLst>
    <p:sldId xmlns:r="http://schemas.openxmlformats.org/officeDocument/2006/relationships" id="256" r:id="Raa85415eaf30409d"/>
    <p:sldId xmlns:r="http://schemas.openxmlformats.org/officeDocument/2006/relationships" id="257" r:id="R6494edda6c3f4b1f"/>
    <p:sldId xmlns:r="http://schemas.openxmlformats.org/officeDocument/2006/relationships" id="258" r:id="Re585a03bc7364e44"/>
    <p:sldId xmlns:r="http://schemas.openxmlformats.org/officeDocument/2006/relationships" id="259" r:id="R74ebcd7166884670"/>
    <p:sldId xmlns:r="http://schemas.openxmlformats.org/officeDocument/2006/relationships" id="260" r:id="R8ba7bf9fa1d743e2"/>
    <p:sldId xmlns:r="http://schemas.openxmlformats.org/officeDocument/2006/relationships" id="261" r:id="R58c7af0003734e88"/>
    <p:sldId xmlns:r="http://schemas.openxmlformats.org/officeDocument/2006/relationships" id="262" r:id="R1829b150fde64e82"/>
    <p:sldId xmlns:r="http://schemas.openxmlformats.org/officeDocument/2006/relationships" id="263" r:id="R100abc3c6482426c"/>
    <p:sldId xmlns:r="http://schemas.openxmlformats.org/officeDocument/2006/relationships" id="264" r:id="R7ca62fbc06354eb6"/>
    <p:sldId xmlns:r="http://schemas.openxmlformats.org/officeDocument/2006/relationships" id="265" r:id="R8851d2329f184c45"/>
    <p:sldId xmlns:r="http://schemas.openxmlformats.org/officeDocument/2006/relationships" id="266" r:id="Ra2533399eac44417"/>
    <p:sldId xmlns:r="http://schemas.openxmlformats.org/officeDocument/2006/relationships" id="267" r:id="R68246d8371514285"/>
    <p:sldId xmlns:r="http://schemas.openxmlformats.org/officeDocument/2006/relationships" id="268" r:id="Rf5d2523897684b8d"/>
    <p:sldId xmlns:r="http://schemas.openxmlformats.org/officeDocument/2006/relationships" id="269" r:id="Rc951a065e32a4dfd"/>
    <p:sldId xmlns:r="http://schemas.openxmlformats.org/officeDocument/2006/relationships" id="270" r:id="R7f917ed8d199458e"/>
    <p:sldId xmlns:r="http://schemas.openxmlformats.org/officeDocument/2006/relationships" id="271" r:id="R4407a81cc75e458d"/>
    <p:sldId xmlns:r="http://schemas.openxmlformats.org/officeDocument/2006/relationships" id="272" r:id="R7ef069173c824d4a"/>
    <p:sldId xmlns:r="http://schemas.openxmlformats.org/officeDocument/2006/relationships" id="273" r:id="Rbf22bec97c0647ad"/>
    <p:sldId xmlns:r="http://schemas.openxmlformats.org/officeDocument/2006/relationships" id="274" r:id="R25002f881c0941a1"/>
    <p:sldId xmlns:r="http://schemas.openxmlformats.org/officeDocument/2006/relationships" id="275" r:id="R4fc2af88906d43c9"/>
    <p:sldId xmlns:r="http://schemas.openxmlformats.org/officeDocument/2006/relationships" id="276" r:id="R244deddc4d084abb"/>
    <p:sldId xmlns:r="http://schemas.openxmlformats.org/officeDocument/2006/relationships" id="277" r:id="R2ada19df551b41b5"/>
    <p:sldId xmlns:r="http://schemas.openxmlformats.org/officeDocument/2006/relationships" id="278" r:id="R189ab5bfe9724f77"/>
    <p:sldId xmlns:r="http://schemas.openxmlformats.org/officeDocument/2006/relationships" id="279" r:id="Rae3934d5a2734acf"/>
    <p:sldId xmlns:r="http://schemas.openxmlformats.org/officeDocument/2006/relationships" id="280" r:id="R634e7ec92e6644ff"/>
    <p:sldId xmlns:r="http://schemas.openxmlformats.org/officeDocument/2006/relationships" id="281" r:id="Rade08c3feec44d4b"/>
    <p:sldId xmlns:r="http://schemas.openxmlformats.org/officeDocument/2006/relationships" id="282" r:id="R2970bb851ef24feb"/>
    <p:sldId xmlns:r="http://schemas.openxmlformats.org/officeDocument/2006/relationships" id="283" r:id="R77ce4144af6049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5c5ec1cd54419b" /><Relationship Type="http://schemas.openxmlformats.org/officeDocument/2006/relationships/slideMaster" Target="/ppt/slideMasters/slideMaster1.xml" Id="Rc3c6797ae8dc468e" /><Relationship Type="http://schemas.openxmlformats.org/officeDocument/2006/relationships/notesMaster" Target="/ppt/notesMasters/notesMaster1.xml" Id="R89987b558efa4cd4" /><Relationship Type="http://schemas.openxmlformats.org/officeDocument/2006/relationships/presProps" Target="/ppt/presProps.xml" Id="R10c927c786ab4614" /><Relationship Type="http://schemas.openxmlformats.org/officeDocument/2006/relationships/tableStyles" Target="/ppt/tableStyles.xml" Id="R10d3b1aa5a7846ad" /><Relationship Type="http://schemas.openxmlformats.org/officeDocument/2006/relationships/slide" Target="/ppt/slides/slide1.xml" Id="Raa85415eaf30409d" /><Relationship Type="http://schemas.openxmlformats.org/officeDocument/2006/relationships/slide" Target="/ppt/slides/slide2.xml" Id="R6494edda6c3f4b1f" /><Relationship Type="http://schemas.openxmlformats.org/officeDocument/2006/relationships/slide" Target="/ppt/slides/slide3.xml" Id="Re585a03bc7364e44" /><Relationship Type="http://schemas.openxmlformats.org/officeDocument/2006/relationships/slide" Target="/ppt/slides/slide4.xml" Id="R74ebcd7166884670" /><Relationship Type="http://schemas.openxmlformats.org/officeDocument/2006/relationships/slide" Target="/ppt/slides/slide5.xml" Id="R8ba7bf9fa1d743e2" /><Relationship Type="http://schemas.openxmlformats.org/officeDocument/2006/relationships/slide" Target="/ppt/slides/slide6.xml" Id="R58c7af0003734e88" /><Relationship Type="http://schemas.openxmlformats.org/officeDocument/2006/relationships/slide" Target="/ppt/slides/slide7.xml" Id="R1829b150fde64e82" /><Relationship Type="http://schemas.openxmlformats.org/officeDocument/2006/relationships/slide" Target="/ppt/slides/slide8.xml" Id="R100abc3c6482426c" /><Relationship Type="http://schemas.openxmlformats.org/officeDocument/2006/relationships/slide" Target="/ppt/slides/slide9.xml" Id="R7ca62fbc06354eb6" /><Relationship Type="http://schemas.openxmlformats.org/officeDocument/2006/relationships/slide" Target="/ppt/slides/slide10.xml" Id="R8851d2329f184c45" /><Relationship Type="http://schemas.openxmlformats.org/officeDocument/2006/relationships/slide" Target="/ppt/slides/slide11.xml" Id="Ra2533399eac44417" /><Relationship Type="http://schemas.openxmlformats.org/officeDocument/2006/relationships/slide" Target="/ppt/slides/slide12.xml" Id="R68246d8371514285" /><Relationship Type="http://schemas.openxmlformats.org/officeDocument/2006/relationships/slide" Target="/ppt/slides/slide13.xml" Id="Rf5d2523897684b8d" /><Relationship Type="http://schemas.openxmlformats.org/officeDocument/2006/relationships/slide" Target="/ppt/slides/slide14.xml" Id="Rc951a065e32a4dfd" /><Relationship Type="http://schemas.openxmlformats.org/officeDocument/2006/relationships/slide" Target="/ppt/slides/slide15.xml" Id="R7f917ed8d199458e" /><Relationship Type="http://schemas.openxmlformats.org/officeDocument/2006/relationships/slide" Target="/ppt/slides/slide16.xml" Id="R4407a81cc75e458d" /><Relationship Type="http://schemas.openxmlformats.org/officeDocument/2006/relationships/slide" Target="/ppt/slides/slide17.xml" Id="R7ef069173c824d4a" /><Relationship Type="http://schemas.openxmlformats.org/officeDocument/2006/relationships/slide" Target="/ppt/slides/slide18.xml" Id="Rbf22bec97c0647ad" /><Relationship Type="http://schemas.openxmlformats.org/officeDocument/2006/relationships/slide" Target="/ppt/slides/slide19.xml" Id="R25002f881c0941a1" /><Relationship Type="http://schemas.openxmlformats.org/officeDocument/2006/relationships/slide" Target="/ppt/slides/slide20.xml" Id="R4fc2af88906d43c9" /><Relationship Type="http://schemas.openxmlformats.org/officeDocument/2006/relationships/slide" Target="/ppt/slides/slide21.xml" Id="R244deddc4d084abb" /><Relationship Type="http://schemas.openxmlformats.org/officeDocument/2006/relationships/slide" Target="/ppt/slides/slide22.xml" Id="R2ada19df551b41b5" /><Relationship Type="http://schemas.openxmlformats.org/officeDocument/2006/relationships/slide" Target="/ppt/slides/slide23.xml" Id="R189ab5bfe9724f77" /><Relationship Type="http://schemas.openxmlformats.org/officeDocument/2006/relationships/slide" Target="/ppt/slides/slide24.xml" Id="Rae3934d5a2734acf" /><Relationship Type="http://schemas.openxmlformats.org/officeDocument/2006/relationships/slide" Target="/ppt/slides/slide25.xml" Id="R634e7ec92e6644ff" /><Relationship Type="http://schemas.openxmlformats.org/officeDocument/2006/relationships/slide" Target="/ppt/slides/slide26.xml" Id="Rade08c3feec44d4b" /><Relationship Type="http://schemas.openxmlformats.org/officeDocument/2006/relationships/slide" Target="/ppt/slides/slide27.xml" Id="R2970bb851ef24feb" /><Relationship Type="http://schemas.openxmlformats.org/officeDocument/2006/relationships/slide" Target="/ppt/slides/slide28.xml" Id="R77ce4144af6049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3ea86683bb47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Research">
      <a:dk1>
        <a:srgbClr val="000000"/>
      </a:dk1>
      <a:lt1>
        <a:srgbClr val="FFFFFF"/>
      </a:lt1>
      <a:dk2>
        <a:srgbClr val="14243A"/>
      </a:dk2>
      <a:lt2>
        <a:srgbClr val="DCE2E9"/>
      </a:lt2>
      <a:accent1>
        <a:srgbClr val="2468C9"/>
      </a:accent1>
      <a:accent2>
        <a:srgbClr val="D27820"/>
      </a:accent2>
      <a:accent3>
        <a:srgbClr val="147D75"/>
      </a:accent3>
      <a:accent4>
        <a:srgbClr val="A44D51"/>
      </a:accent4>
      <a:accent5>
        <a:srgbClr val="705DA6"/>
      </a:accent5>
      <a:accent6>
        <a:srgbClr val="8093A8"/>
      </a:accent6>
      <a:hlink>
        <a:srgbClr val="2468C9"/>
      </a:hlink>
      <a:folHlink>
        <a:srgbClr val="705DA6"/>
      </a:folHlink>
    </a:clrScheme>
    <a:fontScheme name="Office">
      <a:majorFont>
        <a:latin typeface="Calibri Light"/>
        <a:ea typeface="Calibri Light"/>
        <a:cs typeface="Calibri Light"/>
      </a:majorFont>
      <a:minorFont>
        <a:latin typeface="Calibri"/>
        <a:ea typeface="Calibri"/>
        <a:cs typeface="Calibri"/>
      </a:minorFont>
    </a:fontScheme>
    <a:fmtScheme name="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35e3ddd24d485f" /><Relationship Type="http://schemas.openxmlformats.org/officeDocument/2006/relationships/notesMaster" Target="/ppt/notesMasters/notesMaster1.xml" Id="Rb755d2f52f5c4c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1a7882ec574203" /><Relationship Type="http://schemas.openxmlformats.org/officeDocument/2006/relationships/notesMaster" Target="/ppt/notesMasters/notesMaster1.xml" Id="R910ad1e7a83d4a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f6657bbf454827" /><Relationship Type="http://schemas.openxmlformats.org/officeDocument/2006/relationships/notesMaster" Target="/ppt/notesMasters/notesMaster1.xml" Id="R0a4369bb65be4f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91906a551d44ea" /><Relationship Type="http://schemas.openxmlformats.org/officeDocument/2006/relationships/notesMaster" Target="/ppt/notesMasters/notesMaster1.xml" Id="R003b094165784b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7c2a4e5c734670" /><Relationship Type="http://schemas.openxmlformats.org/officeDocument/2006/relationships/notesMaster" Target="/ppt/notesMasters/notesMaster1.xml" Id="R3841e0304dcf47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0d1f1c41484cad" /><Relationship Type="http://schemas.openxmlformats.org/officeDocument/2006/relationships/notesMaster" Target="/ppt/notesMasters/notesMaster1.xml" Id="Rb8050a7dbd2a41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ca6b1d822b4dd3" /><Relationship Type="http://schemas.openxmlformats.org/officeDocument/2006/relationships/notesMaster" Target="/ppt/notesMasters/notesMaster1.xml" Id="R4124b754317648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c23a52cf024de5" /><Relationship Type="http://schemas.openxmlformats.org/officeDocument/2006/relationships/notesMaster" Target="/ppt/notesMasters/notesMaster1.xml" Id="Ra1cabc12b4d54a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b1f0698bc24397" /><Relationship Type="http://schemas.openxmlformats.org/officeDocument/2006/relationships/notesMaster" Target="/ppt/notesMasters/notesMaster1.xml" Id="Raaee3cbf8c004c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fec8aa233542d7" /><Relationship Type="http://schemas.openxmlformats.org/officeDocument/2006/relationships/notesMaster" Target="/ppt/notesMasters/notesMaster1.xml" Id="Re3c3ae751c1e4ce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f730862516f4a2c" /><Relationship Type="http://schemas.openxmlformats.org/officeDocument/2006/relationships/notesMaster" Target="/ppt/notesMasters/notesMaster1.xml" Id="R2b3b715f70f44ce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10f807c08ef4a78" /><Relationship Type="http://schemas.openxmlformats.org/officeDocument/2006/relationships/notesMaster" Target="/ppt/notesMasters/notesMaster1.xml" Id="R479fc77f292a4e8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1a4c3fa09404b11" /><Relationship Type="http://schemas.openxmlformats.org/officeDocument/2006/relationships/notesMaster" Target="/ppt/notesMasters/notesMaster1.xml" Id="R9c4e507f5c0243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a462c979a054a33" /><Relationship Type="http://schemas.openxmlformats.org/officeDocument/2006/relationships/notesMaster" Target="/ppt/notesMasters/notesMaster1.xml" Id="Reb99743f54d24a1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25cc57b2a444d17" /><Relationship Type="http://schemas.openxmlformats.org/officeDocument/2006/relationships/notesMaster" Target="/ppt/notesMasters/notesMaster1.xml" Id="R55d5d5f85e28407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10bdb3a09eb4f0f" /><Relationship Type="http://schemas.openxmlformats.org/officeDocument/2006/relationships/notesMaster" Target="/ppt/notesMasters/notesMaster1.xml" Id="R9732980a54f14e7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8f592a4fc1c4479" /><Relationship Type="http://schemas.openxmlformats.org/officeDocument/2006/relationships/notesMaster" Target="/ppt/notesMasters/notesMaster1.xml" Id="R8382df744bb6479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a64b7df0b0a467a" /><Relationship Type="http://schemas.openxmlformats.org/officeDocument/2006/relationships/notesMaster" Target="/ppt/notesMasters/notesMaster1.xml" Id="R865562ce6ab24b5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bd984fc588f4ddb" /><Relationship Type="http://schemas.openxmlformats.org/officeDocument/2006/relationships/notesMaster" Target="/ppt/notesMasters/notesMaster1.xml" Id="R36f2671d77424c5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d6c1617e52d471a" /><Relationship Type="http://schemas.openxmlformats.org/officeDocument/2006/relationships/notesMaster" Target="/ppt/notesMasters/notesMaster1.xml" Id="Rba2450c3b27e4fe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05dada0b2434058" /><Relationship Type="http://schemas.openxmlformats.org/officeDocument/2006/relationships/notesMaster" Target="/ppt/notesMasters/notesMaster1.xml" Id="R8535e3e4a442416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f076e1f31dd40d4" /><Relationship Type="http://schemas.openxmlformats.org/officeDocument/2006/relationships/notesMaster" Target="/ppt/notesMasters/notesMaster1.xml" Id="R5ee4fd0539c8445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4d601d7d4d34d89" /><Relationship Type="http://schemas.openxmlformats.org/officeDocument/2006/relationships/notesMaster" Target="/ppt/notesMasters/notesMaster1.xml" Id="Rabeb0dfc7e35454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0e59bbecf914631" /><Relationship Type="http://schemas.openxmlformats.org/officeDocument/2006/relationships/notesMaster" Target="/ppt/notesMasters/notesMaster1.xml" Id="R17e698062fe34e0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3fc6dd02bdd4381" /><Relationship Type="http://schemas.openxmlformats.org/officeDocument/2006/relationships/notesMaster" Target="/ppt/notesMasters/notesMaster1.xml" Id="R066a66637b224a5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a890365184f4a98" /><Relationship Type="http://schemas.openxmlformats.org/officeDocument/2006/relationships/notesMaster" Target="/ppt/notesMasters/notesMaster1.xml" Id="R8fc8f5f3c63d4b4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8a72990d9634cd0" /><Relationship Type="http://schemas.openxmlformats.org/officeDocument/2006/relationships/notesMaster" Target="/ppt/notesMasters/notesMaster1.xml" Id="R26e564981518452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1197ca8e237480c" /><Relationship Type="http://schemas.openxmlformats.org/officeDocument/2006/relationships/notesMaster" Target="/ppt/notesMasters/notesMaster1.xml" Id="R6aa14fbfb05542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project evaluates single-agent and multi-agent LLM architectures for autonomous software development at repository level. The defense primarily covers origin/master at commit 8da3f3f. I will also show a separately labeled extension from kernel/v2. The question is whether specialized roles improve the final solution enough to justify their resource cost. The contribution is an executable evaluation framework and an empirical comparison, rather than training a new language model.</a:t>
            </a:r>
          </a:p>
          <a:p xmlns:a="http://schemas.openxmlformats.org/drawingml/2006/main">
            <a:r>
              <a:t/>
            </a:r>
          </a:p>
          <a:p xmlns:a="http://schemas.openxmlformats.org/drawingml/2006/main">
            <a:r>
              <a:t>Sources:</a:t>
            </a:r>
          </a:p>
          <a:p xmlns:a="http://schemas.openxmlformats.org/drawingml/2006/main">
            <a:r>
              <a:t>/Users/tortalpha/Code/repo-level-dev-agent-eval/docs/defense/source/README.md</a:t>
            </a:r>
          </a:p>
          <a:p xmlns:a="http://schemas.openxmlformats.org/drawingml/2006/main">
            <a:r>
              <a:t>/Users/tortalpha/Code/repo-level-dev-agent-eval/docs/defense/source/docs/final_benchmark_results.md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hypothesis was that a single agent would be more cost-effective on simple tasks, while specialized roles would become more useful as complexity increased. Existing research argues that a strong single-agent baseline can match homogeneous multi-agent workflows when computation and context are considered. This project examines that question in an existing repository, where the agent must find files, modify code, run tests, and repair failures. These are hypotheses and motivations, not conclusions established in advance.</a:t>
            </a:r>
          </a:p>
          <a:p xmlns:a="http://schemas.openxmlformats.org/drawingml/2006/main">
            <a:r>
              <a:t/>
            </a:r>
          </a:p>
          <a:p xmlns:a="http://schemas.openxmlformats.org/drawingml/2006/main">
            <a:r>
              <a:t>Sources:</a:t>
            </a:r>
          </a:p>
          <a:p xmlns:a="http://schemas.openxmlformats.org/drawingml/2006/main">
            <a:r>
              <a:t>https://arxiv.org/abs/2601.12307</a:t>
            </a:r>
          </a:p>
          <a:p xmlns:a="http://schemas.openxmlformats.org/drawingml/2006/main">
            <a:r>
              <a:t>https://arxiv.org/abs/2604.02460</a:t>
            </a:r>
          </a:p>
          <a:p xmlns:a="http://schemas.openxmlformats.org/drawingml/2006/main">
            <a:r>
              <a:t>/Users/tortalpha/Code/repo-level-dev-agent-eval/docs/defense/source/docs/spec.md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run starts from a task description and an initial repository state. The model proposes structured actions. File tools operate within the working repository, while shell commands and tests run in Docker. The agent receives observations and revises its plan or code. After the run, an external evaluator checks the final workspace and records the result. The agent runtime, executor, and evaluator are separate modules. This separation lets the experiment compare workflow policies while reusing much of the execution infrastructure.</a:t>
            </a:r>
          </a:p>
          <a:p xmlns:a="http://schemas.openxmlformats.org/drawingml/2006/main">
            <a:r>
              <a:t/>
            </a:r>
          </a:p>
          <a:p xmlns:a="http://schemas.openxmlformats.org/drawingml/2006/main">
            <a:r>
              <a:t>Sources:</a:t>
            </a:r>
          </a:p>
          <a:p xmlns:a="http://schemas.openxmlformats.org/drawingml/2006/main">
            <a:r>
              <a:t>/Users/tortalpha/Code/repo-level-dev-agent-eval/docs/defense/source/src/benchmark/runner.py</a:t>
            </a:r>
          </a:p>
          <a:p xmlns:a="http://schemas.openxmlformats.org/drawingml/2006/main">
            <a:r>
              <a:t>/Users/tortalpha/Code/repo-level-dev-agent-eval/docs/defense/source/src/agents/executor.py</a:t>
            </a:r>
          </a:p>
          <a:p xmlns:a="http://schemas.openxmlformats.org/drawingml/2006/main">
            <a:r>
              <a:t>/Users/tortalpha/Code/repo-level-dev-agent-eval/docs/defense/source/src/benchmark/evaluation.py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comparison contains 39 tasks and 102 scored runs. The core has 24 tasks from 17 Python repositories, split into 12 small and 12 medium tasks. These are tasks, not 24 distinct repositories. The extension contains 15 selected tasks from an adapted SWE-bench Pro subset. Two selected local-large SQLGlot tasks did not produce a completed paired comparison and are excluded. The task count met the project minimum, but it was not a statistical power calculation.</a:t>
            </a:r>
          </a:p>
          <a:p xmlns:a="http://schemas.openxmlformats.org/drawingml/2006/main">
            <a:r>
              <a:t/>
            </a:r>
          </a:p>
          <a:p xmlns:a="http://schemas.openxmlformats.org/drawingml/2006/main">
            <a:r>
              <a:t>Sources:</a:t>
            </a:r>
          </a:p>
          <a:p xmlns:a="http://schemas.openxmlformats.org/drawingml/2006/main">
            <a:r>
              <a:t>/Users/tortalpha/Code/repo-level-dev-agent-eval/docs/defense/source/eval/task_sets/final_v1.json</a:t>
            </a:r>
          </a:p>
          <a:p xmlns:a="http://schemas.openxmlformats.org/drawingml/2006/main">
            <a:r>
              <a:t>/Users/tortalpha/Code/repo-level-dev-agent-eval/docs/defense/source/repositories/collection.csv</a:t>
            </a:r>
          </a:p>
          <a:p xmlns:a="http://schemas.openxmlformats.org/drawingml/2006/main">
            <a:r>
              <a:t>/Users/tortalpha/Code/repo-level-dev-agent-eval/docs/defense/source/docs/final_benchmark_results.md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reconstructs real upstream changes, mainly merged pull requests. The starting commit precedes the change. The task description explains the expected behavior without providing the solution diff. Visible tests should pass before the task. Semantic hidden tests should fail before the change and pass with the reference solution. Compatibility checks should pass in both states. Local task selection and descriptions involve manual preparation, while validation and execution are automated. An importer automates the SWE Pro adaptation.</a:t>
            </a:r>
          </a:p>
          <a:p xmlns:a="http://schemas.openxmlformats.org/drawingml/2006/main">
            <a:r>
              <a:t/>
            </a:r>
          </a:p>
          <a:p xmlns:a="http://schemas.openxmlformats.org/drawingml/2006/main">
            <a:r>
              <a:t>Sources:</a:t>
            </a:r>
          </a:p>
          <a:p xmlns:a="http://schemas.openxmlformats.org/drawingml/2006/main">
            <a:r>
              <a:t>/Users/tortalpha/Code/repo-level-dev-agent-eval/docs/defense/source/repositories/COLLECT_INSTRUCTION.md</a:t>
            </a:r>
          </a:p>
          <a:p xmlns:a="http://schemas.openxmlformats.org/drawingml/2006/main">
            <a:r>
              <a:t>/Users/tortalpha/Code/repo-level-dev-agent-eval/docs/defense/source/src/benchmark/validate.py</a:t>
            </a:r>
          </a:p>
          <a:p xmlns:a="http://schemas.openxmlformats.org/drawingml/2006/main">
            <a:r>
              <a:t>/Users/tortalpha/Code/repo-level-dev-agent-eval/docs/defense/source/src/benchmark/import_swebench_pro.py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single agent handles the complete cycle and includes guards against prolonged research without progress and a compatibility check before finishing. Multi-graph executes planner, developer, tester, and reviewer roles with deterministic routing. The guarded orchestrator delegates through an LLM supervisor, while code enforces phase constraints and reserves verification steps. The multi-agent roles execute sequentially and share the repository and global budget, with separate role contexts. These are concrete systems with different control rules, not an isolated test of agent count.</a:t>
            </a:r>
          </a:p>
          <a:p xmlns:a="http://schemas.openxmlformats.org/drawingml/2006/main">
            <a:r>
              <a:t/>
            </a:r>
          </a:p>
          <a:p xmlns:a="http://schemas.openxmlformats.org/drawingml/2006/main">
            <a:r>
              <a:t>Sources:</a:t>
            </a:r>
          </a:p>
          <a:p xmlns:a="http://schemas.openxmlformats.org/drawingml/2006/main">
            <a:r>
              <a:t>/Users/tortalpha/Code/repo-level-dev-agent-eval/docs/defense/source/src/agents/single_agent.py</a:t>
            </a:r>
          </a:p>
          <a:p xmlns:a="http://schemas.openxmlformats.org/drawingml/2006/main">
            <a:r>
              <a:t>/Users/tortalpha/Code/repo-level-dev-agent-eval/docs/defense/source/src/agents/multi_agent.py</a:t>
            </a:r>
          </a:p>
          <a:p xmlns:a="http://schemas.openxmlformats.org/drawingml/2006/main">
            <a:r>
              <a:t>/Users/tortalpha/Code/repo-level-dev-agent-eval/docs/defense/source/src/agents/roles.py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outcome is task_success from the evaluator, not the agent saying it is solved. Success requires visible tests, every required hidden suite, no measured regressions, and no detected test-oracle tampering. Resolved at one summarizes the first final attempt. The system also records tool-use validity, repair behavior, tokens, calls, duration, and cost. Some named AI metrics are operational proxies. For example, patch validity measures whether files changed, and hallucinated references counts malformed or invalid actions. Those limitations are documented explicitly.</a:t>
            </a:r>
          </a:p>
          <a:p xmlns:a="http://schemas.openxmlformats.org/drawingml/2006/main">
            <a:r>
              <a:t/>
            </a:r>
          </a:p>
          <a:p xmlns:a="http://schemas.openxmlformats.org/drawingml/2006/main">
            <a:r>
              <a:t>Sources:</a:t>
            </a:r>
          </a:p>
          <a:p xmlns:a="http://schemas.openxmlformats.org/drawingml/2006/main">
            <a:r>
              <a:t>/Users/tortalpha/Code/repo-level-dev-agent-eval/docs/defense/source/src/benchmark/evaluation.py</a:t>
            </a:r>
          </a:p>
          <a:p xmlns:a="http://schemas.openxmlformats.org/drawingml/2006/main">
            <a:r>
              <a:t>/Users/tortalpha/Code/repo-level-dev-agent-eval/docs/defense/source/src/metrics/compute.py</a:t>
            </a:r>
          </a:p>
          <a:p xmlns:a="http://schemas.openxmlformats.org/drawingml/2006/main">
            <a:r>
              <a:t>/Users/tortalpha/Code/repo-level-dev-agent-eval/docs/defense/source/src/metrics/records.py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external evaluator checks the final repository state after the agent stops. In the reported experiments, PASS requires all four conditions on this slide. First, the visible suite is rerun and must pass. Second, every required hidden or withheld suite must pass; optional suites do not determine the combined hidden verdict. Third, the evaluator compares passing visible-test identifiers before and after the run. A baseline test that is no longer recorded as passing counts as a regression, including a removed, renamed, or skipped test. Fourth, detected test-oracle tampering invalidates the result. Kernel v2 additionally rejects protected setup-artifact tampering. These checks are independent of the agent reporting that it is done or requesting a handoff. A nonempty patch and an LLM quality-rubric score are not additional conditions in task_success. The code permits an unset regression count when regression checking is explicitly disabled; the reported comparisons use measured regression counts. Hidden compatibility results may reuse the visible suite, as they do in the DeepSeek repetition block, so they are not always independent test evidence. Infrastructure failures are recorded separately from ordinary task failures.</a:t>
            </a:r>
          </a:p>
          <a:p xmlns:a="http://schemas.openxmlformats.org/drawingml/2006/main">
            <a:r>
              <a:t/>
            </a:r>
          </a:p>
          <a:p xmlns:a="http://schemas.openxmlformats.org/drawingml/2006/main">
            <a:r>
              <a:t>Sources:</a:t>
            </a:r>
          </a:p>
          <a:p xmlns:a="http://schemas.openxmlformats.org/drawingml/2006/main">
            <a:r>
              <a:t>/Users/tortalpha/Code/repo-level-dev-agent-eval/docs/defense/source/src/benchmark/evaluation.py</a:t>
            </a:r>
          </a:p>
          <a:p xmlns:a="http://schemas.openxmlformats.org/drawingml/2006/main">
            <a:r>
              <a:t>/Users/tortalpha/Code/repo-level-dev-agent-eval/src/benchmark/evaluation.py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 reports that preliminary local trials were too slow and produced insufficient solution quality for the selected repository tasks. This was a qualitative feasibility observation, without a quantified pilot table in the saved master artifacts. The primary comparison therefore uses hosted GLM-5.2 through OpenRouter. Core-small uses the same 50-step cap for all architectures. Medium and SWE Pro allow multi-agent systems 75 steps. The SWE Pro initial max_tokens setting is also unequal: 16,384 for single and 4,096 for graph. A truncation retry can increase the initial setting, so these are not absolute per-call limits. Equal steps still do not mean equal token usage or compute. Report the recorded system policies by block and actual resource use.</a:t>
            </a:r>
          </a:p>
          <a:p xmlns:a="http://schemas.openxmlformats.org/drawingml/2006/main">
            <a:r>
              <a:t/>
            </a:r>
          </a:p>
          <a:p xmlns:a="http://schemas.openxmlformats.org/drawingml/2006/main">
            <a:r>
              <a:t>Sources:</a:t>
            </a:r>
          </a:p>
          <a:p xmlns:a="http://schemas.openxmlformats.org/drawingml/2006/main">
            <a:r>
              <a:t>/Users/tortalpha/Code/repo-level-dev-agent-eval/docs/defense/source/docs/final_benchmark_results.md</a:t>
            </a:r>
          </a:p>
          <a:p xmlns:a="http://schemas.openxmlformats.org/drawingml/2006/main">
            <a:r>
              <a:t>/Users/tortalpha/Code/repo-level-dev-agent-eval/docs/defense/source/docs/final_benchmark_task_set.md</a:t>
            </a:r>
          </a:p>
          <a:p xmlns:a="http://schemas.openxmlformats.org/drawingml/2006/main">
            <a:r>
              <a:t>/Users/tortalpha/Code/repo-level-dev-agent-eval/docs/defense/source/experiments/results/sessions/final_v1_swepro_single50/sweep.json</a:t>
            </a:r>
          </a:p>
          <a:p xmlns:a="http://schemas.openxmlformats.org/drawingml/2006/main">
            <a:r>
              <a:t>/Users/tortalpha/Code/repo-level-dev-agent-eval/docs/defense/source/experiments/results/sessions/final_v1_swepro_graph75/sweep.json</a:t>
            </a:r>
          </a:p>
          <a:p xmlns:a="http://schemas.openxmlformats.org/drawingml/2006/main">
            <a:r>
              <a:t>Author-provided explanation of preliminary local trials, September 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displayed experiment configures temperature at 0.0, consistently across its compared architectures. The primary master study uses GLM-5.2 without an explicit reasoning-effort override. In the kernel v2 initial comparisons, GLM-5.2 requests high reasoning effort, DeepSeek V4 Flash requests low, and GPT-5.1 Codex Mini has no explicit effort override. Both additional DeepSeek repetitions retain temperature 0.0 and low reasoning effort, matching the original scored comparison including the tenacity recovery. Unset means that the harness does not request a particular reasoning effort; it does not mean that model reasoning is disabled. Temperature controls sampling randomness, while reasoning effort is a separate provider-specific request. These are recorded/requested configuration values, not independent measurements of provider-side enforcement. The local client passes temperature 0.0 for the displayed OpenRouter model identifiers, but the saved artifacts do not establish how each provider applies it internally. The exact identifiers are z-ai/glm-5.2, deepseek/deepseek-v4-flash-0731:nitro, and openai/gpt-5.1-codex-mini. The experiment seed controls architecture execution order, not LLM sampling. A zero temperature does not guarantee identical outputs or task outcomes, as the repeated task results demonstrate. Reasoning effort and compaction settings differ between kernel model configurations, so the experiment does not isolate model identity. No temperature ablation was performed.</a:t>
            </a:r>
          </a:p>
          <a:p xmlns:a="http://schemas.openxmlformats.org/drawingml/2006/main">
            <a:r>
              <a:t/>
            </a:r>
          </a:p>
          <a:p xmlns:a="http://schemas.openxmlformats.org/drawingml/2006/main">
            <a:r>
              <a:t>Sources:</a:t>
            </a:r>
          </a:p>
          <a:p xmlns:a="http://schemas.openxmlformats.org/drawingml/2006/main">
            <a:r>
              <a:t>/Users/tortalpha/Code/repo-level-dev-agent-eval/docs/defense/source/experiments/results/sessions/final_v1_core_small/sweep.json</a:t>
            </a:r>
          </a:p>
          <a:p xmlns:a="http://schemas.openxmlformats.org/drawingml/2006/main">
            <a:r>
              <a:t>/Users/tortalpha/Code/repo-level-dev-agent-eval/docs/defense/source/experiments/results/sessions/final_v1_core_medium_single50/sweep.json</a:t>
            </a:r>
          </a:p>
          <a:p xmlns:a="http://schemas.openxmlformats.org/drawingml/2006/main">
            <a:r>
              <a:t>/Users/tortalpha/Code/repo-level-dev-agent-eval/docs/defense/source/experiments/results/sessions/final_v1_core_medium_multi75/sweep.json</a:t>
            </a:r>
          </a:p>
          <a:p xmlns:a="http://schemas.openxmlformats.org/drawingml/2006/main">
            <a:r>
              <a:t>/Users/tortalpha/Code/repo-level-dev-agent-eval/docs/defense/source/experiments/results/sessions/final_v1_swepro_single50/sweep.json</a:t>
            </a:r>
          </a:p>
          <a:p xmlns:a="http://schemas.openxmlformats.org/drawingml/2006/main">
            <a:r>
              <a:t>/Users/tortalpha/Code/repo-level-dev-agent-eval/docs/defense/source/experiments/results/sessions/final_v1_swepro_graph75/sweep.json</a:t>
            </a:r>
          </a:p>
          <a:p xmlns:a="http://schemas.openxmlformats.org/drawingml/2006/main">
            <a:r>
              <a:t>/Users/tortalpha/Code/repo-level-dev-agent-eval/src/run/models.py</a:t>
            </a:r>
          </a:p>
          <a:p xmlns:a="http://schemas.openxmlformats.org/drawingml/2006/main">
            <a:r>
              <a:t>/Users/tortalpha/Code/repo-level-dev-agent-eval/src/benchmark/sweep.py</a:t>
            </a:r>
          </a:p>
          <a:p xmlns:a="http://schemas.openxmlformats.org/drawingml/2006/main">
            <a:r>
              <a:t>/Users/tortalpha/Code/repo-level-dev-agent-eval/experiments/results/sessions/kernel_v2_glm_5_2_core_small_control/sweep.json</a:t>
            </a:r>
          </a:p>
          <a:p xmlns:a="http://schemas.openxmlformats.org/drawingml/2006/main">
            <a:r>
              <a:t>/Users/tortalpha/Code/repo-level-dev-agent-eval/experiments/results/sessions/kernel_v2_ds_v4_flash_0731_nitro_low_core_small_v4/sweep.json</a:t>
            </a:r>
          </a:p>
          <a:p xmlns:a="http://schemas.openxmlformats.org/drawingml/2006/main">
            <a:r>
              <a:t>/Users/tortalpha/Code/repo-level-dev-agent-eval/experiments/results/sessions/kernel_v2_codex_mini_core_small_steps50/sweep.json</a:t>
            </a:r>
          </a:p>
          <a:p xmlns:a="http://schemas.openxmlformats.org/drawingml/2006/main">
            <a:r>
              <a:t>/Users/tortalpha/Code/repo-level-dev-agent-eval/experiments/results/sessions/kernel_v2_ds_defense_repeat_20260904_r1/sweep.json</a:t>
            </a:r>
          </a:p>
          <a:p xmlns:a="http://schemas.openxmlformats.org/drawingml/2006/main">
            <a:r>
              <a:t>/Users/tortalpha/Code/repo-level-dev-agent-eval/experiments/results/sessions/kernel_v2_ds_defense_repeat_20260904_r2/sweep.json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architectures resolve 11 of the 12 small tasks. On medium tasks, single resolves 11 while graph and guarded resolve 10 each. On the selected SWE Pro subset, single and graph both resolve 9 of 15, with identical paired outcomes. Guarded was not run on that extension. The figure presents recorded outcomes, not a statistically established ranking. There is one final attempt per task and architecture. The medium and SWE blocks use different step caps across architectures. SWE Pro also uses different initial completion-token settings (16,384 single and 4,096 graph, before any truncation retry). Core-small is the equal-step comparison.</a:t>
            </a:r>
          </a:p>
          <a:p xmlns:a="http://schemas.openxmlformats.org/drawingml/2006/main">
            <a:r>
              <a:t/>
            </a:r>
          </a:p>
          <a:p xmlns:a="http://schemas.openxmlformats.org/drawingml/2006/main">
            <a:r>
              <a:t>Sources:</a:t>
            </a:r>
          </a:p>
          <a:p xmlns:a="http://schemas.openxmlformats.org/drawingml/2006/main">
            <a:r>
              <a:t>/Users/tortalpha/Code/repo-level-dev-agent-eval/docs/defense/source/experiments/results/final_report/summary.csv</a:t>
            </a:r>
          </a:p>
          <a:p xmlns:a="http://schemas.openxmlformats.org/drawingml/2006/main">
            <a:r>
              <a:t>/Users/tortalpha/Code/repo-level-dev-agent-eval/docs/defense/source/docs/final_benchmark_results.md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reaggregate the 72 primary core runs: 24 tasks for each of the three architectures. Resolved at one is 22 of 24 for single and 21 of 24 for graph and guarded. Visible suites pass in 24, 22, and 23 runs respectively. Required hidden suites pass in 22, 21, and 21 runs. These rates count complete suites per run, not individual test cases. One graph run on sqlparse_pr_746 records three regressed tests, so its regression-run rate is 1 of 24. No handoffs occurred. The aggregate combines equal 50-step caps on small tasks and unequal 50/75-step caps on medium tasks. The rubric quality score is unavailable for all 102 primary final runs. The existing reviewer produces one overall 0-to-5 LLM-judge score from the task and diff, guided by correctness, minimality, maintainability, robustness, and safety. None of the historical review run IDs matches a primary final run. Functional test evidence therefore does not establish superior maintainability, robustness, or safety.</a:t>
            </a:r>
          </a:p>
          <a:p xmlns:a="http://schemas.openxmlformats.org/drawingml/2006/main">
            <a:r>
              <a:t/>
            </a:r>
          </a:p>
          <a:p xmlns:a="http://schemas.openxmlformats.org/drawingml/2006/main">
            <a:r>
              <a:t>Sources:</a:t>
            </a:r>
          </a:p>
          <a:p xmlns:a="http://schemas.openxmlformats.org/drawingml/2006/main">
            <a:r>
              <a:t>/Users/tortalpha/Code/repo-level-dev-agent-eval/docs/defense/source/experiments/results/runs.jsonl</a:t>
            </a:r>
          </a:p>
          <a:p xmlns:a="http://schemas.openxmlformats.org/drawingml/2006/main">
            <a:r>
              <a:t>/Users/tortalpha/Code/repo-level-dev-agent-eval/docs/defense/source/src/metrics/compute.py</a:t>
            </a:r>
          </a:p>
          <a:p xmlns:a="http://schemas.openxmlformats.org/drawingml/2006/main">
            <a:r>
              <a:t>/Users/tortalpha/Code/repo-level-dev-agent-eval/docs/defense/source/src/metrics/quality.py</a:t>
            </a:r>
          </a:p>
          <a:p xmlns:a="http://schemas.openxmlformats.org/drawingml/2006/main">
            <a:r>
              <a:t>/Users/tortalpha/Code/repo-level-dev-agent-eval/docs/defense/source/docs/final_benchmark_results.md</a:t>
            </a:r>
          </a:p>
          <a:p xmlns:a="http://schemas.openxmlformats.org/drawingml/2006/main">
            <a:r>
              <a:t>/Users/tortalpha/Code/repo-level-dev-agent-eval/docs/defense/quality_metrics_audit.json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use the same 24 core tasks per architecture. Tool-use validity pools categorized actions: single 462 of 481, graph 729 of 765, guarded 692 of 719. It measures whether the action is categorized as valid, not whether every tool call achieves its goal. The remaining starred metrics are proxies whose definitions matter. Patch validity means a nonempty changed-files list and is 100 percent for all three systems. Hallucinated references means invalid, malformed, or missing actions per run: 19/24, 32/24, and 25/24, rounded to 0.79, 1.33, and 1.04. It does not count verified nonexistent APIs. Test overfitting is the final-failure fraction among visible-pass runs: 2/24, 1/22, and 2/23. A smaller visible/final gap does not establish better overall performance because denominators differ. Repair success means visible-pass among runs with more than one test iteration: 21/21, 16/17, and 18/19. The metric does not establish that a failure preceded the final pass. Mean test iterations are 3.00, 2.29, and 2.38, and mean LLM calls are 20.71, 37.00, and 40.00. These diagnostics show behavior within this implementation, not a general code-quality ranking.</a:t>
            </a:r>
          </a:p>
          <a:p xmlns:a="http://schemas.openxmlformats.org/drawingml/2006/main">
            <a:r>
              <a:t/>
            </a:r>
          </a:p>
          <a:p xmlns:a="http://schemas.openxmlformats.org/drawingml/2006/main">
            <a:r>
              <a:t>Sources:</a:t>
            </a:r>
          </a:p>
          <a:p xmlns:a="http://schemas.openxmlformats.org/drawingml/2006/main">
            <a:r>
              <a:t>/Users/tortalpha/Code/repo-level-dev-agent-eval/docs/defense/source/src/metrics/compute.py</a:t>
            </a:r>
          </a:p>
          <a:p xmlns:a="http://schemas.openxmlformats.org/drawingml/2006/main">
            <a:r>
              <a:t>/Users/tortalpha/Code/repo-level-dev-agent-eval/docs/defense/source/src/metrics/records.py</a:t>
            </a:r>
          </a:p>
          <a:p xmlns:a="http://schemas.openxmlformats.org/drawingml/2006/main">
            <a:r>
              <a:t>/Users/tortalpha/Code/repo-level-dev-agent-eval/docs/defense/quality_metrics_audit.json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the 39 tasks evaluated by both architectures, single resolves 31 and graph resolves 30. Graph costs 18.6 percent more overall. Its cost per solved task is about 0.1644 dollars, compared with 0.1342 for single. The denominator includes solved tasks, while the numerator includes the cost of both successful and unsuccessful attempts. This pooled comparison is secondary because it combines different step policies and unequal initial completion-token settings in the SWE Pro block. It supports an empirical cost-efficiency finding for this configuration, without establishing universal superiority.</a:t>
            </a:r>
          </a:p>
          <a:p xmlns:a="http://schemas.openxmlformats.org/drawingml/2006/main">
            <a:r>
              <a:t/>
            </a:r>
          </a:p>
          <a:p xmlns:a="http://schemas.openxmlformats.org/drawingml/2006/main">
            <a:r>
              <a:t>Sources:</a:t>
            </a:r>
          </a:p>
          <a:p xmlns:a="http://schemas.openxmlformats.org/drawingml/2006/main">
            <a:r>
              <a:t>/Users/tortalpha/Code/repo-level-dev-agent-eval/docs/defense/source/experiments/results/final_report/summary.csv</a:t>
            </a:r>
          </a:p>
          <a:p xmlns:a="http://schemas.openxmlformats.org/drawingml/2006/main">
            <a:r>
              <a:t>/Users/tortalpha/Code/repo-level-dev-agent-eval/docs/defense/audit.json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paired comparison is more informative than looking at two percentages in isolation. Both systems solve 29 tasks, and neither solves 7. Single uniquely solves 2, while graph uniquely solves 1. That leaves only three disagreements out of 39. The feature subset favors graph by one task, but it is the same graph-only success rather than an independent confirmation. The experiment does not establish a statistically convincing difference or equivalence. Repeated runs and a larger independent task sample would be needed.</a:t>
            </a:r>
          </a:p>
          <a:p xmlns:a="http://schemas.openxmlformats.org/drawingml/2006/main">
            <a:r>
              <a:t/>
            </a:r>
          </a:p>
          <a:p xmlns:a="http://schemas.openxmlformats.org/drawingml/2006/main">
            <a:r>
              <a:t>Sources:</a:t>
            </a:r>
          </a:p>
          <a:p xmlns:a="http://schemas.openxmlformats.org/drawingml/2006/main">
            <a:r>
              <a:t>/Users/tortalpha/Code/repo-level-dev-agent-eval/docs/defense/source/docs/final_benchmark_results.md</a:t>
            </a:r>
          </a:p>
          <a:p xmlns:a="http://schemas.openxmlformats.org/drawingml/2006/main">
            <a:r>
              <a:t>/Users/tortalpha/Code/repo-level-dev-agent-eval/docs/defense/audit.json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experiment uses one model and one final attempt per configuration. Twenty of the 39 shared tasks had exploratory exposure during system development. Most core reference changes are local: 19 of 24 touch one source file, so larger repositories do not necessarily mean harder cross-module changes. Size labels have ambiguities, and the literal repository-count commitment changed to task counts. Dataset files exist locally but need separate packaging for reproduction. The final patches did not receive a new blinded maintainability review.</a:t>
            </a:r>
          </a:p>
          <a:p xmlns:a="http://schemas.openxmlformats.org/drawingml/2006/main">
            <a:r>
              <a:t/>
            </a:r>
          </a:p>
          <a:p xmlns:a="http://schemas.openxmlformats.org/drawingml/2006/main">
            <a:r>
              <a:t>Sources:</a:t>
            </a:r>
          </a:p>
          <a:p xmlns:a="http://schemas.openxmlformats.org/drawingml/2006/main">
            <a:r>
              <a:t>/Users/tortalpha/Code/repo-level-dev-agent-eval/docs/defense/source/docs/final_benchmark_results.md</a:t>
            </a:r>
          </a:p>
          <a:p xmlns:a="http://schemas.openxmlformats.org/drawingml/2006/main">
            <a:r>
              <a:t>/Users/tortalpha/Code/repo-level-dev-agent-eval/docs/defense/source/repositories/collection.csv</a:t>
            </a:r>
          </a:p>
          <a:p xmlns:a="http://schemas.openxmlformats.org/drawingml/2006/main">
            <a:r>
              <a:t>/Users/tortalpha/Code/repo-level-dev-agent-eval/docs/defense/DEFENSE_EN.md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Kernel v2 strengthens context accounting, test-evidence validation, execution isolation, and run fingerprints. Its completed core-small blocks show different architecture rankings across configurations. GLM gives 10, 9, and 10 successes. DeepSeek gives 9, 11, and 11. Codex Mini gives 9, 7, and 8. In the original DeepSeek attempt, graph has a slightly lower cost per solved task than single. The following slides report two additional repetitions and show how that relationship changes. However, reasoning and compaction settings differ between model configurations. These observations do not isolate model identity, and they do not establish a complexity effect. The 75-step extension remains separate.</a:t>
            </a:r>
          </a:p>
          <a:p xmlns:a="http://schemas.openxmlformats.org/drawingml/2006/main">
            <a:r>
              <a:t/>
            </a:r>
          </a:p>
          <a:p xmlns:a="http://schemas.openxmlformats.org/drawingml/2006/main">
            <a:r>
              <a:t>Sources:</a:t>
            </a:r>
          </a:p>
          <a:p xmlns:a="http://schemas.openxmlformats.org/drawingml/2006/main">
            <a:r>
              <a:t>/Users/tortalpha/Code/repo-level-dev-agent-eval/docs/defense/kernel_v2_interim_snapshot.json</a:t>
            </a:r>
          </a:p>
          <a:p xmlns:a="http://schemas.openxmlformats.org/drawingml/2006/main">
            <a:r>
              <a:t>/Users/tortalpha/Code/repo-level-dev-agent-eval/docs/agent_kernel_v2.md</a:t>
            </a:r>
          </a:p>
          <a:p xmlns:a="http://schemas.openxmlformats.org/drawingml/2006/main">
            <a:r>
              <a:t>/Users/tortalpha/Code/repo-level-dev-agent-eval/experiments/results/kernel_v2_report/summary.csv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DeepSeek V4 Flash extension now contains the original comparison plus two additional repetitions. Each attempt uses the same 12 core-small tasks, the same 50-step limit, low reasoning effort, temperature zero, a 48,000-token context budget, and checkpoint compaction. All 48 new observations completed, with no new infrastructure failures. The historical comparison includes the scored tenacity recovery, which used the same recorded setup as the repeats. Graph solves two more tasks in the original attempt, ties single in repeat 1, and solves one more task in repeat 2. Across all 72 observations, single succeeds 29/36 times and graph 32/36. These are repeated outcomes on 12 exposed tasks. They do not provide 36 independent tasks per architecture, a complexity experiment, or a held-out generalization result. Interpret the advantage descriptively.</a:t>
            </a:r>
          </a:p>
          <a:p xmlns:a="http://schemas.openxmlformats.org/drawingml/2006/main">
            <a:r>
              <a:t/>
            </a:r>
          </a:p>
          <a:p xmlns:a="http://schemas.openxmlformats.org/drawingml/2006/main">
            <a:r>
              <a:t>Sources:</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selected observation has complete provider-reported billing. The table divides all billed LLM cost in a block, including failed task attempts, by the number of successful outcomes in that block. It does not include host electricity or hardware cost. Graph has a slightly lower cost per successful outcome in the original comparison, but a higher value in both new repetitions. Across all three attempts, single costs $0.78458366 for 29 successful outcomes, and graph costs $1.04365076 for 32. Thus graph costs about 33.0 percent more overall and 20.5 percent more per successful outcome. The two new repetitions alone cost $1.03556538 in total. Differences in token usage and cache hits contribute to cost variability. Both systems solve the same 11 distinct tasks at least once. The parse_pr_165 task fails in all three attempts for both. This supports a cost versus consistency tradeoff within the tested configurations, not a universal ranking.</a:t>
            </a:r>
          </a:p>
          <a:p xmlns:a="http://schemas.openxmlformats.org/drawingml/2006/main">
            <a:r>
              <a:t/>
            </a:r>
          </a:p>
          <a:p xmlns:a="http://schemas.openxmlformats.org/drawingml/2006/main">
            <a:r>
              <a:t>Sources:</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denominator is 36 scored attempts per architecture on the same 12 tasks, comprising the original comparison and two repetitions. All visible suites pass. Required hidden-suite success is 29/36 for single and 32/36 for graph, and no run records a visible-test regression. The hidden compatibility result reuses the visible suite on every task. Patch presence measures a nonempty changed-files list: 31/36 and 36/36. Tool-use validity pools recognized action categories, including finish and other non-tool events, rather than measuring semantic usefulness or runtime success. Counts are 1002/1033 and 1342/1384. Hallucinated-reference proxies count invalid, malformed, or missing actions: 30/36 and 31/36 events per run. The visible/final gap is 7/36 versus 4/36 and does not prove intentional overfitting. Repair success is visible-pass among attempts with more than one test iteration, 23/23 and 29/29, without requiring a recorded failure-to-pass transition. Single records handoff status in 7/36 attempts and graph in 0/36, which is an agent status rather than evidence that a human intervened. All 72 rubric quality scores remain unavailable. No validated ranking of readability, maintainability, robustness, or safety follows from these diagnostics.</a:t>
            </a:r>
          </a:p>
          <a:p xmlns:a="http://schemas.openxmlformats.org/drawingml/2006/main">
            <a:r>
              <a:t/>
            </a:r>
          </a:p>
          <a:p xmlns:a="http://schemas.openxmlformats.org/drawingml/2006/main">
            <a:r>
              <a:t>Sources:</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a:p xmlns:a="http://schemas.openxmlformats.org/drawingml/2006/main">
            <a:r>
              <a:t>/Users/tortalpha/Code/repo-level-dev-agent-eval/src/metrics/compute.py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reproduces mean pass@1 and standard deviations from Table 1. Our master core-small comparison supports a similar cost-efficiency finding in a different task setting. The DeepSeek repetition result adds an observed cost-versus-consistency tradeoff. The numerical scores belong to separate benchmarks and should not be pooled or directly ranked across studies.</a:t>
            </a:r>
          </a:p>
          <a:p xmlns:a="http://schemas.openxmlformats.org/drawingml/2006/main">
            <a:r>
              <a:t/>
            </a:r>
          </a:p>
          <a:p xmlns:a="http://schemas.openxmlformats.org/drawingml/2006/main">
            <a:r>
              <a:t>Sources:</a:t>
            </a:r>
          </a:p>
          <a:p xmlns:a="http://schemas.openxmlformats.org/drawingml/2006/main">
            <a:r>
              <a:t>https://arxiv.org/html/2601.12307v1#S4.T1</a:t>
            </a:r>
          </a:p>
          <a:p xmlns:a="http://schemas.openxmlformats.org/drawingml/2006/main">
            <a:r>
              <a:t>https://arxiv.org/html/2601.12307v1#S6</a:t>
            </a:r>
          </a:p>
          <a:p xmlns:a="http://schemas.openxmlformats.org/drawingml/2006/main">
            <a:r>
              <a:t>/Users/tortalpha/Code/repo-level-dev-agent-eval/docs/defense/source/experiments/results/final_report/summary.csv</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Homogeneous means that the roles share the same base model. Xu et al. assess workflow simulation and optimize workflows with OneFlow. This project evaluates separately designed agent systems. The API single-execution cost calculation in Xu et al. assumes ideal KV-cache reuse. Our repeated DeepSeek observations use complete provider billing, but we did not experimentally isolate cache effects. Equal step limits do not ensure equal tokens or compute. Larger master blocks also use unequal limits. These design differences support a comparison of findings, without a claim of direct replication.</a:t>
            </a:r>
          </a:p>
          <a:p xmlns:a="http://schemas.openxmlformats.org/drawingml/2006/main">
            <a:r>
              <a:t/>
            </a:r>
          </a:p>
          <a:p xmlns:a="http://schemas.openxmlformats.org/drawingml/2006/main">
            <a:r>
              <a:t>Sources:</a:t>
            </a:r>
          </a:p>
          <a:p xmlns:a="http://schemas.openxmlformats.org/drawingml/2006/main">
            <a:r>
              <a:t>https://arxiv.org/html/2601.12307v1#S3.SS2</a:t>
            </a:r>
          </a:p>
          <a:p xmlns:a="http://schemas.openxmlformats.org/drawingml/2006/main">
            <a:r>
              <a:t>https://arxiv.org/html/2601.12307v1#S4.SS1</a:t>
            </a:r>
          </a:p>
          <a:p xmlns:a="http://schemas.openxmlformats.org/drawingml/2006/main">
            <a:r>
              <a:t>/Users/tortalpha/Code/repo-level-dev-agent-eval/docs/defense/source/experiments/results/sessions/final_v1_swepro_single50/sweep.json</a:t>
            </a:r>
          </a:p>
          <a:p xmlns:a="http://schemas.openxmlformats.org/drawingml/2006/main">
            <a:r>
              <a:t>/Users/tortalpha/Code/repo-level-dev-agent-eval/docs/defense/source/experiments/results/sessions/final_v1_swepro_graph75/sweep.json</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H1 predicted that single agents would be more cost-effective on simple tasks. Master core-small supports it: all three systems solve 11/12 with a 50-step cap, while graph costs 2.03 times and guarded 2.58 times as much as single. H2 predicted that the multi-agent advantage would increase with complexity. That pattern did not appear: single resolves 11/12 medium tasks versus 10/12 for both multi variants, and single and graph tie at 9/15 on SWE Pro. H2 is not supported by this benchmark. Unequal step and initial output-token settings in larger blocks and limited cross-module changes prevent a universal rejection. The additional DeepSeek experiment repeats 12 familiar tasks. Graph succeeds in 32/36 observations versus 29/36 and solves 10 tasks in every attempt versus 7 for single. Both solve the same 11 distinct tasks at least once. Graph costs 20.5 percent more per successful outcome across all three attempts. Thus the observed benefit is greater consistency on this sample, without wider observed task coverage. It does not test complexity or establish better maintainability. Rubric quality scores remain unavailable.</a:t>
            </a:r>
          </a:p>
          <a:p xmlns:a="http://schemas.openxmlformats.org/drawingml/2006/main">
            <a:r>
              <a:t/>
            </a:r>
          </a:p>
          <a:p xmlns:a="http://schemas.openxmlformats.org/drawingml/2006/main">
            <a:r>
              <a:t>Sources:</a:t>
            </a:r>
          </a:p>
          <a:p xmlns:a="http://schemas.openxmlformats.org/drawingml/2006/main">
            <a:r>
              <a:t>/Users/tortalpha/Code/repo-level-dev-agent-eval/docs/defense/source/docs/spec.md</a:t>
            </a:r>
          </a:p>
          <a:p xmlns:a="http://schemas.openxmlformats.org/drawingml/2006/main">
            <a:r>
              <a:t>/Users/tortalpha/Code/repo-level-dev-agent-eval/docs/defense/source/experiments/results/final_report/summary.csv</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proposal defined small repositories as 500 to 3,000 Python source lines and 5 to 30 source files, and medium repositories as 3,001 to 15,000 lines and 31 to 120 files. The later specification prioritizes LOC when measures disagree. In the core, the original combined thresholds hold for 9 of 12 small tasks and 2 of 12 medium tasks when physical lines are used. boltons and pydash fit the medium range only under nonblank counts, a rule not clearly fixed in the metadata. Multiple tasks share repositories. These are limitations to disclose.</a:t>
            </a:r>
          </a:p>
          <a:p xmlns:a="http://schemas.openxmlformats.org/drawingml/2006/main">
            <a:r>
              <a:t/>
            </a:r>
          </a:p>
          <a:p xmlns:a="http://schemas.openxmlformats.org/drawingml/2006/main">
            <a:r>
              <a:t>Sources:</a:t>
            </a:r>
          </a:p>
          <a:p xmlns:a="http://schemas.openxmlformats.org/drawingml/2006/main">
            <a:r>
              <a:t>/Users/tortalpha/Code/repo-level-dev-agent-eval/docs/defense/source/docs/spec.md</a:t>
            </a:r>
          </a:p>
          <a:p xmlns:a="http://schemas.openxmlformats.org/drawingml/2006/main">
            <a:r>
              <a:t>/Users/tortalpha/Code/repo-level-dev-agent-eval/docs/defense/source/repositories/README.md</a:t>
            </a:r>
          </a:p>
          <a:p xmlns:a="http://schemas.openxmlformats.org/drawingml/2006/main">
            <a:r>
              <a:t>/Users/tortalpha/Code/repo-level-dev-agent-eval/docs/defense/source/repositories/collection.csv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names should be interpreted through the actual implementation. Patch validity is the fraction of runs with changed files. Hallucinated references counts invalid, malformed, and missing actions rather than checking whether APIs exist. Repair success is the visible-pass fraction among runs with more than one test iteration, without requiring a preceding failure. Test overfitting is the final-failure fraction among visible-pass runs. They are useful diagnostics with limited construct validity. Functional test outcomes and cost provide the clearest primary evidence.</a:t>
            </a:r>
          </a:p>
          <a:p xmlns:a="http://schemas.openxmlformats.org/drawingml/2006/main">
            <a:r>
              <a:t/>
            </a:r>
          </a:p>
          <a:p xmlns:a="http://schemas.openxmlformats.org/drawingml/2006/main">
            <a:r>
              <a:t>Sources:</a:t>
            </a:r>
          </a:p>
          <a:p xmlns:a="http://schemas.openxmlformats.org/drawingml/2006/main">
            <a:r>
              <a:t>/Users/tortalpha/Code/repo-level-dev-agent-eval/docs/defense/source/src/metrics/compute.py</a:t>
            </a:r>
          </a:p>
          <a:p xmlns:a="http://schemas.openxmlformats.org/drawingml/2006/main">
            <a:r>
              <a:t>/Users/tortalpha/Code/repo-level-dev-agent-eval/docs/defense/source/src/metrics/records.py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reports the 15 primary SWE Pro tasks evaluated by single and graph. Guarded was not run on this subset. Both systems pass all visible suites, yet only 9 of 15 pass the required hidden suites and resolve the task. Thus each has a visible/final gap of 6 of 15, or 40 percent. Neither records a visible-test regression. Tool-use validity is 390/408 for single and 639/661 for graph. Hallucinated-reference proxies are 17/15 and 18/15 per run. The repair proxy is 14/14 for single and 15/15 for graph. Patch validity is 15/15 and human handoff is 0/15 for both, while rubric quality scores remain unavailable. Mean test iterations are 3.33 and 3.47, and mean LLM calls are 31.53 and 49.20. Single uses a 50-step cap and graph 75. The initial completion-token settings are 16,384 and 4,096 respectively, with possible increases after truncation. This is a descriptive comparison under the recorded policies.</a:t>
            </a:r>
          </a:p>
          <a:p xmlns:a="http://schemas.openxmlformats.org/drawingml/2006/main">
            <a:r>
              <a:t/>
            </a:r>
          </a:p>
          <a:p xmlns:a="http://schemas.openxmlformats.org/drawingml/2006/main">
            <a:r>
              <a:t>Sources:</a:t>
            </a:r>
          </a:p>
          <a:p xmlns:a="http://schemas.openxmlformats.org/drawingml/2006/main">
            <a:r>
              <a:t>/Users/tortalpha/Code/repo-level-dev-agent-eval/docs/defense/source/src/metrics/compute.py</a:t>
            </a:r>
          </a:p>
          <a:p xmlns:a="http://schemas.openxmlformats.org/drawingml/2006/main">
            <a:r>
              <a:t>/Users/tortalpha/Code/repo-level-dev-agent-eval/docs/defense/quality_metrics_audit.json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Xu et al., Rethinking the Value of Multi-Agent Workflow: A Strong Single Agent Baseline (2026), motivates the primary research question. Dat Tran and Douwe Kiela, Single-Agent LLMs Outperform Multi-Agent Systems on Multi-Hop Reasoning Under Equal Thinking Token Budgets (2026), studies FRAMES and MuSiQue. Requested intermediate thinking caps exclude prompts and final answers, and actual consumption may differ. Gemini accounting is approximate. Our step caps do not reproduce this resource control. Chunqiu Steven Xia, Yinlin Deng, Soren Dunn and Lingming Zhang, Agentless: Demystifying LLM-based Software Engineering Agents (2024), uses a fixed localization, patching and test-selection pipeline. The LLM does not autonomously choose the next tool action. Its comparison does not isolate our single-versus-multi orchestration question.</a:t>
            </a:r>
          </a:p>
          <a:p xmlns:a="http://schemas.openxmlformats.org/drawingml/2006/main">
            <a:r>
              <a:t/>
            </a:r>
          </a:p>
          <a:p xmlns:a="http://schemas.openxmlformats.org/drawingml/2006/main">
            <a:r>
              <a:t>Sources:</a:t>
            </a:r>
          </a:p>
          <a:p xmlns:a="http://schemas.openxmlformats.org/drawingml/2006/main">
            <a:r>
              <a:t>https://arxiv.org/html/2601.12307v1#S6</a:t>
            </a:r>
          </a:p>
          <a:p xmlns:a="http://schemas.openxmlformats.org/drawingml/2006/main">
            <a:r>
              <a:t>https://arxiv.org/html/2604.02460v2#S4</a:t>
            </a:r>
          </a:p>
          <a:p xmlns:a="http://schemas.openxmlformats.org/drawingml/2006/main">
            <a:r>
              <a:t>https://arxiv.org/html/2604.02460v2#A3</a:t>
            </a:r>
          </a:p>
          <a:p xmlns:a="http://schemas.openxmlformats.org/drawingml/2006/main">
            <a:r>
              <a:t>https://arxiv.org/html/2407.01489v2#S3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cell lists the original scored attempt, repeat 1, and repeat 2 in that order. P means final task_success is true and F means it is false. The original comparison includes the successful tenacity recovery session. Single has seven tasks solved in all three attempts, four with mixed results, and one with three failures. Graph has ten tasks solved in all three, one mixed result, and one with three failures. Both solve the same 11 tasks at least once. Across 36 paired task-by-attempt observations, both succeed in 28, both fail in 3, graph alone succeeds in 4, and single alone succeeds in 1. Repetitions within a task are dependent observations, so this table does not establish a statistically general ranking.</a:t>
            </a:r>
          </a:p>
          <a:p xmlns:a="http://schemas.openxmlformats.org/drawingml/2006/main">
            <a:r>
              <a:t/>
            </a:r>
          </a:p>
          <a:p xmlns:a="http://schemas.openxmlformats.org/drawingml/2006/main">
            <a:r>
              <a:t>Sources:</a:t>
            </a:r>
          </a:p>
          <a:p xmlns:a="http://schemas.openxmlformats.org/drawingml/2006/main">
            <a:r>
              <a:t>/Users/tortalpha/Code/repo-level-dev-agent-eval/experiments/plans/defense_repeats_20260904/analysis/audit_repetitions.json</a:t>
            </a:r>
          </a:p>
          <a:p xmlns:a="http://schemas.openxmlformats.org/drawingml/2006/main">
            <a:r>
              <a:t>/Users/tortalpha/Code/repo-level-dev-agent-eval/experiments/plans/defense_repeats_20260904/analysis/provenance_review.md</a:t>
            </a:r>
          </a:p>
          <a:p xmlns:a="http://schemas.openxmlformats.org/drawingml/2006/main">
            <a:r>
              <a:t>/Users/tortalpha/Code/repo-level-dev-agent-eval/experiments/plans/defense_repeats_20260904/PROTOCOL.md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45949f9e554e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8d17f9b3524110" /><Relationship Type="http://schemas.openxmlformats.org/officeDocument/2006/relationships/slideLayout" Target="/ppt/slideLayouts/slideLayout1.xml" Id="R13b122bbb4fa49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b122bbb4fa49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Research">
      <a:dk1>
        <a:srgbClr val="000000"/>
      </a:dk1>
      <a:lt1>
        <a:srgbClr val="FFFFFF"/>
      </a:lt1>
      <a:dk2>
        <a:srgbClr val="14243A"/>
      </a:dk2>
      <a:lt2>
        <a:srgbClr val="DCE2E9"/>
      </a:lt2>
      <a:accent1>
        <a:srgbClr val="2468C9"/>
      </a:accent1>
      <a:accent2>
        <a:srgbClr val="D27820"/>
      </a:accent2>
      <a:accent3>
        <a:srgbClr val="147D75"/>
      </a:accent3>
      <a:accent4>
        <a:srgbClr val="A44D51"/>
      </a:accent4>
      <a:accent5>
        <a:srgbClr val="705DA6"/>
      </a:accent5>
      <a:accent6>
        <a:srgbClr val="8093A8"/>
      </a:accent6>
      <a:hlink>
        <a:srgbClr val="2468C9"/>
      </a:hlink>
      <a:folHlink>
        <a:srgbClr val="705DA6"/>
      </a:folHlink>
    </a:clrScheme>
    <a:fontScheme name="Office">
      <a:majorFont>
        <a:latin typeface="Calibri Light"/>
        <a:ea typeface="Calibri Light"/>
        <a:cs typeface="Calibri Light"/>
      </a:majorFont>
      <a:minorFont>
        <a:latin typeface="Calibri"/>
        <a:ea typeface="Calibri"/>
        <a:cs typeface="Calibri"/>
      </a:minorFont>
    </a:fontScheme>
    <a:fmtScheme name="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40e2a07eb448d6" /><Relationship Type="http://schemas.openxmlformats.org/officeDocument/2006/relationships/notesSlide" Target="/ppt/notesSlides/notesSlide1.xml" Id="Rcb0ca1905aec48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a6198e8a784e84" /><Relationship Type="http://schemas.openxmlformats.org/officeDocument/2006/relationships/notesSlide" Target="/ppt/notesSlides/notesSlide2.xml" Id="Ra78b42de85ef4d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b3234a17a224b61" /><Relationship Type="http://schemas.openxmlformats.org/officeDocument/2006/relationships/notesSlide" Target="/ppt/notesSlides/notesSlide3.xml" Id="R37bbb8dabcff4b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314a3047267418d" /><Relationship Type="http://schemas.openxmlformats.org/officeDocument/2006/relationships/notesSlide" Target="/ppt/notesSlides/notesSlide4.xml" Id="R4d3d72a8c0cd43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30fd3541bbf4253" /><Relationship Type="http://schemas.openxmlformats.org/officeDocument/2006/relationships/notesSlide" Target="/ppt/notesSlides/notesSlide5.xml" Id="Rdd48a855e6384e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5474183d0a486d" /><Relationship Type="http://schemas.openxmlformats.org/officeDocument/2006/relationships/notesSlide" Target="/ppt/notesSlides/notesSlide6.xml" Id="Rfa4db035c2bd45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0e8a5c6e8d3425f" /><Relationship Type="http://schemas.openxmlformats.org/officeDocument/2006/relationships/notesSlide" Target="/ppt/notesSlides/notesSlide7.xml" Id="Rc694a4a2ab4f42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601020f6a704cd1" /><Relationship Type="http://schemas.openxmlformats.org/officeDocument/2006/relationships/notesSlide" Target="/ppt/notesSlides/notesSlide8.xml" Id="R635401bd279042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dc48aceba7e4567" /><Relationship Type="http://schemas.openxmlformats.org/officeDocument/2006/relationships/notesSlide" Target="/ppt/notesSlides/notesSlide9.xml" Id="R62c84d1d5dc749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85406278f5b46e3" /><Relationship Type="http://schemas.openxmlformats.org/officeDocument/2006/relationships/notesSlide" Target="/ppt/notesSlides/notesSlide10.xml" Id="R271f24c0cab448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f44feec8dfa4020" /><Relationship Type="http://schemas.openxmlformats.org/officeDocument/2006/relationships/chart" Target="/ppt/slides/charts/chart1.xml" Id="Rafc122d6b85d4cd2" /><Relationship Type="http://schemas.openxmlformats.org/officeDocument/2006/relationships/chart" Target="/ppt/slides/charts/chart2.xml" Id="Re2e84007f4ab47e5" /><Relationship Type="http://schemas.openxmlformats.org/officeDocument/2006/relationships/chart" Target="/ppt/slides/charts/chart3.xml" Id="R7286cd304de34186" /><Relationship Type="http://schemas.openxmlformats.org/officeDocument/2006/relationships/notesSlide" Target="/ppt/notesSlides/notesSlide11.xml" Id="Ra8c2a61857354f2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97354a5cd08445d" /><Relationship Type="http://schemas.openxmlformats.org/officeDocument/2006/relationships/notesSlide" Target="/ppt/notesSlides/notesSlide12.xml" Id="Rf98ab91d5de94f8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04a38f6c5864b58" /><Relationship Type="http://schemas.openxmlformats.org/officeDocument/2006/relationships/notesSlide" Target="/ppt/notesSlides/notesSlide13.xml" Id="R5d612af03025411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497f76b3bcd48cc" /><Relationship Type="http://schemas.openxmlformats.org/officeDocument/2006/relationships/notesSlide" Target="/ppt/notesSlides/notesSlide14.xml" Id="R1cababda2170423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4be70d0f1b24fdf" /><Relationship Type="http://schemas.openxmlformats.org/officeDocument/2006/relationships/notesSlide" Target="/ppt/notesSlides/notesSlide15.xml" Id="R4df66f709c5a4ce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7ad0ca1440c4585" /><Relationship Type="http://schemas.openxmlformats.org/officeDocument/2006/relationships/notesSlide" Target="/ppt/notesSlides/notesSlide16.xml" Id="R95295c887f844e2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1ecea1fd9af4aa4" /><Relationship Type="http://schemas.openxmlformats.org/officeDocument/2006/relationships/notesSlide" Target="/ppt/notesSlides/notesSlide17.xml" Id="R9abb11a797d641d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2b33eceed0f4222" /><Relationship Type="http://schemas.openxmlformats.org/officeDocument/2006/relationships/notesSlide" Target="/ppt/notesSlides/notesSlide18.xml" Id="Rad523f96a2174d4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f03981d69064d6b" /><Relationship Type="http://schemas.openxmlformats.org/officeDocument/2006/relationships/notesSlide" Target="/ppt/notesSlides/notesSlide19.xml" Id="R623daa53a6c44f6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8909610eb4b40f2" /><Relationship Type="http://schemas.openxmlformats.org/officeDocument/2006/relationships/notesSlide" Target="/ppt/notesSlides/notesSlide20.xml" Id="Ree2dce8fa93e4f70" /></Relationships>
</file>

<file path=ppt/slides/_rels/slide21.xml.rels><?xml version='1.0' encoding='utf-8'?>
<ns0:Relationships xmlns:ns0="http://schemas.openxmlformats.org/package/2006/relationships"><ns0:Relationship Type="http://schemas.openxmlformats.org/officeDocument/2006/relationships/slideLayout" Target="/ppt/slideLayouts/slideLayout1.xml" Id="Rf1d5d31a906a4849" /><ns0:Relationship Type="http://schemas.openxmlformats.org/officeDocument/2006/relationships/notesSlide" Target="/ppt/notesSlides/notesSlide21.xml" Id="R885666da01ed4ac2" /><ns0:Relationship Id="rIdCitation1" Type="http://schemas.openxmlformats.org/officeDocument/2006/relationships/hyperlink" Target="https://arxiv.org/html/2601.12307v1#S4.T1" TargetMode="External" /></ns0:Relationships>
</file>

<file path=ppt/slides/_rels/slide22.xml.rels><?xml version='1.0' encoding='utf-8'?>
<ns0:Relationships xmlns:ns0="http://schemas.openxmlformats.org/package/2006/relationships"><ns0:Relationship Type="http://schemas.openxmlformats.org/officeDocument/2006/relationships/slideLayout" Target="/ppt/slideLayouts/slideLayout1.xml" Id="Rb5b1e0e059544305" /><ns0:Relationship Type="http://schemas.openxmlformats.org/officeDocument/2006/relationships/notesSlide" Target="/ppt/notesSlides/notesSlide22.xml" Id="Rcbcb50474a81433e" /><ns0:Relationship Id="rIdCitation1" Type="http://schemas.openxmlformats.org/officeDocument/2006/relationships/hyperlink" Target="https://arxiv.org/html/2601.12307v1#S4.SS1" TargetMode="External" /></ns0: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498e0b4d5104f20" /><Relationship Type="http://schemas.openxmlformats.org/officeDocument/2006/relationships/notesSlide" Target="/ppt/notesSlides/notesSlide23.xml" Id="R3b741aa88d714cb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b2963598a5b446d" /><Relationship Type="http://schemas.openxmlformats.org/officeDocument/2006/relationships/notesSlide" Target="/ppt/notesSlides/notesSlide24.xml" Id="R9d06975f3c67481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ecb5d155d3d42b5" /><Relationship Type="http://schemas.openxmlformats.org/officeDocument/2006/relationships/notesSlide" Target="/ppt/notesSlides/notesSlide25.xml" Id="Ra4da865d832a4eb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22962f4439c43f9" /><Relationship Type="http://schemas.openxmlformats.org/officeDocument/2006/relationships/notesSlide" Target="/ppt/notesSlides/notesSlide26.xml" Id="Re2910a227adc4148" /></Relationships>
</file>

<file path=ppt/slides/_rels/slide27.xml.rels><?xml version='1.0' encoding='utf-8'?>
<ns0:Relationships xmlns:ns0="http://schemas.openxmlformats.org/package/2006/relationships"><ns0:Relationship Type="http://schemas.openxmlformats.org/officeDocument/2006/relationships/slideLayout" Target="/ppt/slideLayouts/slideLayout1.xml" Id="R167425b28a22494a" /><ns0:Relationship Type="http://schemas.openxmlformats.org/officeDocument/2006/relationships/notesSlide" Target="/ppt/notesSlides/notesSlide27.xml" Id="R96e87825fa8e47fb" /><ns0:Relationship Id="rIdCitation1" Type="http://schemas.openxmlformats.org/officeDocument/2006/relationships/hyperlink" Target="https://arxiv.org/html/2601.12307v1" TargetMode="External" /><ns0:Relationship Id="rIdCitation2" Type="http://schemas.openxmlformats.org/officeDocument/2006/relationships/hyperlink" Target="https://arxiv.org/html/2604.02460v2" TargetMode="External" /><ns0:Relationship Id="rIdCitation3" Type="http://schemas.openxmlformats.org/officeDocument/2006/relationships/hyperlink" Target="https://arxiv.org/html/2407.01489v2" TargetMode="External" /></ns0: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2b275554e8b4022" /><Relationship Type="http://schemas.openxmlformats.org/officeDocument/2006/relationships/notesSlide" Target="/ppt/notesSlides/notesSlide28.xml" Id="Re30ba47f90de49f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Core small success rate</c:v>
          </c:tx>
          <c:dPt>
            <c:idx val="0"/>
            <c:invertIfNegative val="0"/>
            <c:spPr>
              <a:solidFill xmlns:a="http://schemas.openxmlformats.org/drawingml/2006/main">
                <a:srgbClr val="2468C9"/>
              </a:solidFill>
              <a:ln xmlns:a="http://schemas.openxmlformats.org/drawingml/2006/main" w="0">
                <a:noFill/>
              </a:ln>
            </c:spPr>
          </c:dPt>
          <c:dPt>
            <c:idx val="1"/>
            <c:invertIfNegative val="0"/>
            <c:spPr>
              <a:solidFill xmlns:a="http://schemas.openxmlformats.org/drawingml/2006/main">
                <a:srgbClr val="D27820"/>
              </a:solidFill>
              <a:ln xmlns:a="http://schemas.openxmlformats.org/drawingml/2006/main" w="0">
                <a:noFill/>
              </a:ln>
            </c:spPr>
          </c:dPt>
          <c:dPt>
            <c:idx val="2"/>
            <c:invertIfNegative val="0"/>
            <c:spPr>
              <a:solidFill xmlns:a="http://schemas.openxmlformats.org/drawingml/2006/main">
                <a:srgbClr val="147D75"/>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s>
          <c:cat>
            <c:strRef>
              <c:f>'Chart Data'!$A$2:$A$4</c:f>
              <c:strCache>
                <c:ptCount val="3"/>
                <c:pt idx="0">
                  <c:v>Single</c:v>
                </c:pt>
                <c:pt idx="1">
                  <c:v>Graph</c:v>
                </c:pt>
                <c:pt idx="2">
                  <c:v>Guarded</c:v>
                </c:pt>
              </c:strCache>
            </c:strRef>
          </c:cat>
          <c:val>
            <c:numRef>
              <c:f>'Chart Data'!$B$2:$B$4</c:f>
              <c:numCache>
                <c:formatCode>0%</c:formatCode>
                <c:ptCount val="3"/>
                <c:pt idx="0">
                  <c:v>0.916667</c:v>
                </c:pt>
                <c:pt idx="1">
                  <c:v>0.916667</c:v>
                </c:pt>
                <c:pt idx="2">
                  <c:v>0.916667</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2E9"/>
            </a:solid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6668">
              <a:solidFill>
                <a:srgbClr val="DCE2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50112"/>
        <c:crossBetween val="between"/>
        <c:majorUnit val="0.25"/>
      </c:valAx>
      <c:spPr>
        <a:solidFill xmlns:a="http://schemas.openxmlformats.org/drawingml/2006/main">
          <a:srgbClr val="F7F8FA"/>
        </a:solidFill>
        <a:ln xmlns:a="http://schemas.openxmlformats.org/drawingml/2006/main" w="0">
          <a:noFill/>
        </a:ln>
      </c:spPr>
    </c:plotArea>
    <c:plotVisOnly val="1"/>
  </c:chart>
  <c:spPr>
    <a:solidFill xmlns:a="http://schemas.openxmlformats.org/drawingml/2006/main">
      <a:srgbClr val="F7F8F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Core medium success rate</c:v>
          </c:tx>
          <c:dPt>
            <c:idx val="0"/>
            <c:invertIfNegative val="0"/>
            <c:spPr>
              <a:solidFill xmlns:a="http://schemas.openxmlformats.org/drawingml/2006/main">
                <a:srgbClr val="2468C9"/>
              </a:solidFill>
              <a:ln xmlns:a="http://schemas.openxmlformats.org/drawingml/2006/main" w="0">
                <a:noFill/>
              </a:ln>
            </c:spPr>
          </c:dPt>
          <c:dPt>
            <c:idx val="1"/>
            <c:invertIfNegative val="0"/>
            <c:spPr>
              <a:solidFill xmlns:a="http://schemas.openxmlformats.org/drawingml/2006/main">
                <a:srgbClr val="D27820"/>
              </a:solidFill>
              <a:ln xmlns:a="http://schemas.openxmlformats.org/drawingml/2006/main" w="0">
                <a:noFill/>
              </a:ln>
            </c:spPr>
          </c:dPt>
          <c:dPt>
            <c:idx val="2"/>
            <c:invertIfNegative val="0"/>
            <c:spPr>
              <a:solidFill xmlns:a="http://schemas.openxmlformats.org/drawingml/2006/main">
                <a:srgbClr val="147D75"/>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11/12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10/12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10/12</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s>
          <c:cat>
            <c:strRef>
              <c:f>'Chart Data'!$A$2:$A$4</c:f>
              <c:strCache>
                <c:ptCount val="3"/>
                <c:pt idx="0">
                  <c:v>Single</c:v>
                </c:pt>
                <c:pt idx="1">
                  <c:v>Graph</c:v>
                </c:pt>
                <c:pt idx="2">
                  <c:v>Guarded</c:v>
                </c:pt>
              </c:strCache>
            </c:strRef>
          </c:cat>
          <c:val>
            <c:numRef>
              <c:f>'Chart Data'!$B$2:$B$4</c:f>
              <c:numCache>
                <c:formatCode>0%</c:formatCode>
                <c:ptCount val="3"/>
                <c:pt idx="0">
                  <c:v>0.916667</c:v>
                </c:pt>
                <c:pt idx="1">
                  <c:v>0.833333</c:v>
                </c:pt>
                <c:pt idx="2">
                  <c:v>0.833333</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2E9"/>
            </a:solid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6668">
              <a:solidFill>
                <a:srgbClr val="DCE2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50112"/>
        <c:crossBetween val="between"/>
        <c:majorUnit val="0.25"/>
      </c:valAx>
      <c:spPr>
        <a:solidFill xmlns:a="http://schemas.openxmlformats.org/drawingml/2006/main">
          <a:srgbClr val="F7F8FA"/>
        </a:solidFill>
        <a:ln xmlns:a="http://schemas.openxmlformats.org/drawingml/2006/main" w="0">
          <a:noFill/>
        </a:ln>
      </c:spPr>
    </c:plotArea>
    <c:plotVisOnly val="1"/>
  </c:chart>
  <c:spPr>
    <a:solidFill xmlns:a="http://schemas.openxmlformats.org/drawingml/2006/main">
      <a:srgbClr val="F7F8F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SWE Pro success rate</c:v>
          </c:tx>
          <c:dPt>
            <c:idx val="0"/>
            <c:invertIfNegative val="0"/>
            <c:spPr>
              <a:solidFill xmlns:a="http://schemas.openxmlformats.org/drawingml/2006/main">
                <a:srgbClr val="2468C9"/>
              </a:solidFill>
              <a:ln xmlns:a="http://schemas.openxmlformats.org/drawingml/2006/main" w="0">
                <a:noFill/>
              </a:ln>
            </c:spPr>
          </c:dPt>
          <c:dPt>
            <c:idx val="1"/>
            <c:invertIfNegative val="0"/>
            <c:spPr>
              <a:solidFill xmlns:a="http://schemas.openxmlformats.org/drawingml/2006/main">
                <a:srgbClr val="D2782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9/15</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7283D"/>
                        </a:solidFill>
                        <a:latin typeface="Helvetica Neue"/>
                        <a:ea typeface="Helvetica Neue"/>
                        <a:cs typeface="Helvetica Neue"/>
                      </a:rPr>
                      <a:t>9/15</a:t>
                    </a:r>
                  </a:p>
                </c:rich>
              </c:tx>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dLbl>
          </c:dLbls>
          <c:cat>
            <c:strRef>
              <c:f>'Chart Data'!$A$2:$A$3</c:f>
              <c:strCache>
                <c:ptCount val="2"/>
                <c:pt idx="0">
                  <c:v>Single</c:v>
                </c:pt>
                <c:pt idx="1">
                  <c:v>Graph</c:v>
                </c:pt>
              </c:strCache>
            </c:strRef>
          </c:cat>
          <c:val>
            <c:numRef>
              <c:f>'Chart Data'!$B$2:$B$3</c:f>
              <c:numCache>
                <c:formatCode>0%</c:formatCode>
                <c:ptCount val="2"/>
                <c:pt idx="0">
                  <c:v>0.6</c:v>
                </c:pt>
                <c:pt idx="1">
                  <c:v>0.6</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7283D"/>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2E9"/>
            </a:solidFill>
          </a:ln>
        </c:spPr>
        <c:txPr>
          <a:bodyPr xmlns:a="http://schemas.openxmlformats.org/drawingml/2006/main" anchorCtr="1"/>
          <a:lstStyle xmlns:a="http://schemas.openxmlformats.org/drawingml/2006/main"/>
          <a:p xmlns:a="http://schemas.openxmlformats.org/drawingml/2006/main">
            <a:pPr>
              <a:defRPr sz="1650">
                <a:solidFill>
                  <a:srgbClr val="516174"/>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6668">
              <a:solidFill>
                <a:srgbClr val="DCE2E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16174"/>
                </a:solidFill>
                <a:latin typeface="Helvetica Neue"/>
                <a:ea typeface="Helvetica Neue"/>
                <a:cs typeface="Helvetica Neue"/>
              </a:defRPr>
            </a:pPr>
          </a:p>
        </c:txPr>
        <c:crossAx val="48650112"/>
        <c:crossBetween val="between"/>
        <c:majorUnit val="0.25"/>
      </c:valAx>
      <c:spPr>
        <a:solidFill xmlns:a="http://schemas.openxmlformats.org/drawingml/2006/main">
          <a:srgbClr val="F7F8FA"/>
        </a:solidFill>
        <a:ln xmlns:a="http://schemas.openxmlformats.org/drawingml/2006/main" w="0">
          <a:noFill/>
        </a:ln>
      </c:spPr>
    </c:plotArea>
    <c:plotVisOnly val="1"/>
  </c:chart>
  <c:spPr>
    <a:solidFill xmlns:a="http://schemas.openxmlformats.org/drawingml/2006/main">
      <a:srgbClr val="F7F8F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43A"/>
        </a:solidFill>
      </p:bgPr>
    </p:bg>
    <p:spTree>
      <p:nvGrpSpPr>
        <p:cNvPr id="1" name=""/>
        <p:cNvGrpSpPr/>
        <p:nvPr/>
      </p:nvGrpSpPr>
      <p:grpSpPr>
        <a:xfrm xmlns:a="http://schemas.openxmlformats.org/drawingml/2006/main"/>
      </p:grpSpPr>
      <p:sp>
        <p:nvSpPr>
          <p:cNvPr id="6" name="slide-number">
            <a:extLst xmlns:a="http://schemas.openxmlformats.org/drawingml/2006/main">
              <a:ext uri="{FF2B5EF4-FFF2-40B4-BE49-F238E27FC236}">
                <a16:creationId xmlns:a16="http://schemas.microsoft.com/office/drawing/2014/main" id="{BC78DCA1-BB22-44A2-B55E-6CC550A52FA0}"/>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9D6FC"/>
                </a:solidFill>
                <a:latin typeface="Helvetica Neue"/>
                <a:ea typeface="Helvetica Neue"/>
                <a:cs typeface="Helvetica Neue"/>
              </a:defRPr>
            </a:pPr>
            <a:r>
              <a:rPr sz="1275" b="0">
                <a:solidFill>
                  <a:srgbClr val="B9D6FC"/>
                </a:solidFill>
                <a:latin typeface="Helvetica Neue"/>
                <a:ea typeface="Helvetica Neue"/>
                <a:cs typeface="Helvetica Neue"/>
              </a:rPr>
              <a:t>01</a:t>
            </a:r>
          </a:p>
        </p:txBody>
      </p:sp>
      <p:sp>
        <p:nvSpPr>
          <p:cNvPr id="2" name="text-1">
            <a:extLst xmlns:a="http://schemas.openxmlformats.org/drawingml/2006/main">
              <a:ext uri="{FF2B5EF4-FFF2-40B4-BE49-F238E27FC236}">
                <a16:creationId xmlns:a16="http://schemas.microsoft.com/office/drawing/2014/main" id="{C22EFA79-C65C-4596-9F4A-65CA4A1012BA}"/>
              </a:ext>
            </a:extLst>
          </p:cNvPr>
          <p:cNvSpPr>
            <a:spLocks xmlns:a="http://schemas.openxmlformats.org/drawingml/2006/main" noGrp="1"/>
          </p:cNvSpPr>
          <p:nvPr/>
        </p:nvSpPr>
        <p:spPr>
          <a:xfrm xmlns:a="http://schemas.openxmlformats.org/drawingml/2006/main">
            <a:off x="685800" y="1123950"/>
            <a:ext cx="1066800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FFFFFF"/>
                </a:solidFill>
                <a:latin typeface="Helvetica Neue"/>
                <a:ea typeface="Helvetica Neue"/>
                <a:cs typeface="Helvetica Neue"/>
              </a:defRPr>
            </a:pPr>
            <a:r>
              <a:rPr sz="5850" b="1">
                <a:solidFill>
                  <a:srgbClr val="FFFFFF"/>
                </a:solidFill>
                <a:latin typeface="Helvetica Neue"/>
                <a:ea typeface="Helvetica Neue"/>
                <a:cs typeface="Helvetica Neue"/>
              </a:rPr>
              <a:t>Single-Agent and</a:t>
            </a:r>
          </a:p>
          <a:p xmlns:a="http://schemas.openxmlformats.org/drawingml/2006/main">
            <a:pPr algn="l">
              <a:defRPr sz="5850" b="1">
                <a:solidFill>
                  <a:srgbClr val="FFFFFF"/>
                </a:solidFill>
                <a:latin typeface="Helvetica Neue"/>
                <a:ea typeface="Helvetica Neue"/>
                <a:cs typeface="Helvetica Neue"/>
              </a:defRPr>
            </a:pPr>
            <a:r>
              <a:rPr sz="5850" b="1">
                <a:solidFill>
                  <a:srgbClr val="FFFFFF"/>
                </a:solidFill>
                <a:latin typeface="Helvetica Neue"/>
                <a:ea typeface="Helvetica Neue"/>
                <a:cs typeface="Helvetica Neue"/>
              </a:rPr>
              <a:t>Multi-Agent LLMs</a:t>
            </a:r>
          </a:p>
        </p:txBody>
      </p:sp>
      <p:sp>
        <p:nvSpPr>
          <p:cNvPr id="3" name="text-2">
            <a:extLst xmlns:a="http://schemas.openxmlformats.org/drawingml/2006/main">
              <a:ext uri="{FF2B5EF4-FFF2-40B4-BE49-F238E27FC236}">
                <a16:creationId xmlns:a16="http://schemas.microsoft.com/office/drawing/2014/main" id="{CFF440D9-0122-4F8D-9C02-AC6FB9D3E061}"/>
              </a:ext>
            </a:extLst>
          </p:cNvPr>
          <p:cNvSpPr>
            <a:spLocks xmlns:a="http://schemas.openxmlformats.org/drawingml/2006/main" noGrp="1"/>
          </p:cNvSpPr>
          <p:nvPr/>
        </p:nvSpPr>
        <p:spPr>
          <a:xfrm xmlns:a="http://schemas.openxmlformats.org/drawingml/2006/main">
            <a:off x="723900" y="35814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B9D6FC"/>
                </a:solidFill>
                <a:latin typeface="Helvetica Neue"/>
                <a:ea typeface="Helvetica Neue"/>
                <a:cs typeface="Helvetica Neue"/>
              </a:defRPr>
            </a:pPr>
            <a:r>
              <a:rPr sz="2850" b="0">
                <a:solidFill>
                  <a:srgbClr val="B9D6FC"/>
                </a:solidFill>
                <a:latin typeface="Helvetica Neue"/>
                <a:ea typeface="Helvetica Neue"/>
                <a:cs typeface="Helvetica Neue"/>
              </a:rPr>
              <a:t>Autonomous software development</a:t>
            </a:r>
          </a:p>
          <a:p xmlns:a="http://schemas.openxmlformats.org/drawingml/2006/main">
            <a:pPr algn="l">
              <a:defRPr sz="2850" b="0">
                <a:solidFill>
                  <a:srgbClr val="B9D6FC"/>
                </a:solidFill>
                <a:latin typeface="Helvetica Neue"/>
                <a:ea typeface="Helvetica Neue"/>
                <a:cs typeface="Helvetica Neue"/>
              </a:defRPr>
            </a:pPr>
            <a:r>
              <a:rPr sz="2850" b="0">
                <a:solidFill>
                  <a:srgbClr val="B9D6FC"/>
                </a:solidFill>
                <a:latin typeface="Helvetica Neue"/>
                <a:ea typeface="Helvetica Neue"/>
                <a:cs typeface="Helvetica Neue"/>
              </a:rPr>
              <a:t>at repository level</a:t>
            </a:r>
          </a:p>
        </p:txBody>
      </p:sp>
      <p:sp>
        <p:nvSpPr>
          <p:cNvPr id="4" name="text-3">
            <a:extLst xmlns:a="http://schemas.openxmlformats.org/drawingml/2006/main">
              <a:ext uri="{FF2B5EF4-FFF2-40B4-BE49-F238E27FC236}">
                <a16:creationId xmlns:a16="http://schemas.microsoft.com/office/drawing/2014/main" id="{D4B6E25A-FE09-4BD3-8732-F2CBCD80288C}"/>
              </a:ext>
            </a:extLst>
          </p:cNvPr>
          <p:cNvSpPr>
            <a:spLocks xmlns:a="http://schemas.openxmlformats.org/drawingml/2006/main" noGrp="1"/>
          </p:cNvSpPr>
          <p:nvPr/>
        </p:nvSpPr>
        <p:spPr>
          <a:xfrm xmlns:a="http://schemas.openxmlformats.org/drawingml/2006/main">
            <a:off x="723900" y="5314950"/>
            <a:ext cx="666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Roman Avanesov</a:t>
            </a:r>
          </a:p>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SV 88/2024</a:t>
            </a:r>
          </a:p>
        </p:txBody>
      </p:sp>
      <p:sp>
        <p:nvSpPr>
          <p:cNvPr id="5" name="text-4">
            <a:extLst xmlns:a="http://schemas.openxmlformats.org/drawingml/2006/main">
              <a:ext uri="{FF2B5EF4-FFF2-40B4-BE49-F238E27FC236}">
                <a16:creationId xmlns:a16="http://schemas.microsoft.com/office/drawing/2014/main" id="{C0550602-9174-4EA4-AF8A-C4A9849306A4}"/>
              </a:ext>
            </a:extLst>
          </p:cNvPr>
          <p:cNvSpPr>
            <a:spLocks xmlns:a="http://schemas.openxmlformats.org/drawingml/2006/main" noGrp="1"/>
          </p:cNvSpPr>
          <p:nvPr/>
        </p:nvSpPr>
        <p:spPr>
          <a:xfrm xmlns:a="http://schemas.openxmlformats.org/drawingml/2006/main">
            <a:off x="7572375" y="581025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B9D6FC"/>
                </a:solidFill>
                <a:latin typeface="Helvetica Neue"/>
                <a:ea typeface="Helvetica Neue"/>
                <a:cs typeface="Helvetica Neue"/>
              </a:defRPr>
            </a:pPr>
            <a:r>
              <a:rPr sz="1725" b="0">
                <a:solidFill>
                  <a:srgbClr val="B9D6FC"/>
                </a:solidFill>
                <a:latin typeface="Helvetica Neue"/>
                <a:ea typeface="Helvetica Neue"/>
                <a:cs typeface="Helvetica Neue"/>
              </a:rPr>
              <a:t>Primary study: master 8da3f3f</a:t>
            </a:r>
          </a:p>
        </p:txBody>
      </p:sp>
    </p:spTree>
    <p:extLst>
      <p:ext uri="{BB962C8B-B14F-4D97-AF65-F5344CB8AC3E}">
        <p14:creationId xmlns:p14="http://schemas.microsoft.com/office/powerpoint/2010/main" val="855378424"/>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3CCB40AA-4725-42FB-895B-99F3C8B10582}"/>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Research question</a:t>
            </a:r>
          </a:p>
        </p:txBody>
      </p:sp>
      <p:sp>
        <p:nvSpPr>
          <p:cNvPr id="2" name="slide-number">
            <a:extLst xmlns:a="http://schemas.openxmlformats.org/drawingml/2006/main">
              <a:ext uri="{FF2B5EF4-FFF2-40B4-BE49-F238E27FC236}">
                <a16:creationId xmlns:a16="http://schemas.microsoft.com/office/drawing/2014/main" id="{EE6D387C-DAED-4CBE-9D3F-1E2DBDC25B9E}"/>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02</a:t>
            </a:r>
          </a:p>
        </p:txBody>
      </p:sp>
      <p:sp>
        <p:nvSpPr>
          <p:cNvPr id="3" name="text-2">
            <a:extLst xmlns:a="http://schemas.openxmlformats.org/drawingml/2006/main">
              <a:ext uri="{FF2B5EF4-FFF2-40B4-BE49-F238E27FC236}">
                <a16:creationId xmlns:a16="http://schemas.microsoft.com/office/drawing/2014/main" id="{CCBEC306-54D9-4A1F-8938-7C8245A8662E}"/>
              </a:ext>
            </a:extLst>
          </p:cNvPr>
          <p:cNvSpPr>
            <a:spLocks xmlns:a="http://schemas.openxmlformats.org/drawingml/2006/main" noGrp="1"/>
          </p:cNvSpPr>
          <p:nvPr/>
        </p:nvSpPr>
        <p:spPr>
          <a:xfrm xmlns:a="http://schemas.openxmlformats.org/drawingml/2006/main">
            <a:off x="685800" y="1838325"/>
            <a:ext cx="10810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Does role specialization improve results</a:t>
            </a:r>
          </a:p>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enough to justify its additional cost?</a:t>
            </a:r>
          </a:p>
        </p:txBody>
      </p:sp>
      <p:sp>
        <p:nvSpPr>
          <p:cNvPr id="4" name="text-3">
            <a:extLst xmlns:a="http://schemas.openxmlformats.org/drawingml/2006/main">
              <a:ext uri="{FF2B5EF4-FFF2-40B4-BE49-F238E27FC236}">
                <a16:creationId xmlns:a16="http://schemas.microsoft.com/office/drawing/2014/main" id="{0BDEF75F-80B0-4DCA-A23C-4BF7806425C2}"/>
              </a:ext>
            </a:extLst>
          </p:cNvPr>
          <p:cNvSpPr>
            <a:spLocks xmlns:a="http://schemas.openxmlformats.org/drawingml/2006/main" noGrp="1"/>
          </p:cNvSpPr>
          <p:nvPr/>
        </p:nvSpPr>
        <p:spPr>
          <a:xfrm xmlns:a="http://schemas.openxmlformats.org/drawingml/2006/main">
            <a:off x="685800" y="405765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468C9"/>
                </a:solidFill>
                <a:latin typeface="Helvetica Neue"/>
                <a:ea typeface="Helvetica Neue"/>
                <a:cs typeface="Helvetica Neue"/>
              </a:defRPr>
            </a:pPr>
            <a:r>
              <a:rPr sz="2175" b="1">
                <a:solidFill>
                  <a:srgbClr val="2468C9"/>
                </a:solidFill>
                <a:latin typeface="Helvetica Neue"/>
                <a:ea typeface="Helvetica Neue"/>
                <a:cs typeface="Helvetica Neue"/>
              </a:rPr>
              <a:t>H1. Simple tasks</a:t>
            </a:r>
          </a:p>
        </p:txBody>
      </p:sp>
      <p:sp>
        <p:nvSpPr>
          <p:cNvPr id="5" name="text-4">
            <a:extLst xmlns:a="http://schemas.openxmlformats.org/drawingml/2006/main">
              <a:ext uri="{FF2B5EF4-FFF2-40B4-BE49-F238E27FC236}">
                <a16:creationId xmlns:a16="http://schemas.microsoft.com/office/drawing/2014/main" id="{4C23C685-B2FF-4D3D-8F00-F4BB9F199BA1}"/>
              </a:ext>
            </a:extLst>
          </p:cNvPr>
          <p:cNvSpPr>
            <a:spLocks xmlns:a="http://schemas.openxmlformats.org/drawingml/2006/main" noGrp="1"/>
          </p:cNvSpPr>
          <p:nvPr/>
        </p:nvSpPr>
        <p:spPr>
          <a:xfrm xmlns:a="http://schemas.openxmlformats.org/drawingml/2006/main">
            <a:off x="685800" y="462915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Single agents are</a:t>
            </a:r>
          </a:p>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more cost-effective</a:t>
            </a:r>
          </a:p>
        </p:txBody>
      </p:sp>
      <p:sp>
        <p:nvSpPr>
          <p:cNvPr id="6" name="text-5">
            <a:extLst xmlns:a="http://schemas.openxmlformats.org/drawingml/2006/main">
              <a:ext uri="{FF2B5EF4-FFF2-40B4-BE49-F238E27FC236}">
                <a16:creationId xmlns:a16="http://schemas.microsoft.com/office/drawing/2014/main" id="{C422B90B-56D7-494D-8D58-EA1F7D9CF5EC}"/>
              </a:ext>
            </a:extLst>
          </p:cNvPr>
          <p:cNvSpPr>
            <a:spLocks xmlns:a="http://schemas.openxmlformats.org/drawingml/2006/main" noGrp="1"/>
          </p:cNvSpPr>
          <p:nvPr/>
        </p:nvSpPr>
        <p:spPr>
          <a:xfrm xmlns:a="http://schemas.openxmlformats.org/drawingml/2006/main">
            <a:off x="6381750" y="40576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D27820"/>
                </a:solidFill>
                <a:latin typeface="Helvetica Neue"/>
                <a:ea typeface="Helvetica Neue"/>
                <a:cs typeface="Helvetica Neue"/>
              </a:defRPr>
            </a:pPr>
            <a:r>
              <a:rPr sz="2175" b="1">
                <a:solidFill>
                  <a:srgbClr val="D27820"/>
                </a:solidFill>
                <a:latin typeface="Helvetica Neue"/>
                <a:ea typeface="Helvetica Neue"/>
                <a:cs typeface="Helvetica Neue"/>
              </a:rPr>
              <a:t>H2. Increasing complexity</a:t>
            </a:r>
          </a:p>
        </p:txBody>
      </p:sp>
      <p:sp>
        <p:nvSpPr>
          <p:cNvPr id="7" name="text-6">
            <a:extLst xmlns:a="http://schemas.openxmlformats.org/drawingml/2006/main">
              <a:ext uri="{FF2B5EF4-FFF2-40B4-BE49-F238E27FC236}">
                <a16:creationId xmlns:a16="http://schemas.microsoft.com/office/drawing/2014/main" id="{0F3E7D26-4D7B-43B6-AC40-87807A24614C}"/>
              </a:ext>
            </a:extLst>
          </p:cNvPr>
          <p:cNvSpPr>
            <a:spLocks xmlns:a="http://schemas.openxmlformats.org/drawingml/2006/main" noGrp="1"/>
          </p:cNvSpPr>
          <p:nvPr/>
        </p:nvSpPr>
        <p:spPr>
          <a:xfrm xmlns:a="http://schemas.openxmlformats.org/drawingml/2006/main">
            <a:off x="6381750" y="46291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Multi-agent benefits grow with</a:t>
            </a:r>
          </a:p>
          <a:p xmlns:a="http://schemas.openxmlformats.org/drawingml/2006/main">
            <a:pPr algn="l">
              <a:defRPr sz="2250" b="0">
                <a:solidFill>
                  <a:srgbClr val="17283D"/>
                </a:solidFill>
                <a:latin typeface="Helvetica Neue"/>
                <a:ea typeface="Helvetica Neue"/>
                <a:cs typeface="Helvetica Neue"/>
              </a:defRPr>
            </a:pPr>
            <a:r>
              <a:rPr sz="2250" b="0">
                <a:solidFill>
                  <a:srgbClr val="17283D"/>
                </a:solidFill>
                <a:latin typeface="Helvetica Neue"/>
                <a:ea typeface="Helvetica Neue"/>
                <a:cs typeface="Helvetica Neue"/>
              </a:rPr>
              <a:t>task and codebase complexity</a:t>
            </a:r>
          </a:p>
        </p:txBody>
      </p:sp>
    </p:spTree>
    <p:extLst>
      <p:ext uri="{BB962C8B-B14F-4D97-AF65-F5344CB8AC3E}">
        <p14:creationId xmlns:p14="http://schemas.microsoft.com/office/powerpoint/2010/main" val="1334044062"/>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84227A58-3A4C-4E90-8A17-0F2149EA24F5}"/>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Repository development loop</a:t>
            </a:r>
          </a:p>
        </p:txBody>
      </p:sp>
      <p:sp>
        <p:nvSpPr>
          <p:cNvPr id="2" name="slide-number">
            <a:extLst xmlns:a="http://schemas.openxmlformats.org/drawingml/2006/main">
              <a:ext uri="{FF2B5EF4-FFF2-40B4-BE49-F238E27FC236}">
                <a16:creationId xmlns:a16="http://schemas.microsoft.com/office/drawing/2014/main" id="{1DDC4FE7-36F5-413E-81CE-EE20EEA8598E}"/>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03</a:t>
            </a:r>
          </a:p>
        </p:txBody>
      </p:sp>
      <p:sp>
        <p:nvSpPr>
          <p:cNvPr id="3" name="text-2">
            <a:extLst xmlns:a="http://schemas.openxmlformats.org/drawingml/2006/main">
              <a:ext uri="{FF2B5EF4-FFF2-40B4-BE49-F238E27FC236}">
                <a16:creationId xmlns:a16="http://schemas.microsoft.com/office/drawing/2014/main" id="{4573961E-9914-4CA1-B5FC-FC73BCEC268A}"/>
              </a:ext>
            </a:extLst>
          </p:cNvPr>
          <p:cNvSpPr>
            <a:spLocks xmlns:a="http://schemas.openxmlformats.org/drawingml/2006/main" noGrp="1"/>
          </p:cNvSpPr>
          <p:nvPr/>
        </p:nvSpPr>
        <p:spPr>
          <a:xfrm xmlns:a="http://schemas.openxmlformats.org/drawingml/2006/main">
            <a:off x="685800" y="18097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01</a:t>
            </a:r>
          </a:p>
        </p:txBody>
      </p:sp>
      <p:sp>
        <p:nvSpPr>
          <p:cNvPr id="4" name="text-3">
            <a:extLst xmlns:a="http://schemas.openxmlformats.org/drawingml/2006/main">
              <a:ext uri="{FF2B5EF4-FFF2-40B4-BE49-F238E27FC236}">
                <a16:creationId xmlns:a16="http://schemas.microsoft.com/office/drawing/2014/main" id="{BD04B8FF-5A95-4F2A-8CB8-E0A9AEC05CEB}"/>
              </a:ext>
            </a:extLst>
          </p:cNvPr>
          <p:cNvSpPr>
            <a:spLocks xmlns:a="http://schemas.openxmlformats.org/drawingml/2006/main" noGrp="1"/>
          </p:cNvSpPr>
          <p:nvPr/>
        </p:nvSpPr>
        <p:spPr>
          <a:xfrm xmlns:a="http://schemas.openxmlformats.org/drawingml/2006/main">
            <a:off x="1809750" y="18097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Task input</a:t>
            </a:r>
          </a:p>
        </p:txBody>
      </p:sp>
      <p:sp>
        <p:nvSpPr>
          <p:cNvPr id="5" name="text-4">
            <a:extLst xmlns:a="http://schemas.openxmlformats.org/drawingml/2006/main">
              <a:ext uri="{FF2B5EF4-FFF2-40B4-BE49-F238E27FC236}">
                <a16:creationId xmlns:a16="http://schemas.microsoft.com/office/drawing/2014/main" id="{D139AF09-9D65-49FD-85FE-D884CDBC8086}"/>
              </a:ext>
            </a:extLst>
          </p:cNvPr>
          <p:cNvSpPr>
            <a:spLocks xmlns:a="http://schemas.openxmlformats.org/drawingml/2006/main" noGrp="1"/>
          </p:cNvSpPr>
          <p:nvPr/>
        </p:nvSpPr>
        <p:spPr>
          <a:xfrm xmlns:a="http://schemas.openxmlformats.org/drawingml/2006/main">
            <a:off x="1809750" y="22574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Repository snapshot, task description, visible tests</a:t>
            </a:r>
          </a:p>
        </p:txBody>
      </p:sp>
      <p:sp>
        <p:nvSpPr>
          <p:cNvPr id="6" name="text-5">
            <a:extLst xmlns:a="http://schemas.openxmlformats.org/drawingml/2006/main">
              <a:ext uri="{FF2B5EF4-FFF2-40B4-BE49-F238E27FC236}">
                <a16:creationId xmlns:a16="http://schemas.microsoft.com/office/drawing/2014/main" id="{A4293E77-D216-428B-BCE8-30F5E5863646}"/>
              </a:ext>
            </a:extLst>
          </p:cNvPr>
          <p:cNvSpPr>
            <a:spLocks xmlns:a="http://schemas.openxmlformats.org/drawingml/2006/main" noGrp="1"/>
          </p:cNvSpPr>
          <p:nvPr/>
        </p:nvSpPr>
        <p:spPr>
          <a:xfrm xmlns:a="http://schemas.openxmlformats.org/drawingml/2006/main">
            <a:off x="685800" y="28384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02</a:t>
            </a:r>
          </a:p>
        </p:txBody>
      </p:sp>
      <p:sp>
        <p:nvSpPr>
          <p:cNvPr id="7" name="text-6">
            <a:extLst xmlns:a="http://schemas.openxmlformats.org/drawingml/2006/main">
              <a:ext uri="{FF2B5EF4-FFF2-40B4-BE49-F238E27FC236}">
                <a16:creationId xmlns:a16="http://schemas.microsoft.com/office/drawing/2014/main" id="{1BC349F8-CBC0-442F-AA0D-84B7383B6D0B}"/>
              </a:ext>
            </a:extLst>
          </p:cNvPr>
          <p:cNvSpPr>
            <a:spLocks xmlns:a="http://schemas.openxmlformats.org/drawingml/2006/main" noGrp="1"/>
          </p:cNvSpPr>
          <p:nvPr/>
        </p:nvSpPr>
        <p:spPr>
          <a:xfrm xmlns:a="http://schemas.openxmlformats.org/drawingml/2006/main">
            <a:off x="1809750" y="28384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Agent actions</a:t>
            </a:r>
          </a:p>
        </p:txBody>
      </p:sp>
      <p:sp>
        <p:nvSpPr>
          <p:cNvPr id="8" name="text-7">
            <a:extLst xmlns:a="http://schemas.openxmlformats.org/drawingml/2006/main">
              <a:ext uri="{FF2B5EF4-FFF2-40B4-BE49-F238E27FC236}">
                <a16:creationId xmlns:a16="http://schemas.microsoft.com/office/drawing/2014/main" id="{1F24D3A6-6E81-400F-9253-78636F055E29}"/>
              </a:ext>
            </a:extLst>
          </p:cNvPr>
          <p:cNvSpPr>
            <a:spLocks xmlns:a="http://schemas.openxmlformats.org/drawingml/2006/main" noGrp="1"/>
          </p:cNvSpPr>
          <p:nvPr/>
        </p:nvSpPr>
        <p:spPr>
          <a:xfrm xmlns:a="http://schemas.openxmlformats.org/drawingml/2006/main">
            <a:off x="1809750" y="32861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Read and search files, plan, edit code, run tests</a:t>
            </a:r>
          </a:p>
        </p:txBody>
      </p:sp>
      <p:sp>
        <p:nvSpPr>
          <p:cNvPr id="9" name="text-8">
            <a:extLst xmlns:a="http://schemas.openxmlformats.org/drawingml/2006/main">
              <a:ext uri="{FF2B5EF4-FFF2-40B4-BE49-F238E27FC236}">
                <a16:creationId xmlns:a16="http://schemas.microsoft.com/office/drawing/2014/main" id="{4470A3E3-6046-4C91-AFF9-8377F64E760A}"/>
              </a:ext>
            </a:extLst>
          </p:cNvPr>
          <p:cNvSpPr>
            <a:spLocks xmlns:a="http://schemas.openxmlformats.org/drawingml/2006/main" noGrp="1"/>
          </p:cNvSpPr>
          <p:nvPr/>
        </p:nvSpPr>
        <p:spPr>
          <a:xfrm xmlns:a="http://schemas.openxmlformats.org/drawingml/2006/main">
            <a:off x="685800" y="38671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03</a:t>
            </a:r>
          </a:p>
        </p:txBody>
      </p:sp>
      <p:sp>
        <p:nvSpPr>
          <p:cNvPr id="10" name="text-9">
            <a:extLst xmlns:a="http://schemas.openxmlformats.org/drawingml/2006/main">
              <a:ext uri="{FF2B5EF4-FFF2-40B4-BE49-F238E27FC236}">
                <a16:creationId xmlns:a16="http://schemas.microsoft.com/office/drawing/2014/main" id="{5685B7FA-9370-4405-BC00-0278170C711B}"/>
              </a:ext>
            </a:extLst>
          </p:cNvPr>
          <p:cNvSpPr>
            <a:spLocks xmlns:a="http://schemas.openxmlformats.org/drawingml/2006/main" noGrp="1"/>
          </p:cNvSpPr>
          <p:nvPr/>
        </p:nvSpPr>
        <p:spPr>
          <a:xfrm xmlns:a="http://schemas.openxmlformats.org/drawingml/2006/main">
            <a:off x="1809750" y="38671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Revision loop</a:t>
            </a:r>
          </a:p>
        </p:txBody>
      </p:sp>
      <p:sp>
        <p:nvSpPr>
          <p:cNvPr id="11" name="text-10">
            <a:extLst xmlns:a="http://schemas.openxmlformats.org/drawingml/2006/main">
              <a:ext uri="{FF2B5EF4-FFF2-40B4-BE49-F238E27FC236}">
                <a16:creationId xmlns:a16="http://schemas.microsoft.com/office/drawing/2014/main" id="{9504801C-334F-4A63-AD2A-9205B0C4A021}"/>
              </a:ext>
            </a:extLst>
          </p:cNvPr>
          <p:cNvSpPr>
            <a:spLocks xmlns:a="http://schemas.openxmlformats.org/drawingml/2006/main" noGrp="1"/>
          </p:cNvSpPr>
          <p:nvPr/>
        </p:nvSpPr>
        <p:spPr>
          <a:xfrm xmlns:a="http://schemas.openxmlformats.org/drawingml/2006/main">
            <a:off x="1809750" y="43148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Use tool feedback until completion or a budget limit</a:t>
            </a:r>
          </a:p>
        </p:txBody>
      </p:sp>
      <p:sp>
        <p:nvSpPr>
          <p:cNvPr id="12" name="text-11">
            <a:extLst xmlns:a="http://schemas.openxmlformats.org/drawingml/2006/main">
              <a:ext uri="{FF2B5EF4-FFF2-40B4-BE49-F238E27FC236}">
                <a16:creationId xmlns:a16="http://schemas.microsoft.com/office/drawing/2014/main" id="{3781AE50-EFBE-4B4A-B00F-E08CDA430981}"/>
              </a:ext>
            </a:extLst>
          </p:cNvPr>
          <p:cNvSpPr>
            <a:spLocks xmlns:a="http://schemas.openxmlformats.org/drawingml/2006/main" noGrp="1"/>
          </p:cNvSpPr>
          <p:nvPr/>
        </p:nvSpPr>
        <p:spPr>
          <a:xfrm xmlns:a="http://schemas.openxmlformats.org/drawingml/2006/main">
            <a:off x="685800" y="4895850"/>
            <a:ext cx="80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468C9"/>
                </a:solidFill>
                <a:latin typeface="Helvetica Neue"/>
                <a:ea typeface="Helvetica Neue"/>
                <a:cs typeface="Helvetica Neue"/>
              </a:defRPr>
            </a:pPr>
            <a:r>
              <a:rPr sz="3000" b="1">
                <a:solidFill>
                  <a:srgbClr val="2468C9"/>
                </a:solidFill>
                <a:latin typeface="Helvetica Neue"/>
                <a:ea typeface="Helvetica Neue"/>
                <a:cs typeface="Helvetica Neue"/>
              </a:rPr>
              <a:t>04</a:t>
            </a:r>
          </a:p>
        </p:txBody>
      </p:sp>
      <p:sp>
        <p:nvSpPr>
          <p:cNvPr id="13" name="text-12">
            <a:extLst xmlns:a="http://schemas.openxmlformats.org/drawingml/2006/main">
              <a:ext uri="{FF2B5EF4-FFF2-40B4-BE49-F238E27FC236}">
                <a16:creationId xmlns:a16="http://schemas.microsoft.com/office/drawing/2014/main" id="{7B9AC38B-9BF8-4EC5-A53B-18DE4C069CD0}"/>
              </a:ext>
            </a:extLst>
          </p:cNvPr>
          <p:cNvSpPr>
            <a:spLocks xmlns:a="http://schemas.openxmlformats.org/drawingml/2006/main" noGrp="1"/>
          </p:cNvSpPr>
          <p:nvPr/>
        </p:nvSpPr>
        <p:spPr>
          <a:xfrm xmlns:a="http://schemas.openxmlformats.org/drawingml/2006/main">
            <a:off x="1809750" y="4895850"/>
            <a:ext cx="942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External evaluation</a:t>
            </a:r>
          </a:p>
        </p:txBody>
      </p:sp>
      <p:sp>
        <p:nvSpPr>
          <p:cNvPr id="14" name="text-13">
            <a:extLst xmlns:a="http://schemas.openxmlformats.org/drawingml/2006/main">
              <a:ext uri="{FF2B5EF4-FFF2-40B4-BE49-F238E27FC236}">
                <a16:creationId xmlns:a16="http://schemas.microsoft.com/office/drawing/2014/main" id="{F8B289FE-AF0D-49B5-9835-5EC41AE4B211}"/>
              </a:ext>
            </a:extLst>
          </p:cNvPr>
          <p:cNvSpPr>
            <a:spLocks xmlns:a="http://schemas.openxmlformats.org/drawingml/2006/main" noGrp="1"/>
          </p:cNvSpPr>
          <p:nvPr/>
        </p:nvSpPr>
        <p:spPr>
          <a:xfrm xmlns:a="http://schemas.openxmlformats.org/drawingml/2006/main">
            <a:off x="1809750" y="53435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Check the final patch, required tests, and regressions</a:t>
            </a:r>
          </a:p>
        </p:txBody>
      </p:sp>
    </p:spTree>
    <p:extLst>
      <p:ext uri="{BB962C8B-B14F-4D97-AF65-F5344CB8AC3E}">
        <p14:creationId xmlns:p14="http://schemas.microsoft.com/office/powerpoint/2010/main" val="1252035183"/>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51EBA10A-520E-47BF-813D-5DA6CBC9FC75}"/>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Benchmark composition</a:t>
            </a:r>
          </a:p>
        </p:txBody>
      </p:sp>
      <p:sp>
        <p:nvSpPr>
          <p:cNvPr id="2" name="slide-number">
            <a:extLst xmlns:a="http://schemas.openxmlformats.org/drawingml/2006/main">
              <a:ext uri="{FF2B5EF4-FFF2-40B4-BE49-F238E27FC236}">
                <a16:creationId xmlns:a16="http://schemas.microsoft.com/office/drawing/2014/main" id="{D567CEB8-7046-4BFE-B01C-A05823B6362C}"/>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04</a:t>
            </a:r>
          </a:p>
        </p:txBody>
      </p:sp>
      <p:sp>
        <p:nvSpPr>
          <p:cNvPr id="3" name="text-2">
            <a:extLst xmlns:a="http://schemas.openxmlformats.org/drawingml/2006/main">
              <a:ext uri="{FF2B5EF4-FFF2-40B4-BE49-F238E27FC236}">
                <a16:creationId xmlns:a16="http://schemas.microsoft.com/office/drawing/2014/main" id="{7DC5219E-2FF5-4A96-AAC3-C223A0962177}"/>
              </a:ext>
            </a:extLst>
          </p:cNvPr>
          <p:cNvSpPr>
            <a:spLocks xmlns:a="http://schemas.openxmlformats.org/drawingml/2006/main" noGrp="1"/>
          </p:cNvSpPr>
          <p:nvPr/>
        </p:nvSpPr>
        <p:spPr>
          <a:xfrm xmlns:a="http://schemas.openxmlformats.org/drawingml/2006/main">
            <a:off x="685800" y="1562100"/>
            <a:ext cx="2095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2468C9"/>
                </a:solidFill>
                <a:latin typeface="Helvetica Neue"/>
                <a:ea typeface="Helvetica Neue"/>
                <a:cs typeface="Helvetica Neue"/>
              </a:defRPr>
            </a:pPr>
            <a:r>
              <a:rPr sz="6300" b="1">
                <a:solidFill>
                  <a:srgbClr val="2468C9"/>
                </a:solidFill>
                <a:latin typeface="Helvetica Neue"/>
                <a:ea typeface="Helvetica Neue"/>
                <a:cs typeface="Helvetica Neue"/>
              </a:rPr>
              <a:t>39</a:t>
            </a:r>
          </a:p>
        </p:txBody>
      </p:sp>
      <p:sp>
        <p:nvSpPr>
          <p:cNvPr id="4" name="text-3">
            <a:extLst xmlns:a="http://schemas.openxmlformats.org/drawingml/2006/main">
              <a:ext uri="{FF2B5EF4-FFF2-40B4-BE49-F238E27FC236}">
                <a16:creationId xmlns:a16="http://schemas.microsoft.com/office/drawing/2014/main" id="{7597510C-F82F-48FE-BFCF-58AC2F0D28B5}"/>
              </a:ext>
            </a:extLst>
          </p:cNvPr>
          <p:cNvSpPr>
            <a:spLocks xmlns:a="http://schemas.openxmlformats.org/drawingml/2006/main" noGrp="1"/>
          </p:cNvSpPr>
          <p:nvPr/>
        </p:nvSpPr>
        <p:spPr>
          <a:xfrm xmlns:a="http://schemas.openxmlformats.org/drawingml/2006/main">
            <a:off x="2400300" y="1971675"/>
            <a:ext cx="309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3D"/>
                </a:solidFill>
                <a:latin typeface="Helvetica Neue"/>
                <a:ea typeface="Helvetica Neue"/>
                <a:cs typeface="Helvetica Neue"/>
              </a:defRPr>
            </a:pPr>
            <a:r>
              <a:rPr sz="2175" b="0">
                <a:solidFill>
                  <a:srgbClr val="17283D"/>
                </a:solidFill>
                <a:latin typeface="Helvetica Neue"/>
                <a:ea typeface="Helvetica Neue"/>
                <a:cs typeface="Helvetica Neue"/>
              </a:rPr>
              <a:t>unique tasks</a:t>
            </a:r>
          </a:p>
        </p:txBody>
      </p:sp>
      <p:sp>
        <p:nvSpPr>
          <p:cNvPr id="5" name="text-4">
            <a:extLst xmlns:a="http://schemas.openxmlformats.org/drawingml/2006/main">
              <a:ext uri="{FF2B5EF4-FFF2-40B4-BE49-F238E27FC236}">
                <a16:creationId xmlns:a16="http://schemas.microsoft.com/office/drawing/2014/main" id="{295F9ACC-DE5C-4910-906B-AB8B8F21B582}"/>
              </a:ext>
            </a:extLst>
          </p:cNvPr>
          <p:cNvSpPr>
            <a:spLocks xmlns:a="http://schemas.openxmlformats.org/drawingml/2006/main" noGrp="1"/>
          </p:cNvSpPr>
          <p:nvPr/>
        </p:nvSpPr>
        <p:spPr>
          <a:xfrm xmlns:a="http://schemas.openxmlformats.org/drawingml/2006/main">
            <a:off x="6534150" y="15621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17283D"/>
                </a:solidFill>
                <a:latin typeface="Helvetica Neue"/>
                <a:ea typeface="Helvetica Neue"/>
                <a:cs typeface="Helvetica Neue"/>
              </a:defRPr>
            </a:pPr>
            <a:r>
              <a:rPr sz="6300" b="1">
                <a:solidFill>
                  <a:srgbClr val="17283D"/>
                </a:solidFill>
                <a:latin typeface="Helvetica Neue"/>
                <a:ea typeface="Helvetica Neue"/>
                <a:cs typeface="Helvetica Neue"/>
              </a:rPr>
              <a:t>102</a:t>
            </a:r>
          </a:p>
        </p:txBody>
      </p:sp>
      <p:sp>
        <p:nvSpPr>
          <p:cNvPr id="6" name="text-5">
            <a:extLst xmlns:a="http://schemas.openxmlformats.org/drawingml/2006/main">
              <a:ext uri="{FF2B5EF4-FFF2-40B4-BE49-F238E27FC236}">
                <a16:creationId xmlns:a16="http://schemas.microsoft.com/office/drawing/2014/main" id="{6C75C280-59A5-4379-AF05-6203EA26A2F7}"/>
              </a:ext>
            </a:extLst>
          </p:cNvPr>
          <p:cNvSpPr>
            <a:spLocks xmlns:a="http://schemas.openxmlformats.org/drawingml/2006/main" noGrp="1"/>
          </p:cNvSpPr>
          <p:nvPr/>
        </p:nvSpPr>
        <p:spPr>
          <a:xfrm xmlns:a="http://schemas.openxmlformats.org/drawingml/2006/main">
            <a:off x="8896350" y="19716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3D"/>
                </a:solidFill>
                <a:latin typeface="Helvetica Neue"/>
                <a:ea typeface="Helvetica Neue"/>
                <a:cs typeface="Helvetica Neue"/>
              </a:defRPr>
            </a:pPr>
            <a:r>
              <a:rPr sz="2175" b="0">
                <a:solidFill>
                  <a:srgbClr val="17283D"/>
                </a:solidFill>
                <a:latin typeface="Helvetica Neue"/>
                <a:ea typeface="Helvetica Neue"/>
                <a:cs typeface="Helvetica Neue"/>
              </a:rPr>
              <a:t>scored runs</a:t>
            </a:r>
          </a:p>
        </p:txBody>
      </p:sp>
      <p:graphicFrame>
        <p:nvGraphicFramePr>
          <p:cNvPr id="15" name=""/>
          <p:cNvGraphicFramePr/>
          <p:nvPr/>
        </p:nvGraphicFramePr>
        <p:xfrm>
          <a:off xmlns:a="http://schemas.openxmlformats.org/drawingml/2006/main" x="685800" y="2933700"/>
          <a:ext xmlns:a="http://schemas.openxmlformats.org/drawingml/2006/main" cx="10820400" cy="2781300"/>
        </p:xfrm>
        <a:graphic xmlns:a="http://schemas.openxmlformats.org/drawingml/2006/main">
          <a:graphicData uri="http://schemas.openxmlformats.org/drawingml/2006/table">
            <a:tbl>
              <a:tblPr firstRow="0" bandRow="0"/>
              <a:tblGrid>
                <a:gridCol w="3238500"/>
                <a:gridCol w="1524000"/>
                <a:gridCol w="2000250"/>
                <a:gridCol w="4057650"/>
              </a:tblGrid>
              <a:tr h="619125">
                <a:tc>
                  <a:txBody>
                    <a:bodyPr>
                      <a:noAutofit/>
                    </a:bodyPr>
                    <a:lstStyle/>
                    <a:p>
                      <a:pPr algn="l"/>
                      <a:r>
                        <a:rPr sz="1800" b="1">
                          <a:solidFill>
                            <a:srgbClr val="FFFFFF"/>
                          </a:solidFill>
                          <a:latin typeface="Helvetica Neue"/>
                          <a:ea typeface="Helvetica Neue"/>
                          <a:cs typeface="Helvetica Neue"/>
                        </a:rPr>
                        <a:t>Block</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Tasks</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Repositories</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Architectures</a:t>
                      </a:r>
                    </a:p>
                  </a:txBody>
                  <a:tcPr marL="152400" marR="114300" marT="123825" marB="114300" anchor="ctr">
                    <a:solidFill>
                      <a:srgbClr val="17283D"/>
                    </a:solidFill>
                  </a:tcPr>
                </a:tc>
              </a:tr>
              <a:tr h="695325">
                <a:tc>
                  <a:txBody>
                    <a:bodyPr>
                      <a:noAutofit/>
                    </a:bodyPr>
                    <a:lstStyle/>
                    <a:p>
                      <a:pPr algn="l"/>
                      <a:r>
                        <a:rPr sz="1875" b="0">
                          <a:solidFill>
                            <a:srgbClr val="17283D"/>
                          </a:solidFill>
                          <a:latin typeface="Helvetica Neue"/>
                          <a:ea typeface="Helvetica Neue"/>
                          <a:cs typeface="Helvetica Neue"/>
                        </a:rPr>
                        <a:t>Core small</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12</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11</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Single, graph, guarded</a:t>
                      </a:r>
                    </a:p>
                  </a:txBody>
                  <a:tcPr marL="152400" marR="114300" marT="123825" marB="114300" anchor="ctr">
                    <a:solidFill>
                      <a:srgbClr val="FFFFFF"/>
                    </a:solidFill>
                  </a:tcPr>
                </a:tc>
              </a:tr>
              <a:tr h="695325">
                <a:tc>
                  <a:txBody>
                    <a:bodyPr>
                      <a:noAutofit/>
                    </a:bodyPr>
                    <a:lstStyle/>
                    <a:p>
                      <a:pPr algn="l"/>
                      <a:r>
                        <a:rPr sz="1875" b="0">
                          <a:solidFill>
                            <a:srgbClr val="17283D"/>
                          </a:solidFill>
                          <a:latin typeface="Helvetica Neue"/>
                          <a:ea typeface="Helvetica Neue"/>
                          <a:cs typeface="Helvetica Neue"/>
                        </a:rPr>
                        <a:t>Core medium</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12</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6</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Single, graph, guarded</a:t>
                      </a:r>
                    </a:p>
                  </a:txBody>
                  <a:tcPr marL="152400" marR="114300" marT="123825" marB="114300" anchor="ctr">
                    <a:solidFill>
                      <a:srgbClr val="EFF2F6"/>
                    </a:solidFill>
                  </a:tcPr>
                </a:tc>
              </a:tr>
              <a:tr h="695325">
                <a:tc>
                  <a:txBody>
                    <a:bodyPr>
                      <a:noAutofit/>
                    </a:bodyPr>
                    <a:lstStyle/>
                    <a:p>
                      <a:pPr algn="l"/>
                      <a:r>
                        <a:rPr sz="1875" b="0">
                          <a:solidFill>
                            <a:srgbClr val="17283D"/>
                          </a:solidFill>
                          <a:latin typeface="Helvetica Neue"/>
                          <a:ea typeface="Helvetica Neue"/>
                          <a:cs typeface="Helvetica Neue"/>
                        </a:rPr>
                        <a:t>SWE Pro subset</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15</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3</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Single, graph</a:t>
                      </a:r>
                    </a:p>
                  </a:txBody>
                  <a:tcPr marL="152400" marR="114300" marT="123825" marB="114300" anchor="ctr">
                    <a:solidFill>
                      <a:srgbClr val="FFFFFF"/>
                    </a:solidFill>
                  </a:tcPr>
                </a:tc>
              </a:tr>
            </a:tbl>
          </a:graphicData>
        </a:graphic>
      </p:graphicFrame>
      <p:sp>
        <p:nvSpPr>
          <p:cNvPr id="8" name="text-6">
            <a:extLst xmlns:a="http://schemas.openxmlformats.org/drawingml/2006/main">
              <a:ext uri="{FF2B5EF4-FFF2-40B4-BE49-F238E27FC236}">
                <a16:creationId xmlns:a16="http://schemas.microsoft.com/office/drawing/2014/main" id="{227B9198-5616-4130-91BB-6E7552D52202}"/>
              </a:ext>
            </a:extLst>
          </p:cNvPr>
          <p:cNvSpPr>
            <a:spLocks xmlns:a="http://schemas.openxmlformats.org/drawingml/2006/main" noGrp="1"/>
          </p:cNvSpPr>
          <p:nvPr/>
        </p:nvSpPr>
        <p:spPr>
          <a:xfrm xmlns:a="http://schemas.openxmlformats.org/drawingml/2006/main">
            <a:off x="6858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174"/>
                </a:solidFill>
                <a:latin typeface="Helvetica Neue"/>
                <a:ea typeface="Helvetica Neue"/>
                <a:cs typeface="Helvetica Neue"/>
              </a:defRPr>
            </a:pPr>
            <a:r>
              <a:rPr sz="1575" b="0">
                <a:solidFill>
                  <a:srgbClr val="516174"/>
                </a:solidFill>
                <a:latin typeface="Helvetica Neue"/>
                <a:ea typeface="Helvetica Neue"/>
                <a:cs typeface="Helvetica Neue"/>
              </a:rPr>
              <a:t>Core: 24 tasks from 17 Python repositories. Two unpaired SQLGlot tasks are excluded.</a:t>
            </a:r>
          </a:p>
        </p:txBody>
      </p:sp>
    </p:spTree>
    <p:extLst>
      <p:ext uri="{BB962C8B-B14F-4D97-AF65-F5344CB8AC3E}">
        <p14:creationId xmlns:p14="http://schemas.microsoft.com/office/powerpoint/2010/main" val="1264619163"/>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4A9533E-B1F7-4743-9CAB-8A9ABCD68903}"/>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Task construction and validation</a:t>
            </a:r>
          </a:p>
        </p:txBody>
      </p:sp>
      <p:sp>
        <p:nvSpPr>
          <p:cNvPr id="2" name="slide-number">
            <a:extLst xmlns:a="http://schemas.openxmlformats.org/drawingml/2006/main">
              <a:ext uri="{FF2B5EF4-FFF2-40B4-BE49-F238E27FC236}">
                <a16:creationId xmlns:a16="http://schemas.microsoft.com/office/drawing/2014/main" id="{A52D8129-A536-4789-8052-85968ACE3A01}"/>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05</a:t>
            </a:r>
          </a:p>
        </p:txBody>
      </p:sp>
      <p:graphicFrame>
        <p:nvGraphicFramePr>
          <p:cNvPr id="8" name=""/>
          <p:cNvGraphicFramePr/>
          <p:nvPr/>
        </p:nvGraphicFramePr>
        <p:xfrm>
          <a:off xmlns:a="http://schemas.openxmlformats.org/drawingml/2006/main" x="685800" y="1790700"/>
          <a:ext xmlns:a="http://schemas.openxmlformats.org/drawingml/2006/main" cx="10820400" cy="3190875"/>
        </p:xfrm>
        <a:graphic xmlns:a="http://schemas.openxmlformats.org/drawingml/2006/main">
          <a:graphicData uri="http://schemas.openxmlformats.org/drawingml/2006/table">
            <a:tbl>
              <a:tblPr firstRow="0" bandRow="0"/>
              <a:tblGrid>
                <a:gridCol w="3429000"/>
                <a:gridCol w="1905000"/>
                <a:gridCol w="2381250"/>
                <a:gridCol w="3105150"/>
              </a:tblGrid>
              <a:tr h="666750">
                <a:tc>
                  <a:txBody>
                    <a:bodyPr>
                      <a:noAutofit/>
                    </a:bodyPr>
                    <a:lstStyle/>
                    <a:p>
                      <a:pPr algn="l"/>
                      <a:r>
                        <a:rPr sz="1800" b="1">
                          <a:solidFill>
                            <a:srgbClr val="FFFFFF"/>
                          </a:solidFill>
                          <a:latin typeface="Helvetica Neue"/>
                          <a:ea typeface="Helvetica Neue"/>
                          <a:cs typeface="Helvetica Neue"/>
                        </a:rPr>
                        <a:t>Test group</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Base state</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Reference solution</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Agent access</a:t>
                      </a:r>
                    </a:p>
                  </a:txBody>
                  <a:tcPr marL="152400" marR="114300" marT="123825" marB="114300" anchor="ctr">
                    <a:solidFill>
                      <a:srgbClr val="17283D"/>
                    </a:solidFill>
                  </a:tcPr>
                </a:tc>
              </a:tr>
              <a:tr h="838200">
                <a:tc>
                  <a:txBody>
                    <a:bodyPr>
                      <a:noAutofit/>
                    </a:bodyPr>
                    <a:lstStyle/>
                    <a:p>
                      <a:pPr algn="l"/>
                      <a:r>
                        <a:rPr sz="1875" b="0">
                          <a:solidFill>
                            <a:srgbClr val="17283D"/>
                          </a:solidFill>
                          <a:latin typeface="Helvetica Neue"/>
                          <a:ea typeface="Helvetica Neue"/>
                          <a:cs typeface="Helvetica Neue"/>
                        </a:rPr>
                        <a:t>Visible tests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During development</a:t>
                      </a:r>
                    </a:p>
                  </a:txBody>
                  <a:tcPr marL="152400" marR="114300" marT="123825" marB="114300" anchor="ctr">
                    <a:solidFill>
                      <a:srgbClr val="FFFFFF"/>
                    </a:solidFill>
                  </a:tcPr>
                </a:tc>
              </a:tr>
              <a:tr h="838200">
                <a:tc>
                  <a:txBody>
                    <a:bodyPr>
                      <a:noAutofit/>
                    </a:bodyPr>
                    <a:lstStyle/>
                    <a:p>
                      <a:pPr algn="l"/>
                      <a:r>
                        <a:rPr sz="1875" b="0">
                          <a:solidFill>
                            <a:srgbClr val="17283D"/>
                          </a:solidFill>
                          <a:latin typeface="Helvetica Neue"/>
                          <a:ea typeface="Helvetica Neue"/>
                          <a:cs typeface="Helvetica Neue"/>
                        </a:rPr>
                        <a:t>Hidden semantic</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Fail</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Final evaluation only</a:t>
                      </a:r>
                    </a:p>
                  </a:txBody>
                  <a:tcPr marL="152400" marR="114300" marT="123825" marB="114300" anchor="ctr">
                    <a:solidFill>
                      <a:srgbClr val="EFF2F6"/>
                    </a:solidFill>
                  </a:tcPr>
                </a:tc>
              </a:tr>
              <a:tr h="838200">
                <a:tc>
                  <a:txBody>
                    <a:bodyPr>
                      <a:noAutofit/>
                    </a:bodyPr>
                    <a:lstStyle/>
                    <a:p>
                      <a:pPr algn="l"/>
                      <a:r>
                        <a:rPr sz="1875" b="0">
                          <a:solidFill>
                            <a:srgbClr val="17283D"/>
                          </a:solidFill>
                          <a:latin typeface="Helvetica Neue"/>
                          <a:ea typeface="Helvetica Neue"/>
                          <a:cs typeface="Helvetica Neue"/>
                        </a:rPr>
                        <a:t>Compatibility</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Pass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Depends on the suite</a:t>
                      </a:r>
                    </a:p>
                  </a:txBody>
                  <a:tcPr marL="152400" marR="114300" marT="123825" marB="114300" anchor="ctr">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6BD2CDF5-A79D-4A45-8FCA-FAC4F9DCAF85}"/>
              </a:ext>
            </a:extLst>
          </p:cNvPr>
          <p:cNvSpPr>
            <a:spLocks xmlns:a="http://schemas.openxmlformats.org/drawingml/2006/main" noGrp="1"/>
          </p:cNvSpPr>
          <p:nvPr/>
        </p:nvSpPr>
        <p:spPr>
          <a:xfrm xmlns:a="http://schemas.openxmlformats.org/drawingml/2006/main">
            <a:off x="685800" y="52673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Real upstream changes provide the starting point and reference behavior.</a:t>
            </a:r>
          </a:p>
        </p:txBody>
      </p:sp>
      <p:sp>
        <p:nvSpPr>
          <p:cNvPr id="5" name="text-3">
            <a:extLst xmlns:a="http://schemas.openxmlformats.org/drawingml/2006/main">
              <a:ext uri="{FF2B5EF4-FFF2-40B4-BE49-F238E27FC236}">
                <a16:creationId xmlns:a16="http://schemas.microsoft.com/office/drawing/2014/main" id="{307DEE85-95F3-4E25-91F6-6083C48C0653}"/>
              </a:ext>
            </a:extLst>
          </p:cNvPr>
          <p:cNvSpPr>
            <a:spLocks xmlns:a="http://schemas.openxmlformats.org/drawingml/2006/main" noGrp="1"/>
          </p:cNvSpPr>
          <p:nvPr/>
        </p:nvSpPr>
        <p:spPr>
          <a:xfrm xmlns:a="http://schemas.openxmlformats.org/drawingml/2006/main">
            <a:off x="685800" y="58864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174"/>
                </a:solidFill>
                <a:latin typeface="Helvetica Neue"/>
                <a:ea typeface="Helvetica Neue"/>
                <a:cs typeface="Helvetica Neue"/>
              </a:defRPr>
            </a:pPr>
            <a:r>
              <a:rPr sz="1575" b="0">
                <a:solidFill>
                  <a:srgbClr val="516174"/>
                </a:solidFill>
                <a:latin typeface="Helvetica Neue"/>
                <a:ea typeface="Helvetica Neue"/>
                <a:cs typeface="Helvetica Neue"/>
              </a:rPr>
              <a:t>Local descriptions are curated. The SWE Pro importer and validation pipeline automate later steps.</a:t>
            </a:r>
          </a:p>
        </p:txBody>
      </p:sp>
    </p:spTree>
    <p:extLst>
      <p:ext uri="{BB962C8B-B14F-4D97-AF65-F5344CB8AC3E}">
        <p14:creationId xmlns:p14="http://schemas.microsoft.com/office/powerpoint/2010/main" val="1909116639"/>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3C60F8B8-B46F-4704-8837-BE844F835C53}"/>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Three architectures</a:t>
            </a:r>
          </a:p>
        </p:txBody>
      </p:sp>
      <p:sp>
        <p:nvSpPr>
          <p:cNvPr id="2" name="slide-number">
            <a:extLst xmlns:a="http://schemas.openxmlformats.org/drawingml/2006/main">
              <a:ext uri="{FF2B5EF4-FFF2-40B4-BE49-F238E27FC236}">
                <a16:creationId xmlns:a16="http://schemas.microsoft.com/office/drawing/2014/main" id="{C89D1D66-A42F-463C-82D2-6E0787DDC96C}"/>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06</a:t>
            </a:r>
          </a:p>
        </p:txBody>
      </p:sp>
      <p:graphicFrame>
        <p:nvGraphicFramePr>
          <p:cNvPr id="7" name=""/>
          <p:cNvGraphicFramePr/>
          <p:nvPr/>
        </p:nvGraphicFramePr>
        <p:xfrm>
          <a:off xmlns:a="http://schemas.openxmlformats.org/drawingml/2006/main" x="685800" y="1876425"/>
          <a:ext xmlns:a="http://schemas.openxmlformats.org/drawingml/2006/main" cx="10820400" cy="3181350"/>
        </p:xfrm>
        <a:graphic xmlns:a="http://schemas.openxmlformats.org/drawingml/2006/main">
          <a:graphicData uri="http://schemas.openxmlformats.org/drawingml/2006/table">
            <a:tbl>
              <a:tblPr firstRow="0" bandRow="0"/>
              <a:tblGrid>
                <a:gridCol w="2667000"/>
                <a:gridCol w="3810000"/>
                <a:gridCol w="4343400"/>
              </a:tblGrid>
              <a:tr h="666750">
                <a:tc>
                  <a:txBody>
                    <a:bodyPr>
                      <a:noAutofit/>
                    </a:bodyPr>
                    <a:lstStyle/>
                    <a:p>
                      <a:pPr algn="l"/>
                      <a:r>
                        <a:rPr sz="1800" b="1">
                          <a:solidFill>
                            <a:srgbClr val="FFFFFF"/>
                          </a:solidFill>
                          <a:latin typeface="Helvetica Neue"/>
                          <a:ea typeface="Helvetica Neue"/>
                          <a:cs typeface="Helvetica Neue"/>
                        </a:rPr>
                        <a:t>Architecture</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Control policy</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Responsibility</a:t>
                      </a:r>
                    </a:p>
                  </a:txBody>
                  <a:tcPr marL="152400" marR="114300" marT="123825" marB="114300" anchor="ctr">
                    <a:solidFill>
                      <a:srgbClr val="17283D"/>
                    </a:solidFill>
                  </a:tcPr>
                </a:tc>
              </a:tr>
              <a:tr h="838200">
                <a:tc>
                  <a:txBody>
                    <a:bodyPr>
                      <a:noAutofit/>
                    </a:bodyPr>
                    <a:lstStyle/>
                    <a:p>
                      <a:pPr algn="l"/>
                      <a:r>
                        <a:rPr sz="1875" b="0">
                          <a:solidFill>
                            <a:srgbClr val="17283D"/>
                          </a:solidFill>
                          <a:latin typeface="Helvetica Neue"/>
                          <a:ea typeface="Helvetica Neue"/>
                          <a:cs typeface="Helvetica Neue"/>
                        </a:rPr>
                        <a:t>Single</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One development loop</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Research, code, test, repair</a:t>
                      </a:r>
                    </a:p>
                  </a:txBody>
                  <a:tcPr marL="152400" marR="114300" marT="123825" marB="114300" anchor="ctr">
                    <a:solidFill>
                      <a:srgbClr val="FFFFFF"/>
                    </a:solidFill>
                  </a:tcPr>
                </a:tc>
              </a:tr>
              <a:tr h="838200">
                <a:tc>
                  <a:txBody>
                    <a:bodyPr>
                      <a:noAutofit/>
                    </a:bodyPr>
                    <a:lstStyle/>
                    <a:p>
                      <a:pPr algn="l"/>
                      <a:r>
                        <a:rPr sz="1875" b="0">
                          <a:solidFill>
                            <a:srgbClr val="17283D"/>
                          </a:solidFill>
                          <a:latin typeface="Helvetica Neue"/>
                          <a:ea typeface="Helvetica Neue"/>
                          <a:cs typeface="Helvetica Neue"/>
                        </a:rPr>
                        <a:t>Multi-graph</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Deterministic role routing</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Planner, developer, tester, reviewer</a:t>
                      </a:r>
                    </a:p>
                  </a:txBody>
                  <a:tcPr marL="152400" marR="114300" marT="123825" marB="114300" anchor="ctr">
                    <a:solidFill>
                      <a:srgbClr val="EFF2F6"/>
                    </a:solidFill>
                  </a:tcPr>
                </a:tc>
              </a:tr>
              <a:tr h="838200">
                <a:tc>
                  <a:txBody>
                    <a:bodyPr>
                      <a:noAutofit/>
                    </a:bodyPr>
                    <a:lstStyle/>
                    <a:p>
                      <a:pPr algn="l"/>
                      <a:r>
                        <a:rPr sz="1875" b="0">
                          <a:solidFill>
                            <a:srgbClr val="17283D"/>
                          </a:solidFill>
                          <a:latin typeface="Helvetica Neue"/>
                          <a:ea typeface="Helvetica Neue"/>
                          <a:cs typeface="Helvetica Neue"/>
                        </a:rPr>
                        <a:t>Guarded</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Supervisor with phase rules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Delegation with enforced checks</a:t>
                      </a:r>
                    </a:p>
                  </a:txBody>
                  <a:tcPr marL="152400" marR="114300" marT="123825" marB="114300" anchor="ctr">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7CBE41EF-E720-4BB2-AC13-F98E3657E8BA}"/>
              </a:ext>
            </a:extLst>
          </p:cNvPr>
          <p:cNvSpPr>
            <a:spLocks xmlns:a="http://schemas.openxmlformats.org/drawingml/2006/main" noGrp="1"/>
          </p:cNvSpPr>
          <p:nvPr/>
        </p:nvSpPr>
        <p:spPr>
          <a:xfrm xmlns:a="http://schemas.openxmlformats.org/drawingml/2006/main">
            <a:off x="685800" y="550545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Shared executor and evaluator. Sequential roles with separate contexts.</a:t>
            </a:r>
          </a:p>
        </p:txBody>
      </p:sp>
    </p:spTree>
    <p:extLst>
      <p:ext uri="{BB962C8B-B14F-4D97-AF65-F5344CB8AC3E}">
        <p14:creationId xmlns:p14="http://schemas.microsoft.com/office/powerpoint/2010/main" val="1883070612"/>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B9E66FB4-355B-4F79-8A00-BFF89F10829F}"/>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Evaluation and agent metrics</a:t>
            </a:r>
          </a:p>
        </p:txBody>
      </p:sp>
      <p:sp>
        <p:nvSpPr>
          <p:cNvPr id="2" name="slide-number">
            <a:extLst xmlns:a="http://schemas.openxmlformats.org/drawingml/2006/main">
              <a:ext uri="{FF2B5EF4-FFF2-40B4-BE49-F238E27FC236}">
                <a16:creationId xmlns:a16="http://schemas.microsoft.com/office/drawing/2014/main" id="{5195B84B-D0E8-453A-AE8D-68FC5DD2A1B9}"/>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07</a:t>
            </a:r>
          </a:p>
        </p:txBody>
      </p:sp>
      <p:sp>
        <p:nvSpPr>
          <p:cNvPr id="3" name="text-2">
            <a:extLst xmlns:a="http://schemas.openxmlformats.org/drawingml/2006/main">
              <a:ext uri="{FF2B5EF4-FFF2-40B4-BE49-F238E27FC236}">
                <a16:creationId xmlns:a16="http://schemas.microsoft.com/office/drawing/2014/main" id="{648C48E9-0BE3-4493-BCEE-9AA0F9AF2C4B}"/>
              </a:ext>
            </a:extLst>
          </p:cNvPr>
          <p:cNvSpPr>
            <a:spLocks xmlns:a="http://schemas.openxmlformats.org/drawingml/2006/main" noGrp="1"/>
          </p:cNvSpPr>
          <p:nvPr/>
        </p:nvSpPr>
        <p:spPr>
          <a:xfrm xmlns:a="http://schemas.openxmlformats.org/drawingml/2006/main">
            <a:off x="685800" y="16573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3D"/>
                </a:solidFill>
                <a:latin typeface="Helvetica Neue"/>
                <a:ea typeface="Helvetica Neue"/>
                <a:cs typeface="Helvetica Neue"/>
              </a:defRPr>
            </a:pPr>
            <a:r>
              <a:rPr sz="2400" b="1">
                <a:solidFill>
                  <a:srgbClr val="17283D"/>
                </a:solidFill>
                <a:latin typeface="Helvetica Neue"/>
                <a:ea typeface="Helvetica Neue"/>
                <a:cs typeface="Helvetica Neue"/>
              </a:rPr>
              <a:t>Final success requires</a:t>
            </a:r>
          </a:p>
        </p:txBody>
      </p:sp>
      <p:sp>
        <p:nvSpPr>
          <p:cNvPr id="4" name="text-3">
            <a:extLst xmlns:a="http://schemas.openxmlformats.org/drawingml/2006/main">
              <a:ext uri="{FF2B5EF4-FFF2-40B4-BE49-F238E27FC236}">
                <a16:creationId xmlns:a16="http://schemas.microsoft.com/office/drawing/2014/main" id="{57F5D167-FBBB-4186-90FB-E2E380271DE5}"/>
              </a:ext>
            </a:extLst>
          </p:cNvPr>
          <p:cNvSpPr>
            <a:spLocks xmlns:a="http://schemas.openxmlformats.org/drawingml/2006/main" noGrp="1"/>
          </p:cNvSpPr>
          <p:nvPr/>
        </p:nvSpPr>
        <p:spPr>
          <a:xfrm xmlns:a="http://schemas.openxmlformats.org/drawingml/2006/main">
            <a:off x="685800" y="224790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468C9"/>
                </a:solidFill>
                <a:latin typeface="Helvetica Neue"/>
                <a:ea typeface="Helvetica Neue"/>
                <a:cs typeface="Helvetica Neue"/>
              </a:defRPr>
            </a:pPr>
            <a:r>
              <a:rPr sz="2625" b="1">
                <a:solidFill>
                  <a:srgbClr val="2468C9"/>
                </a:solidFill>
                <a:latin typeface="Helvetica Neue"/>
                <a:ea typeface="Helvetica Neue"/>
                <a:cs typeface="Helvetica Neue"/>
              </a:rPr>
              <a:t>Visible and required hidden tests pass</a:t>
            </a:r>
          </a:p>
          <a:p xmlns:a="http://schemas.openxmlformats.org/drawingml/2006/main">
            <a:pPr algn="l">
              <a:defRPr sz="2625" b="1">
                <a:solidFill>
                  <a:srgbClr val="2468C9"/>
                </a:solidFill>
                <a:latin typeface="Helvetica Neue"/>
                <a:ea typeface="Helvetica Neue"/>
                <a:cs typeface="Helvetica Neue"/>
              </a:defRPr>
            </a:pPr>
            <a:r>
              <a:rPr sz="2625" b="1">
                <a:solidFill>
                  <a:srgbClr val="2468C9"/>
                </a:solidFill>
                <a:latin typeface="Helvetica Neue"/>
                <a:ea typeface="Helvetica Neue"/>
                <a:cs typeface="Helvetica Neue"/>
              </a:rPr>
              <a:t>No regressions or detected test-oracle tampering</a:t>
            </a:r>
          </a:p>
        </p:txBody>
      </p:sp>
      <p:sp>
        <p:nvSpPr>
          <p:cNvPr id="5" name="text-4">
            <a:extLst xmlns:a="http://schemas.openxmlformats.org/drawingml/2006/main">
              <a:ext uri="{FF2B5EF4-FFF2-40B4-BE49-F238E27FC236}">
                <a16:creationId xmlns:a16="http://schemas.microsoft.com/office/drawing/2014/main" id="{2218EB8C-F804-4344-A3C5-06B54F12CE89}"/>
              </a:ext>
            </a:extLst>
          </p:cNvPr>
          <p:cNvSpPr>
            <a:spLocks xmlns:a="http://schemas.openxmlformats.org/drawingml/2006/main" noGrp="1"/>
          </p:cNvSpPr>
          <p:nvPr/>
        </p:nvSpPr>
        <p:spPr>
          <a:xfrm xmlns:a="http://schemas.openxmlformats.org/drawingml/2006/main">
            <a:off x="685800" y="3867150"/>
            <a:ext cx="4905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3D"/>
                </a:solidFill>
                <a:latin typeface="Helvetica Neue"/>
                <a:ea typeface="Helvetica Neue"/>
                <a:cs typeface="Helvetica Neue"/>
              </a:defRPr>
            </a:pPr>
            <a:r>
              <a:rPr sz="2175" b="1">
                <a:solidFill>
                  <a:srgbClr val="17283D"/>
                </a:solidFill>
                <a:latin typeface="Helvetica Neue"/>
                <a:ea typeface="Helvetica Neue"/>
                <a:cs typeface="Helvetica Neue"/>
              </a:rPr>
              <a:t>Outcome and efficiency</a:t>
            </a:r>
          </a:p>
        </p:txBody>
      </p:sp>
      <p:sp>
        <p:nvSpPr>
          <p:cNvPr id="6" name="text-5">
            <a:extLst xmlns:a="http://schemas.openxmlformats.org/drawingml/2006/main">
              <a:ext uri="{FF2B5EF4-FFF2-40B4-BE49-F238E27FC236}">
                <a16:creationId xmlns:a16="http://schemas.microsoft.com/office/drawing/2014/main" id="{751BBF77-4908-4B72-9002-40E0419A1F6D}"/>
              </a:ext>
            </a:extLst>
          </p:cNvPr>
          <p:cNvSpPr>
            <a:spLocks xmlns:a="http://schemas.openxmlformats.org/drawingml/2006/main" noGrp="1"/>
          </p:cNvSpPr>
          <p:nvPr/>
        </p:nvSpPr>
        <p:spPr>
          <a:xfrm xmlns:a="http://schemas.openxmlformats.org/drawingml/2006/main">
            <a:off x="685800" y="4457700"/>
            <a:ext cx="4857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Resolved@1</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Cost per solved task</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Tokens, calls, steps, duration</a:t>
            </a:r>
          </a:p>
        </p:txBody>
      </p:sp>
      <p:sp>
        <p:nvSpPr>
          <p:cNvPr id="7" name="text-6">
            <a:extLst xmlns:a="http://schemas.openxmlformats.org/drawingml/2006/main">
              <a:ext uri="{FF2B5EF4-FFF2-40B4-BE49-F238E27FC236}">
                <a16:creationId xmlns:a16="http://schemas.microsoft.com/office/drawing/2014/main" id="{1C782F71-36CA-4238-BC94-64672A9FFACD}"/>
              </a:ext>
            </a:extLst>
          </p:cNvPr>
          <p:cNvSpPr>
            <a:spLocks xmlns:a="http://schemas.openxmlformats.org/drawingml/2006/main" noGrp="1"/>
          </p:cNvSpPr>
          <p:nvPr/>
        </p:nvSpPr>
        <p:spPr>
          <a:xfrm xmlns:a="http://schemas.openxmlformats.org/drawingml/2006/main">
            <a:off x="6457950" y="3867150"/>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3D"/>
                </a:solidFill>
                <a:latin typeface="Helvetica Neue"/>
                <a:ea typeface="Helvetica Neue"/>
                <a:cs typeface="Helvetica Neue"/>
              </a:defRPr>
            </a:pPr>
            <a:r>
              <a:rPr sz="2175" b="1">
                <a:solidFill>
                  <a:srgbClr val="17283D"/>
                </a:solidFill>
                <a:latin typeface="Helvetica Neue"/>
                <a:ea typeface="Helvetica Neue"/>
                <a:cs typeface="Helvetica Neue"/>
              </a:rPr>
              <a:t>Behavioral diagnostics</a:t>
            </a:r>
          </a:p>
        </p:txBody>
      </p:sp>
      <p:sp>
        <p:nvSpPr>
          <p:cNvPr id="8" name="text-7">
            <a:extLst xmlns:a="http://schemas.openxmlformats.org/drawingml/2006/main">
              <a:ext uri="{FF2B5EF4-FFF2-40B4-BE49-F238E27FC236}">
                <a16:creationId xmlns:a16="http://schemas.microsoft.com/office/drawing/2014/main" id="{D55218B6-A3BD-46B6-BE73-3CB5988D7D36}"/>
              </a:ext>
            </a:extLst>
          </p:cNvPr>
          <p:cNvSpPr>
            <a:spLocks xmlns:a="http://schemas.openxmlformats.org/drawingml/2006/main" noGrp="1"/>
          </p:cNvSpPr>
          <p:nvPr/>
        </p:nvSpPr>
        <p:spPr>
          <a:xfrm xmlns:a="http://schemas.openxmlformats.org/drawingml/2006/main">
            <a:off x="6457950" y="4457700"/>
            <a:ext cx="5000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Tool-use validity</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Repair and visible/final gaps</a:t>
            </a:r>
          </a:p>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Explicitly defined proxy metrics</a:t>
            </a:r>
          </a:p>
        </p:txBody>
      </p:sp>
    </p:spTree>
    <p:extLst>
      <p:ext uri="{BB962C8B-B14F-4D97-AF65-F5344CB8AC3E}">
        <p14:creationId xmlns:p14="http://schemas.microsoft.com/office/powerpoint/2010/main" val="1025519993"/>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658AE4A-2C19-4DA5-AD4F-E49C9846DB9D}"/>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How final task PASS is decided</a:t>
            </a:r>
          </a:p>
        </p:txBody>
      </p:sp>
      <p:sp>
        <p:nvSpPr>
          <p:cNvPr id="2" name="slide-number">
            <a:extLst xmlns:a="http://schemas.openxmlformats.org/drawingml/2006/main">
              <a:ext uri="{FF2B5EF4-FFF2-40B4-BE49-F238E27FC236}">
                <a16:creationId xmlns:a16="http://schemas.microsoft.com/office/drawing/2014/main" id="{DAC1CFD1-7FF1-4FAD-81C8-659FFC1596BA}"/>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08</a:t>
            </a:r>
          </a:p>
        </p:txBody>
      </p:sp>
      <p:sp>
        <p:nvSpPr>
          <p:cNvPr id="3" name="text-2">
            <a:extLst xmlns:a="http://schemas.openxmlformats.org/drawingml/2006/main">
              <a:ext uri="{FF2B5EF4-FFF2-40B4-BE49-F238E27FC236}">
                <a16:creationId xmlns:a16="http://schemas.microsoft.com/office/drawing/2014/main" id="{006746EA-0534-4A13-9589-B743D662F473}"/>
              </a:ext>
            </a:extLst>
          </p:cNvPr>
          <p:cNvSpPr>
            <a:spLocks xmlns:a="http://schemas.openxmlformats.org/drawingml/2006/main" noGrp="1"/>
          </p:cNvSpPr>
          <p:nvPr/>
        </p:nvSpPr>
        <p:spPr>
          <a:xfrm xmlns:a="http://schemas.openxmlformats.org/drawingml/2006/main">
            <a:off x="685800" y="14763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468C9"/>
                </a:solidFill>
                <a:latin typeface="Helvetica Neue"/>
                <a:ea typeface="Helvetica Neue"/>
                <a:cs typeface="Helvetica Neue"/>
              </a:defRPr>
            </a:pPr>
            <a:r>
              <a:rPr sz="2175" b="1">
                <a:solidFill>
                  <a:srgbClr val="2468C9"/>
                </a:solidFill>
                <a:latin typeface="Helvetica Neue"/>
                <a:ea typeface="Helvetica Neue"/>
                <a:cs typeface="Helvetica Neue"/>
              </a:rPr>
              <a:t>All conditions must hold at final evaluation.</a:t>
            </a:r>
          </a:p>
        </p:txBody>
      </p:sp>
      <p:graphicFrame>
        <p:nvGraphicFramePr>
          <p:cNvPr id="10" name=""/>
          <p:cNvGraphicFramePr/>
          <p:nvPr/>
        </p:nvGraphicFramePr>
        <p:xfrm>
          <a:off xmlns:a="http://schemas.openxmlformats.org/drawingml/2006/main" x="685800" y="2028825"/>
          <a:ext xmlns:a="http://schemas.openxmlformats.org/drawingml/2006/main" cx="10820400" cy="3486150"/>
        </p:xfrm>
        <a:graphic xmlns:a="http://schemas.openxmlformats.org/drawingml/2006/main">
          <a:graphicData uri="http://schemas.openxmlformats.org/drawingml/2006/table">
            <a:tbl>
              <a:tblPr firstRow="0" bandRow="0"/>
              <a:tblGrid>
                <a:gridCol w="3657600"/>
                <a:gridCol w="7162800"/>
              </a:tblGrid>
              <a:tr h="552450">
                <a:tc>
                  <a:txBody>
                    <a:bodyPr>
                      <a:noAutofit/>
                    </a:bodyPr>
                    <a:lstStyle/>
                    <a:p>
                      <a:pPr algn="l"/>
                      <a:r>
                        <a:rPr sz="1800" b="1">
                          <a:solidFill>
                            <a:srgbClr val="FFFFFF"/>
                          </a:solidFill>
                          <a:latin typeface="Helvetica Neue"/>
                          <a:ea typeface="Helvetica Neue"/>
                          <a:cs typeface="Helvetica Neue"/>
                        </a:rPr>
                        <a:t>Condition</a:t>
                      </a:r>
                    </a:p>
                  </a:txBody>
                  <a:tcPr marL="152400" marR="114300" marT="66675" marB="66675" anchor="ctr">
                    <a:solidFill>
                      <a:srgbClr val="17283D"/>
                    </a:solidFill>
                  </a:tcPr>
                </a:tc>
                <a:tc>
                  <a:txBody>
                    <a:bodyPr>
                      <a:noAutofit/>
                    </a:bodyPr>
                    <a:lstStyle/>
                    <a:p>
                      <a:pPr algn="l"/>
                      <a:r>
                        <a:rPr sz="1800" b="1">
                          <a:solidFill>
                            <a:srgbClr val="FFFFFF"/>
                          </a:solidFill>
                          <a:latin typeface="Helvetica Neue"/>
                          <a:ea typeface="Helvetica Neue"/>
                          <a:cs typeface="Helvetica Neue"/>
                        </a:rPr>
                        <a:t>What the evaluator checks</a:t>
                      </a:r>
                    </a:p>
                  </a:txBody>
                  <a:tcPr marL="152400" marR="114300" marT="66675" marB="66675" anchor="ctr">
                    <a:solidFill>
                      <a:srgbClr val="17283D"/>
                    </a:solidFill>
                  </a:tcPr>
                </a:tc>
              </a:tr>
              <a:tr h="733425">
                <a:tc>
                  <a:txBody>
                    <a:bodyPr>
                      <a:noAutofit/>
                    </a:bodyPr>
                    <a:lstStyle/>
                    <a:p>
                      <a:pPr algn="l"/>
                      <a:r>
                        <a:rPr sz="1875" b="0">
                          <a:solidFill>
                            <a:srgbClr val="17283D"/>
                          </a:solidFill>
                          <a:latin typeface="Helvetica Neue"/>
                          <a:ea typeface="Helvetica Neue"/>
                          <a:cs typeface="Helvetica Neue"/>
                        </a:rPr>
                        <a:t>Visible tests pass</a:t>
                      </a:r>
                    </a:p>
                  </a:txBody>
                  <a:tcPr marL="152400" marR="114300" marT="66675" marB="66675" anchor="ctr">
                    <a:solidFill>
                      <a:srgbClr val="FFFFFF"/>
                    </a:solidFill>
                  </a:tcPr>
                </a:tc>
                <a:tc>
                  <a:txBody>
                    <a:bodyPr>
                      <a:noAutofit/>
                    </a:bodyPr>
                    <a:lstStyle/>
                    <a:p>
                      <a:pPr algn="l"/>
                      <a:r>
                        <a:rPr sz="1875" b="0">
                          <a:solidFill>
                            <a:srgbClr val="17283D"/>
                          </a:solidFill>
                          <a:latin typeface="Helvetica Neue"/>
                          <a:ea typeface="Helvetica Neue"/>
                          <a:cs typeface="Helvetica Neue"/>
                        </a:rPr>
                        <a:t>The visible suite passes after the agent stops.</a:t>
                      </a:r>
                    </a:p>
                  </a:txBody>
                  <a:tcPr marL="152400" marR="114300" marT="66675" marB="66675" anchor="ctr">
                    <a:solidFill>
                      <a:srgbClr val="FFFFFF"/>
                    </a:solidFill>
                  </a:tcPr>
                </a:tc>
              </a:tr>
              <a:tr h="733425">
                <a:tc>
                  <a:txBody>
                    <a:bodyPr>
                      <a:noAutofit/>
                    </a:bodyPr>
                    <a:lstStyle/>
                    <a:p>
                      <a:pPr algn="l"/>
                      <a:r>
                        <a:rPr sz="1875" b="0">
                          <a:solidFill>
                            <a:srgbClr val="17283D"/>
                          </a:solidFill>
                          <a:latin typeface="Helvetica Neue"/>
                          <a:ea typeface="Helvetica Neue"/>
                          <a:cs typeface="Helvetica Neue"/>
                        </a:rPr>
                        <a:t>Required hidden tests pass</a:t>
                      </a:r>
                    </a:p>
                  </a:txBody>
                  <a:tcPr marL="152400" marR="114300" marT="66675" marB="66675" anchor="ctr">
                    <a:solidFill>
                      <a:srgbClr val="EFF2F6"/>
                    </a:solidFill>
                  </a:tcPr>
                </a:tc>
                <a:tc>
                  <a:txBody>
                    <a:bodyPr>
                      <a:noAutofit/>
                    </a:bodyPr>
                    <a:lstStyle/>
                    <a:p>
                      <a:pPr algn="l"/>
                      <a:r>
                        <a:rPr sz="1875" b="0">
                          <a:solidFill>
                            <a:srgbClr val="17283D"/>
                          </a:solidFill>
                          <a:latin typeface="Helvetica Neue"/>
                          <a:ea typeface="Helvetica Neue"/>
                          <a:cs typeface="Helvetica Neue"/>
                        </a:rPr>
                        <a:t>Every required withheld suite passes.</a:t>
                      </a:r>
                    </a:p>
                  </a:txBody>
                  <a:tcPr marL="152400" marR="114300" marT="66675" marB="66675" anchor="ctr">
                    <a:solidFill>
                      <a:srgbClr val="EFF2F6"/>
                    </a:solidFill>
                  </a:tcPr>
                </a:tc>
              </a:tr>
              <a:tr h="733425">
                <a:tc>
                  <a:txBody>
                    <a:bodyPr>
                      <a:noAutofit/>
                    </a:bodyPr>
                    <a:lstStyle/>
                    <a:p>
                      <a:pPr algn="l"/>
                      <a:r>
                        <a:rPr sz="1875" b="0">
                          <a:solidFill>
                            <a:srgbClr val="17283D"/>
                          </a:solidFill>
                          <a:latin typeface="Helvetica Neue"/>
                          <a:ea typeface="Helvetica Neue"/>
                          <a:cs typeface="Helvetica Neue"/>
                        </a:rPr>
                        <a:t>No regressions</a:t>
                      </a:r>
                    </a:p>
                  </a:txBody>
                  <a:tcPr marL="152400" marR="114300" marT="66675" marB="66675" anchor="ctr">
                    <a:solidFill>
                      <a:srgbClr val="FFFFFF"/>
                    </a:solidFill>
                  </a:tcPr>
                </a:tc>
                <a:tc>
                  <a:txBody>
                    <a:bodyPr>
                      <a:noAutofit/>
                    </a:bodyPr>
                    <a:lstStyle/>
                    <a:p>
                      <a:pPr algn="l"/>
                      <a:r>
                        <a:rPr sz="1875" b="0">
                          <a:solidFill>
                            <a:srgbClr val="17283D"/>
                          </a:solidFill>
                          <a:latin typeface="Helvetica Neue"/>
                          <a:ea typeface="Helvetica Neue"/>
                          <a:cs typeface="Helvetica Neue"/>
                        </a:rPr>
                        <a:t>Every previously passing visible test still passes.</a:t>
                      </a:r>
                    </a:p>
                  </a:txBody>
                  <a:tcPr marL="152400" marR="114300" marT="66675" marB="66675" anchor="ctr">
                    <a:solidFill>
                      <a:srgbClr val="FFFFFF"/>
                    </a:solidFill>
                  </a:tcPr>
                </a:tc>
              </a:tr>
              <a:tr h="733425">
                <a:tc>
                  <a:txBody>
                    <a:bodyPr>
                      <a:noAutofit/>
                    </a:bodyPr>
                    <a:lstStyle/>
                    <a:p>
                      <a:pPr algn="l"/>
                      <a:r>
                        <a:rPr sz="1875" b="0">
                          <a:solidFill>
                            <a:srgbClr val="17283D"/>
                          </a:solidFill>
                          <a:latin typeface="Helvetica Neue"/>
                          <a:ea typeface="Helvetica Neue"/>
                          <a:cs typeface="Helvetica Neue"/>
                        </a:rPr>
                        <a:t>Evaluation integrity</a:t>
                      </a:r>
                    </a:p>
                  </a:txBody>
                  <a:tcPr marL="152400" marR="114300" marT="66675" marB="66675" anchor="ctr">
                    <a:solidFill>
                      <a:srgbClr val="EFF2F6"/>
                    </a:solidFill>
                  </a:tcPr>
                </a:tc>
                <a:tc>
                  <a:txBody>
                    <a:bodyPr>
                      <a:noAutofit/>
                    </a:bodyPr>
                    <a:lstStyle/>
                    <a:p>
                      <a:pPr algn="l"/>
                      <a:r>
                        <a:rPr sz="1875" b="0">
                          <a:solidFill>
                            <a:srgbClr val="17283D"/>
                          </a:solidFill>
                          <a:latin typeface="Helvetica Neue"/>
                          <a:ea typeface="Helvetica Neue"/>
                          <a:cs typeface="Helvetica Neue"/>
                        </a:rPr>
                        <a:t>No detected test-oracle tampering.</a:t>
                      </a:r>
                    </a:p>
                  </a:txBody>
                  <a:tcPr marL="152400" marR="114300" marT="66675" marB="66675"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8892A315-DF05-4DBD-834B-72D4FE99CFB7}"/>
              </a:ext>
            </a:extLst>
          </p:cNvPr>
          <p:cNvSpPr>
            <a:spLocks xmlns:a="http://schemas.openxmlformats.org/drawingml/2006/main" noGrp="1"/>
          </p:cNvSpPr>
          <p:nvPr/>
        </p:nvSpPr>
        <p:spPr>
          <a:xfrm xmlns:a="http://schemas.openxmlformats.org/drawingml/2006/main">
            <a:off x="685800" y="56673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174"/>
                </a:solidFill>
                <a:latin typeface="Helvetica Neue"/>
                <a:ea typeface="Helvetica Neue"/>
                <a:cs typeface="Helvetica Neue"/>
              </a:defRPr>
            </a:pPr>
            <a:r>
              <a:rPr sz="1725" b="0">
                <a:solidFill>
                  <a:srgbClr val="516174"/>
                </a:solidFill>
                <a:latin typeface="Helvetica Neue"/>
                <a:ea typeface="Helvetica Neue"/>
                <a:cs typeface="Helvetica Neue"/>
              </a:rPr>
              <a:t>Kernel v2 also rejects protected setup-artifact tampering.</a:t>
            </a:r>
          </a:p>
        </p:txBody>
      </p:sp>
      <p:sp>
        <p:nvSpPr>
          <p:cNvPr id="6" name="text-4">
            <a:extLst xmlns:a="http://schemas.openxmlformats.org/drawingml/2006/main">
              <a:ext uri="{FF2B5EF4-FFF2-40B4-BE49-F238E27FC236}">
                <a16:creationId xmlns:a16="http://schemas.microsoft.com/office/drawing/2014/main" id="{B04D3090-68E9-491B-85B7-44BA3534D81E}"/>
              </a:ext>
            </a:extLst>
          </p:cNvPr>
          <p:cNvSpPr>
            <a:spLocks xmlns:a="http://schemas.openxmlformats.org/drawingml/2006/main" noGrp="1"/>
          </p:cNvSpPr>
          <p:nvPr/>
        </p:nvSpPr>
        <p:spPr>
          <a:xfrm xmlns:a="http://schemas.openxmlformats.org/drawingml/2006/main">
            <a:off x="685800" y="60769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468C9"/>
                </a:solidFill>
                <a:latin typeface="Helvetica Neue"/>
                <a:ea typeface="Helvetica Neue"/>
                <a:cs typeface="Helvetica Neue"/>
              </a:defRPr>
            </a:pPr>
            <a:r>
              <a:rPr sz="2025" b="1">
                <a:solidFill>
                  <a:srgbClr val="2468C9"/>
                </a:solidFill>
                <a:latin typeface="Helvetica Neue"/>
                <a:ea typeface="Helvetica Neue"/>
                <a:cs typeface="Helvetica Neue"/>
              </a:rPr>
              <a:t>An agent’s “done” message does not determine the score.</a:t>
            </a:r>
          </a:p>
        </p:txBody>
      </p:sp>
    </p:spTree>
    <p:extLst>
      <p:ext uri="{BB962C8B-B14F-4D97-AF65-F5344CB8AC3E}">
        <p14:creationId xmlns:p14="http://schemas.microsoft.com/office/powerpoint/2010/main" val="1740064852"/>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A73A89F6-94E6-41FD-A191-BC3C6C07AA5E}"/>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Model choice and execution budgets</a:t>
            </a:r>
          </a:p>
        </p:txBody>
      </p:sp>
      <p:sp>
        <p:nvSpPr>
          <p:cNvPr id="2" name="slide-number">
            <a:extLst xmlns:a="http://schemas.openxmlformats.org/drawingml/2006/main">
              <a:ext uri="{FF2B5EF4-FFF2-40B4-BE49-F238E27FC236}">
                <a16:creationId xmlns:a16="http://schemas.microsoft.com/office/drawing/2014/main" id="{9F990150-1AE1-41C4-9E24-22B75C27C5E2}"/>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09</a:t>
            </a:r>
          </a:p>
        </p:txBody>
      </p:sp>
      <p:sp>
        <p:nvSpPr>
          <p:cNvPr id="3" name="text-2">
            <a:extLst xmlns:a="http://schemas.openxmlformats.org/drawingml/2006/main">
              <a:ext uri="{FF2B5EF4-FFF2-40B4-BE49-F238E27FC236}">
                <a16:creationId xmlns:a16="http://schemas.microsoft.com/office/drawing/2014/main" id="{016D09BE-6280-456D-A564-685EA3A290DF}"/>
              </a:ext>
            </a:extLst>
          </p:cNvPr>
          <p:cNvSpPr>
            <a:spLocks xmlns:a="http://schemas.openxmlformats.org/drawingml/2006/main" noGrp="1"/>
          </p:cNvSpPr>
          <p:nvPr/>
        </p:nvSpPr>
        <p:spPr>
          <a:xfrm xmlns:a="http://schemas.openxmlformats.org/drawingml/2006/main">
            <a:off x="685800" y="159067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468C9"/>
                </a:solidFill>
                <a:latin typeface="Helvetica Neue"/>
                <a:ea typeface="Helvetica Neue"/>
                <a:cs typeface="Helvetica Neue"/>
              </a:defRPr>
            </a:pPr>
            <a:r>
              <a:rPr sz="2625" b="1">
                <a:solidFill>
                  <a:srgbClr val="2468C9"/>
                </a:solidFill>
                <a:latin typeface="Helvetica Neue"/>
                <a:ea typeface="Helvetica Neue"/>
                <a:cs typeface="Helvetica Neue"/>
              </a:rPr>
              <a:t>Primary model: GLM-5.2 through OpenRouter</a:t>
            </a:r>
          </a:p>
        </p:txBody>
      </p:sp>
      <p:graphicFrame>
        <p:nvGraphicFramePr>
          <p:cNvPr id="11" name=""/>
          <p:cNvGraphicFramePr/>
          <p:nvPr/>
        </p:nvGraphicFramePr>
        <p:xfrm>
          <a:off xmlns:a="http://schemas.openxmlformats.org/drawingml/2006/main" x="685800" y="2428875"/>
          <a:ext xmlns:a="http://schemas.openxmlformats.org/drawingml/2006/main" cx="10820400" cy="2686050"/>
        </p:xfrm>
        <a:graphic xmlns:a="http://schemas.openxmlformats.org/drawingml/2006/main">
          <a:graphicData uri="http://schemas.openxmlformats.org/drawingml/2006/table">
            <a:tbl>
              <a:tblPr firstRow="0" bandRow="0"/>
              <a:tblGrid>
                <a:gridCol w="5867400"/>
                <a:gridCol w="2476500"/>
                <a:gridCol w="2476500"/>
              </a:tblGrid>
              <a:tr h="628650">
                <a:tc>
                  <a:txBody>
                    <a:bodyPr>
                      <a:noAutofit/>
                    </a:bodyPr>
                    <a:lstStyle/>
                    <a:p>
                      <a:pPr algn="l"/>
                      <a:r>
                        <a:rPr sz="1800" b="1">
                          <a:solidFill>
                            <a:srgbClr val="FFFFFF"/>
                          </a:solidFill>
                          <a:latin typeface="Helvetica Neue"/>
                          <a:ea typeface="Helvetica Neue"/>
                          <a:cs typeface="Helvetica Neue"/>
                        </a:rPr>
                        <a:t>Block</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Multi-agent</a:t>
                      </a:r>
                    </a:p>
                  </a:txBody>
                  <a:tcPr marL="152400" marR="114300" marT="123825" marB="114300" anchor="ctr">
                    <a:solidFill>
                      <a:srgbClr val="17283D"/>
                    </a:solidFill>
                  </a:tcPr>
                </a:tc>
              </a:tr>
              <a:tr h="647700">
                <a:tc>
                  <a:txBody>
                    <a:bodyPr>
                      <a:noAutofit/>
                    </a:bodyPr>
                    <a:lstStyle/>
                    <a:p>
                      <a:pPr algn="l"/>
                      <a:r>
                        <a:rPr sz="1875" b="0">
                          <a:solidFill>
                            <a:srgbClr val="17283D"/>
                          </a:solidFill>
                          <a:latin typeface="Helvetica Neue"/>
                          <a:ea typeface="Helvetica Neue"/>
                          <a:cs typeface="Helvetica Neue"/>
                        </a:rPr>
                        <a:t>Core small</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FFFFFF"/>
                    </a:solidFill>
                  </a:tcPr>
                </a:tc>
              </a:tr>
              <a:tr h="647700">
                <a:tc>
                  <a:txBody>
                    <a:bodyPr>
                      <a:noAutofit/>
                    </a:bodyPr>
                    <a:lstStyle/>
                    <a:p>
                      <a:pPr algn="l"/>
                      <a:r>
                        <a:rPr sz="1875" b="0">
                          <a:solidFill>
                            <a:srgbClr val="17283D"/>
                          </a:solidFill>
                          <a:latin typeface="Helvetica Neue"/>
                          <a:ea typeface="Helvetica Neue"/>
                          <a:cs typeface="Helvetica Neue"/>
                        </a:rPr>
                        <a:t>Core medium</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75 steps</a:t>
                      </a:r>
                    </a:p>
                  </a:txBody>
                  <a:tcPr marL="152400" marR="114300" marT="123825" marB="114300" anchor="ctr">
                    <a:solidFill>
                      <a:srgbClr val="EFF2F6"/>
                    </a:solidFill>
                  </a:tcPr>
                </a:tc>
              </a:tr>
              <a:tr h="647700">
                <a:tc>
                  <a:txBody>
                    <a:bodyPr>
                      <a:noAutofit/>
                    </a:bodyPr>
                    <a:lstStyle/>
                    <a:p>
                      <a:pPr algn="l"/>
                      <a:r>
                        <a:rPr sz="1875" b="0">
                          <a:solidFill>
                            <a:srgbClr val="17283D"/>
                          </a:solidFill>
                          <a:latin typeface="Helvetica Neue"/>
                          <a:ea typeface="Helvetica Neue"/>
                          <a:cs typeface="Helvetica Neue"/>
                        </a:rPr>
                        <a:t>SWE Pro subset</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50 steps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75 steps</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50924539-466A-4121-8CB4-288F9CDBD014}"/>
              </a:ext>
            </a:extLst>
          </p:cNvPr>
          <p:cNvSpPr>
            <a:spLocks xmlns:a="http://schemas.openxmlformats.org/drawingml/2006/main" noGrp="1"/>
          </p:cNvSpPr>
          <p:nvPr/>
        </p:nvSpPr>
        <p:spPr>
          <a:xfrm xmlns:a="http://schemas.openxmlformats.org/drawingml/2006/main">
            <a:off x="685800" y="5191125"/>
            <a:ext cx="1071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SWE Pro initial output limit: single 16,384 tokens, graph 4,096.</a:t>
            </a:r>
          </a:p>
        </p:txBody>
      </p:sp>
      <p:sp>
        <p:nvSpPr>
          <p:cNvPr id="6" name="text-4">
            <a:extLst xmlns:a="http://schemas.openxmlformats.org/drawingml/2006/main">
              <a:ext uri="{FF2B5EF4-FFF2-40B4-BE49-F238E27FC236}">
                <a16:creationId xmlns:a16="http://schemas.microsoft.com/office/drawing/2014/main" id="{6725EBCC-F538-4DD3-A4AC-80A1CA8EEE0B}"/>
              </a:ext>
            </a:extLst>
          </p:cNvPr>
          <p:cNvSpPr>
            <a:spLocks xmlns:a="http://schemas.openxmlformats.org/drawingml/2006/main" noGrp="1"/>
          </p:cNvSpPr>
          <p:nvPr/>
        </p:nvSpPr>
        <p:spPr>
          <a:xfrm xmlns:a="http://schemas.openxmlformats.org/drawingml/2006/main">
            <a:off x="685800" y="5619750"/>
            <a:ext cx="1071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83D"/>
                </a:solidFill>
                <a:latin typeface="Helvetica Neue"/>
                <a:ea typeface="Helvetica Neue"/>
                <a:cs typeface="Helvetica Neue"/>
              </a:defRPr>
            </a:pPr>
            <a:r>
              <a:rPr sz="2025" b="1">
                <a:solidFill>
                  <a:srgbClr val="17283D"/>
                </a:solidFill>
                <a:latin typeface="Helvetica Neue"/>
                <a:ea typeface="Helvetica Neue"/>
                <a:cs typeface="Helvetica Neue"/>
              </a:rPr>
              <a:t>Local pilot: slow execution and insufficient solution quality</a:t>
            </a:r>
          </a:p>
        </p:txBody>
      </p:sp>
      <p:sp>
        <p:nvSpPr>
          <p:cNvPr id="7" name="text-5">
            <a:extLst xmlns:a="http://schemas.openxmlformats.org/drawingml/2006/main">
              <a:ext uri="{FF2B5EF4-FFF2-40B4-BE49-F238E27FC236}">
                <a16:creationId xmlns:a16="http://schemas.microsoft.com/office/drawing/2014/main" id="{79B14045-D75D-436E-81E1-9D966102516E}"/>
              </a:ext>
            </a:extLst>
          </p:cNvPr>
          <p:cNvSpPr>
            <a:spLocks xmlns:a="http://schemas.openxmlformats.org/drawingml/2006/main" noGrp="1"/>
          </p:cNvSpPr>
          <p:nvPr/>
        </p:nvSpPr>
        <p:spPr>
          <a:xfrm xmlns:a="http://schemas.openxmlformats.org/drawingml/2006/main">
            <a:off x="685800" y="607695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16174"/>
                </a:solidFill>
                <a:latin typeface="Helvetica Neue"/>
                <a:ea typeface="Helvetica Neue"/>
                <a:cs typeface="Helvetica Neue"/>
              </a:defRPr>
            </a:pPr>
            <a:r>
              <a:rPr sz="1500" b="0">
                <a:solidFill>
                  <a:srgbClr val="516174"/>
                </a:solidFill>
                <a:latin typeface="Helvetica Neue"/>
                <a:ea typeface="Helvetica Neue"/>
                <a:cs typeface="Helvetica Neue"/>
              </a:rPr>
              <a:t>Author-reported feasibility observation. No quantified pilot results in the saved artifacts.</a:t>
            </a:r>
          </a:p>
        </p:txBody>
      </p:sp>
    </p:spTree>
    <p:extLst>
      <p:ext uri="{BB962C8B-B14F-4D97-AF65-F5344CB8AC3E}">
        <p14:creationId xmlns:p14="http://schemas.microsoft.com/office/powerpoint/2010/main" val="1589436935"/>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9C1EADD-5695-4629-94F8-41DF53200CEA}"/>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Model configurations and temperature</a:t>
            </a:r>
          </a:p>
        </p:txBody>
      </p:sp>
      <p:sp>
        <p:nvSpPr>
          <p:cNvPr id="2" name="slide-number">
            <a:extLst xmlns:a="http://schemas.openxmlformats.org/drawingml/2006/main">
              <a:ext uri="{FF2B5EF4-FFF2-40B4-BE49-F238E27FC236}">
                <a16:creationId xmlns:a16="http://schemas.microsoft.com/office/drawing/2014/main" id="{CBB12F55-B44C-4B5D-AF92-C8011C6EB26C}"/>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10</a:t>
            </a:r>
          </a:p>
        </p:txBody>
      </p:sp>
      <p:sp>
        <p:nvSpPr>
          <p:cNvPr id="3" name="text-2">
            <a:extLst xmlns:a="http://schemas.openxmlformats.org/drawingml/2006/main">
              <a:ext uri="{FF2B5EF4-FFF2-40B4-BE49-F238E27FC236}">
                <a16:creationId xmlns:a16="http://schemas.microsoft.com/office/drawing/2014/main" id="{0393E89C-1F5D-41A9-81A0-AF8FE50E0AD0}"/>
              </a:ext>
            </a:extLst>
          </p:cNvPr>
          <p:cNvSpPr>
            <a:spLocks xmlns:a="http://schemas.openxmlformats.org/drawingml/2006/main" noGrp="1"/>
          </p:cNvSpPr>
          <p:nvPr/>
        </p:nvSpPr>
        <p:spPr>
          <a:xfrm xmlns:a="http://schemas.openxmlformats.org/drawingml/2006/main">
            <a:off x="685800" y="15049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468C9"/>
                </a:solidFill>
                <a:latin typeface="Helvetica Neue"/>
                <a:ea typeface="Helvetica Neue"/>
                <a:cs typeface="Helvetica Neue"/>
              </a:defRPr>
            </a:pPr>
            <a:r>
              <a:rPr sz="2025" b="1">
                <a:solidFill>
                  <a:srgbClr val="2468C9"/>
                </a:solidFill>
                <a:latin typeface="Helvetica Neue"/>
                <a:ea typeface="Helvetica Neue"/>
                <a:cs typeface="Helvetica Neue"/>
              </a:rPr>
              <a:t>Recorded settings for the comparisons shown in this presentation</a:t>
            </a:r>
          </a:p>
        </p:txBody>
      </p:sp>
      <p:graphicFrame>
        <p:nvGraphicFramePr>
          <p:cNvPr id="10" name=""/>
          <p:cNvGraphicFramePr/>
          <p:nvPr/>
        </p:nvGraphicFramePr>
        <p:xfrm>
          <a:off xmlns:a="http://schemas.openxmlformats.org/drawingml/2006/main" x="685800" y="2085975"/>
          <a:ext xmlns:a="http://schemas.openxmlformats.org/drawingml/2006/main" cx="10820400" cy="3238500"/>
        </p:xfrm>
        <a:graphic xmlns:a="http://schemas.openxmlformats.org/drawingml/2006/main">
          <a:graphicData uri="http://schemas.openxmlformats.org/drawingml/2006/table">
            <a:tbl>
              <a:tblPr firstRow="0" bandRow="0"/>
              <a:tblGrid>
                <a:gridCol w="2667000"/>
                <a:gridCol w="3714750"/>
                <a:gridCol w="1962150"/>
                <a:gridCol w="2476500"/>
              </a:tblGrid>
              <a:tr h="533400">
                <a:tc>
                  <a:txBody>
                    <a:bodyPr>
                      <a:noAutofit/>
                    </a:bodyPr>
                    <a:lstStyle/>
                    <a:p>
                      <a:pPr algn="l"/>
                      <a:r>
                        <a:rPr sz="1800" b="1">
                          <a:solidFill>
                            <a:srgbClr val="FFFFFF"/>
                          </a:solidFill>
                          <a:latin typeface="Helvetica Neue"/>
                          <a:ea typeface="Helvetica Neue"/>
                          <a:cs typeface="Helvetica Neue"/>
                        </a:rPr>
                        <a:t>Study block</a:t>
                      </a:r>
                    </a:p>
                  </a:txBody>
                  <a:tcPr marL="152400" marR="114300" marT="66675" marB="66675" anchor="ctr">
                    <a:solidFill>
                      <a:srgbClr val="17283D"/>
                    </a:solidFill>
                  </a:tcPr>
                </a:tc>
                <a:tc>
                  <a:txBody>
                    <a:bodyPr>
                      <a:noAutofit/>
                    </a:bodyPr>
                    <a:lstStyle/>
                    <a:p>
                      <a:pPr algn="l"/>
                      <a:r>
                        <a:rPr sz="1800" b="1">
                          <a:solidFill>
                            <a:srgbClr val="FFFFFF"/>
                          </a:solidFill>
                          <a:latin typeface="Helvetica Neue"/>
                          <a:ea typeface="Helvetica Neue"/>
                          <a:cs typeface="Helvetica Neue"/>
                        </a:rPr>
                        <a:t>Model</a:t>
                      </a:r>
                    </a:p>
                  </a:txBody>
                  <a:tcPr marL="152400" marR="114300" marT="66675" marB="66675" anchor="ctr">
                    <a:solidFill>
                      <a:srgbClr val="17283D"/>
                    </a:solidFill>
                  </a:tcPr>
                </a:tc>
                <a:tc>
                  <a:txBody>
                    <a:bodyPr>
                      <a:noAutofit/>
                    </a:bodyPr>
                    <a:lstStyle/>
                    <a:p>
                      <a:pPr algn="l"/>
                      <a:r>
                        <a:rPr sz="1800" b="1">
                          <a:solidFill>
                            <a:srgbClr val="FFFFFF"/>
                          </a:solidFill>
                          <a:latin typeface="Helvetica Neue"/>
                          <a:ea typeface="Helvetica Neue"/>
                          <a:cs typeface="Helvetica Neue"/>
                        </a:rPr>
                        <a:t>Temperature</a:t>
                      </a:r>
                    </a:p>
                  </a:txBody>
                  <a:tcPr marL="152400" marR="114300" marT="66675" marB="66675" anchor="ctr">
                    <a:solidFill>
                      <a:srgbClr val="17283D"/>
                    </a:solidFill>
                  </a:tcPr>
                </a:tc>
                <a:tc>
                  <a:txBody>
                    <a:bodyPr>
                      <a:noAutofit/>
                    </a:bodyPr>
                    <a:lstStyle/>
                    <a:p>
                      <a:pPr algn="l"/>
                      <a:r>
                        <a:rPr sz="1800" b="1">
                          <a:solidFill>
                            <a:srgbClr val="FFFFFF"/>
                          </a:solidFill>
                          <a:latin typeface="Helvetica Neue"/>
                          <a:ea typeface="Helvetica Neue"/>
                          <a:cs typeface="Helvetica Neue"/>
                        </a:rPr>
                        <a:t>Reasoning effort</a:t>
                      </a:r>
                    </a:p>
                  </a:txBody>
                  <a:tcPr marL="152400" marR="114300" marT="66675" marB="66675" anchor="ctr">
                    <a:solidFill>
                      <a:srgbClr val="17283D"/>
                    </a:solidFill>
                  </a:tcPr>
                </a:tc>
              </a:tr>
              <a:tr h="676275">
                <a:tc>
                  <a:txBody>
                    <a:bodyPr>
                      <a:noAutofit/>
                    </a:bodyPr>
                    <a:lstStyle/>
                    <a:p>
                      <a:pPr algn="l"/>
                      <a:r>
                        <a:rPr sz="1875" b="0">
                          <a:solidFill>
                            <a:srgbClr val="17283D"/>
                          </a:solidFill>
                          <a:latin typeface="Helvetica Neue"/>
                          <a:ea typeface="Helvetica Neue"/>
                          <a:cs typeface="Helvetica Neue"/>
                        </a:rPr>
                        <a:t>Master</a:t>
                      </a:r>
                    </a:p>
                  </a:txBody>
                  <a:tcPr marL="152400" marR="114300" marT="66675" marB="66675" anchor="ctr">
                    <a:solidFill>
                      <a:srgbClr val="FFFFFF"/>
                    </a:solidFill>
                  </a:tcPr>
                </a:tc>
                <a:tc>
                  <a:txBody>
                    <a:bodyPr>
                      <a:noAutofit/>
                    </a:bodyPr>
                    <a:lstStyle/>
                    <a:p>
                      <a:pPr algn="l"/>
                      <a:r>
                        <a:rPr sz="1875" b="0">
                          <a:solidFill>
                            <a:srgbClr val="17283D"/>
                          </a:solidFill>
                          <a:latin typeface="Helvetica Neue"/>
                          <a:ea typeface="Helvetica Neue"/>
                          <a:cs typeface="Helvetica Neue"/>
                        </a:rPr>
                        <a:t>GLM-5.2</a:t>
                      </a:r>
                    </a:p>
                  </a:txBody>
                  <a:tcPr marL="152400" marR="114300" marT="66675" marB="66675" anchor="ctr">
                    <a:solidFill>
                      <a:srgbClr val="FFFFFF"/>
                    </a:solidFill>
                  </a:tcPr>
                </a:tc>
                <a:tc>
                  <a:txBody>
                    <a:bodyPr>
                      <a:noAutofit/>
                    </a:bodyPr>
                    <a:lstStyle/>
                    <a:p>
                      <a:pPr algn="l"/>
                      <a:r>
                        <a:rPr sz="1875" b="0">
                          <a:solidFill>
                            <a:srgbClr val="17283D"/>
                          </a:solidFill>
                          <a:latin typeface="Helvetica Neue"/>
                          <a:ea typeface="Helvetica Neue"/>
                          <a:cs typeface="Helvetica Neue"/>
                        </a:rPr>
                        <a:t>0.0</a:t>
                      </a:r>
                    </a:p>
                  </a:txBody>
                  <a:tcPr marL="152400" marR="114300" marT="66675" marB="66675" anchor="ctr">
                    <a:solidFill>
                      <a:srgbClr val="FFFFFF"/>
                    </a:solidFill>
                  </a:tcPr>
                </a:tc>
                <a:tc>
                  <a:txBody>
                    <a:bodyPr>
                      <a:noAutofit/>
                    </a:bodyPr>
                    <a:lstStyle/>
                    <a:p>
                      <a:pPr algn="l"/>
                      <a:r>
                        <a:rPr sz="1875" b="0">
                          <a:solidFill>
                            <a:srgbClr val="17283D"/>
                          </a:solidFill>
                          <a:latin typeface="Helvetica Neue"/>
                          <a:ea typeface="Helvetica Neue"/>
                          <a:cs typeface="Helvetica Neue"/>
                        </a:rPr>
                        <a:t>Unset</a:t>
                      </a:r>
                    </a:p>
                  </a:txBody>
                  <a:tcPr marL="152400" marR="114300" marT="66675" marB="66675" anchor="ctr">
                    <a:solidFill>
                      <a:srgbClr val="FFFFFF"/>
                    </a:solidFill>
                  </a:tcPr>
                </a:tc>
              </a:tr>
              <a:tr h="676275">
                <a:tc>
                  <a:txBody>
                    <a:bodyPr>
                      <a:noAutofit/>
                    </a:bodyPr>
                    <a:lstStyle/>
                    <a:p>
                      <a:pPr algn="l"/>
                      <a:r>
                        <a:rPr sz="1875" b="0">
                          <a:solidFill>
                            <a:srgbClr val="17283D"/>
                          </a:solidFill>
                          <a:latin typeface="Helvetica Neue"/>
                          <a:ea typeface="Helvetica Neue"/>
                          <a:cs typeface="Helvetica Neue"/>
                        </a:rPr>
                        <a:t>Kernel v2</a:t>
                      </a:r>
                    </a:p>
                  </a:txBody>
                  <a:tcPr marL="152400" marR="114300" marT="66675" marB="66675" anchor="ctr">
                    <a:solidFill>
                      <a:srgbClr val="EFF2F6"/>
                    </a:solidFill>
                  </a:tcPr>
                </a:tc>
                <a:tc>
                  <a:txBody>
                    <a:bodyPr>
                      <a:noAutofit/>
                    </a:bodyPr>
                    <a:lstStyle/>
                    <a:p>
                      <a:pPr algn="l"/>
                      <a:r>
                        <a:rPr sz="1875" b="0">
                          <a:solidFill>
                            <a:srgbClr val="17283D"/>
                          </a:solidFill>
                          <a:latin typeface="Helvetica Neue"/>
                          <a:ea typeface="Helvetica Neue"/>
                          <a:cs typeface="Helvetica Neue"/>
                        </a:rPr>
                        <a:t>GLM-5.2</a:t>
                      </a:r>
                    </a:p>
                  </a:txBody>
                  <a:tcPr marL="152400" marR="114300" marT="66675" marB="66675" anchor="ctr">
                    <a:solidFill>
                      <a:srgbClr val="EFF2F6"/>
                    </a:solidFill>
                  </a:tcPr>
                </a:tc>
                <a:tc>
                  <a:txBody>
                    <a:bodyPr>
                      <a:noAutofit/>
                    </a:bodyPr>
                    <a:lstStyle/>
                    <a:p>
                      <a:pPr algn="l"/>
                      <a:r>
                        <a:rPr sz="1875" b="0">
                          <a:solidFill>
                            <a:srgbClr val="17283D"/>
                          </a:solidFill>
                          <a:latin typeface="Helvetica Neue"/>
                          <a:ea typeface="Helvetica Neue"/>
                          <a:cs typeface="Helvetica Neue"/>
                        </a:rPr>
                        <a:t>0.0</a:t>
                      </a:r>
                    </a:p>
                  </a:txBody>
                  <a:tcPr marL="152400" marR="114300" marT="66675" marB="66675" anchor="ctr">
                    <a:solidFill>
                      <a:srgbClr val="EFF2F6"/>
                    </a:solidFill>
                  </a:tcPr>
                </a:tc>
                <a:tc>
                  <a:txBody>
                    <a:bodyPr>
                      <a:noAutofit/>
                    </a:bodyPr>
                    <a:lstStyle/>
                    <a:p>
                      <a:pPr algn="l"/>
                      <a:r>
                        <a:rPr sz="1875" b="0">
                          <a:solidFill>
                            <a:srgbClr val="17283D"/>
                          </a:solidFill>
                          <a:latin typeface="Helvetica Neue"/>
                          <a:ea typeface="Helvetica Neue"/>
                          <a:cs typeface="Helvetica Neue"/>
                        </a:rPr>
                        <a:t>High</a:t>
                      </a:r>
                    </a:p>
                  </a:txBody>
                  <a:tcPr marL="152400" marR="114300" marT="66675" marB="66675" anchor="ctr">
                    <a:solidFill>
                      <a:srgbClr val="EFF2F6"/>
                    </a:solidFill>
                  </a:tcPr>
                </a:tc>
              </a:tr>
              <a:tr h="676275">
                <a:tc>
                  <a:txBody>
                    <a:bodyPr>
                      <a:noAutofit/>
                    </a:bodyPr>
                    <a:lstStyle/>
                    <a:p>
                      <a:pPr algn="l"/>
                      <a:r>
                        <a:rPr sz="1875" b="0">
                          <a:solidFill>
                            <a:srgbClr val="17283D"/>
                          </a:solidFill>
                          <a:latin typeface="Helvetica Neue"/>
                          <a:ea typeface="Helvetica Neue"/>
                          <a:cs typeface="Helvetica Neue"/>
                        </a:rPr>
                        <a:t>Kernel v2 + repeats</a:t>
                      </a:r>
                    </a:p>
                  </a:txBody>
                  <a:tcPr marL="152400" marR="114300" marT="66675" marB="66675" anchor="ctr">
                    <a:solidFill>
                      <a:srgbClr val="FFFFFF"/>
                    </a:solidFill>
                  </a:tcPr>
                </a:tc>
                <a:tc>
                  <a:txBody>
                    <a:bodyPr>
                      <a:noAutofit/>
                    </a:bodyPr>
                    <a:lstStyle/>
                    <a:p>
                      <a:pPr algn="l"/>
                      <a:r>
                        <a:rPr sz="1875" b="0">
                          <a:solidFill>
                            <a:srgbClr val="17283D"/>
                          </a:solidFill>
                          <a:latin typeface="Helvetica Neue"/>
                          <a:ea typeface="Helvetica Neue"/>
                          <a:cs typeface="Helvetica Neue"/>
                        </a:rPr>
                        <a:t>DeepSeek V4 Flash</a:t>
                      </a:r>
                    </a:p>
                  </a:txBody>
                  <a:tcPr marL="152400" marR="114300" marT="66675" marB="66675" anchor="ctr">
                    <a:solidFill>
                      <a:srgbClr val="FFFFFF"/>
                    </a:solidFill>
                  </a:tcPr>
                </a:tc>
                <a:tc>
                  <a:txBody>
                    <a:bodyPr>
                      <a:noAutofit/>
                    </a:bodyPr>
                    <a:lstStyle/>
                    <a:p>
                      <a:pPr algn="l"/>
                      <a:r>
                        <a:rPr sz="1875" b="0">
                          <a:solidFill>
                            <a:srgbClr val="17283D"/>
                          </a:solidFill>
                          <a:latin typeface="Helvetica Neue"/>
                          <a:ea typeface="Helvetica Neue"/>
                          <a:cs typeface="Helvetica Neue"/>
                        </a:rPr>
                        <a:t>0.0</a:t>
                      </a:r>
                    </a:p>
                  </a:txBody>
                  <a:tcPr marL="152400" marR="114300" marT="66675" marB="66675" anchor="ctr">
                    <a:solidFill>
                      <a:srgbClr val="FFFFFF"/>
                    </a:solidFill>
                  </a:tcPr>
                </a:tc>
                <a:tc>
                  <a:txBody>
                    <a:bodyPr>
                      <a:noAutofit/>
                    </a:bodyPr>
                    <a:lstStyle/>
                    <a:p>
                      <a:pPr algn="l"/>
                      <a:r>
                        <a:rPr sz="1875" b="0">
                          <a:solidFill>
                            <a:srgbClr val="17283D"/>
                          </a:solidFill>
                          <a:latin typeface="Helvetica Neue"/>
                          <a:ea typeface="Helvetica Neue"/>
                          <a:cs typeface="Helvetica Neue"/>
                        </a:rPr>
                        <a:t>Low</a:t>
                      </a:r>
                    </a:p>
                  </a:txBody>
                  <a:tcPr marL="152400" marR="114300" marT="66675" marB="66675" anchor="ctr">
                    <a:solidFill>
                      <a:srgbClr val="FFFFFF"/>
                    </a:solidFill>
                  </a:tcPr>
                </a:tc>
              </a:tr>
              <a:tr h="676275">
                <a:tc>
                  <a:txBody>
                    <a:bodyPr>
                      <a:noAutofit/>
                    </a:bodyPr>
                    <a:lstStyle/>
                    <a:p>
                      <a:pPr algn="l"/>
                      <a:r>
                        <a:rPr sz="1875" b="0">
                          <a:solidFill>
                            <a:srgbClr val="17283D"/>
                          </a:solidFill>
                          <a:latin typeface="Helvetica Neue"/>
                          <a:ea typeface="Helvetica Neue"/>
                          <a:cs typeface="Helvetica Neue"/>
                        </a:rPr>
                        <a:t>Kernel v2</a:t>
                      </a:r>
                    </a:p>
                  </a:txBody>
                  <a:tcPr marL="152400" marR="114300" marT="66675" marB="66675" anchor="ctr">
                    <a:solidFill>
                      <a:srgbClr val="EFF2F6"/>
                    </a:solidFill>
                  </a:tcPr>
                </a:tc>
                <a:tc>
                  <a:txBody>
                    <a:bodyPr>
                      <a:noAutofit/>
                    </a:bodyPr>
                    <a:lstStyle/>
                    <a:p>
                      <a:pPr algn="l"/>
                      <a:r>
                        <a:rPr sz="1875" b="0">
                          <a:solidFill>
                            <a:srgbClr val="17283D"/>
                          </a:solidFill>
                          <a:latin typeface="Helvetica Neue"/>
                          <a:ea typeface="Helvetica Neue"/>
                          <a:cs typeface="Helvetica Neue"/>
                        </a:rPr>
                        <a:t>GPT-5.1 Codex Mini</a:t>
                      </a:r>
                    </a:p>
                  </a:txBody>
                  <a:tcPr marL="152400" marR="114300" marT="66675" marB="66675" anchor="ctr">
                    <a:solidFill>
                      <a:srgbClr val="EFF2F6"/>
                    </a:solidFill>
                  </a:tcPr>
                </a:tc>
                <a:tc>
                  <a:txBody>
                    <a:bodyPr>
                      <a:noAutofit/>
                    </a:bodyPr>
                    <a:lstStyle/>
                    <a:p>
                      <a:pPr algn="l"/>
                      <a:r>
                        <a:rPr sz="1875" b="0">
                          <a:solidFill>
                            <a:srgbClr val="17283D"/>
                          </a:solidFill>
                          <a:latin typeface="Helvetica Neue"/>
                          <a:ea typeface="Helvetica Neue"/>
                          <a:cs typeface="Helvetica Neue"/>
                        </a:rPr>
                        <a:t>0.0</a:t>
                      </a:r>
                    </a:p>
                  </a:txBody>
                  <a:tcPr marL="152400" marR="114300" marT="66675" marB="66675" anchor="ctr">
                    <a:solidFill>
                      <a:srgbClr val="EFF2F6"/>
                    </a:solidFill>
                  </a:tcPr>
                </a:tc>
                <a:tc>
                  <a:txBody>
                    <a:bodyPr>
                      <a:noAutofit/>
                    </a:bodyPr>
                    <a:lstStyle/>
                    <a:p>
                      <a:pPr algn="l"/>
                      <a:r>
                        <a:rPr sz="1875" b="0">
                          <a:solidFill>
                            <a:srgbClr val="17283D"/>
                          </a:solidFill>
                          <a:latin typeface="Helvetica Neue"/>
                          <a:ea typeface="Helvetica Neue"/>
                          <a:cs typeface="Helvetica Neue"/>
                        </a:rPr>
                        <a:t>Unset</a:t>
                      </a:r>
                    </a:p>
                  </a:txBody>
                  <a:tcPr marL="152400" marR="114300" marT="66675" marB="66675"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53CD6FA9-0CB5-435C-9252-497BBE306F88}"/>
              </a:ext>
            </a:extLst>
          </p:cNvPr>
          <p:cNvSpPr>
            <a:spLocks xmlns:a="http://schemas.openxmlformats.org/drawingml/2006/main" noGrp="1"/>
          </p:cNvSpPr>
          <p:nvPr/>
        </p:nvSpPr>
        <p:spPr>
          <a:xfrm xmlns:a="http://schemas.openxmlformats.org/drawingml/2006/main">
            <a:off x="685800" y="55435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174"/>
                </a:solidFill>
                <a:latin typeface="Helvetica Neue"/>
                <a:ea typeface="Helvetica Neue"/>
                <a:cs typeface="Helvetica Neue"/>
              </a:defRPr>
            </a:pPr>
            <a:r>
              <a:rPr sz="1725" b="0">
                <a:solidFill>
                  <a:srgbClr val="516174"/>
                </a:solidFill>
                <a:latin typeface="Helvetica Neue"/>
                <a:ea typeface="Helvetica Neue"/>
                <a:cs typeface="Helvetica Neue"/>
              </a:rPr>
              <a:t>Unset = no reasoning-effort override; reasoning is not necessarily disabled.</a:t>
            </a:r>
          </a:p>
        </p:txBody>
      </p:sp>
      <p:sp>
        <p:nvSpPr>
          <p:cNvPr id="6" name="text-4">
            <a:extLst xmlns:a="http://schemas.openxmlformats.org/drawingml/2006/main">
              <a:ext uri="{FF2B5EF4-FFF2-40B4-BE49-F238E27FC236}">
                <a16:creationId xmlns:a16="http://schemas.microsoft.com/office/drawing/2014/main" id="{9554669F-03EC-46D5-83A0-C5876957E9F0}"/>
              </a:ext>
            </a:extLst>
          </p:cNvPr>
          <p:cNvSpPr>
            <a:spLocks xmlns:a="http://schemas.openxmlformats.org/drawingml/2006/main" noGrp="1"/>
          </p:cNvSpPr>
          <p:nvPr/>
        </p:nvSpPr>
        <p:spPr>
          <a:xfrm xmlns:a="http://schemas.openxmlformats.org/drawingml/2006/main">
            <a:off x="685800" y="59817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468C9"/>
                </a:solidFill>
                <a:latin typeface="Helvetica Neue"/>
                <a:ea typeface="Helvetica Neue"/>
                <a:cs typeface="Helvetica Neue"/>
              </a:defRPr>
            </a:pPr>
            <a:r>
              <a:rPr sz="2175" b="1">
                <a:solidFill>
                  <a:srgbClr val="2468C9"/>
                </a:solidFill>
                <a:latin typeface="Helvetica Neue"/>
                <a:ea typeface="Helvetica Neue"/>
                <a:cs typeface="Helvetica Neue"/>
              </a:rPr>
              <a:t>Temperature 0.0 does not guarantee identical runs.</a:t>
            </a:r>
          </a:p>
        </p:txBody>
      </p:sp>
    </p:spTree>
    <p:extLst>
      <p:ext uri="{BB962C8B-B14F-4D97-AF65-F5344CB8AC3E}">
        <p14:creationId xmlns:p14="http://schemas.microsoft.com/office/powerpoint/2010/main" val="934965276"/>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897CDB2F-0EDD-4937-A998-99B86DFD7CD2}"/>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Success rates by benchmark block</a:t>
            </a:r>
          </a:p>
        </p:txBody>
      </p:sp>
      <p:sp>
        <p:nvSpPr>
          <p:cNvPr id="2" name="slide-number">
            <a:extLst xmlns:a="http://schemas.openxmlformats.org/drawingml/2006/main">
              <a:ext uri="{FF2B5EF4-FFF2-40B4-BE49-F238E27FC236}">
                <a16:creationId xmlns:a16="http://schemas.microsoft.com/office/drawing/2014/main" id="{5E17BC77-2814-47F6-9848-38C7B8AB0CCB}"/>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11</a:t>
            </a:r>
          </a:p>
        </p:txBody>
      </p:sp>
      <p:sp>
        <p:nvSpPr>
          <p:cNvPr id="3" name="text-2">
            <a:extLst xmlns:a="http://schemas.openxmlformats.org/drawingml/2006/main">
              <a:ext uri="{FF2B5EF4-FFF2-40B4-BE49-F238E27FC236}">
                <a16:creationId xmlns:a16="http://schemas.microsoft.com/office/drawing/2014/main" id="{C8600B36-4450-4D5D-8795-2DF202E4D318}"/>
              </a:ext>
            </a:extLst>
          </p:cNvPr>
          <p:cNvSpPr>
            <a:spLocks xmlns:a="http://schemas.openxmlformats.org/drawingml/2006/main" noGrp="1"/>
          </p:cNvSpPr>
          <p:nvPr/>
        </p:nvSpPr>
        <p:spPr>
          <a:xfrm xmlns:a="http://schemas.openxmlformats.org/drawingml/2006/main">
            <a:off x="685800" y="1552575"/>
            <a:ext cx="3448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Core small</a:t>
            </a:r>
          </a:p>
        </p:txBody>
      </p:sp>
      <p:sp>
        <p:nvSpPr>
          <p:cNvPr id="4" name="text-3">
            <a:extLst xmlns:a="http://schemas.openxmlformats.org/drawingml/2006/main">
              <a:ext uri="{FF2B5EF4-FFF2-40B4-BE49-F238E27FC236}">
                <a16:creationId xmlns:a16="http://schemas.microsoft.com/office/drawing/2014/main" id="{4AAE72AD-6E6D-4C3D-993F-460497F46BE7}"/>
              </a:ext>
            </a:extLst>
          </p:cNvPr>
          <p:cNvSpPr>
            <a:spLocks xmlns:a="http://schemas.openxmlformats.org/drawingml/2006/main" noGrp="1"/>
          </p:cNvSpPr>
          <p:nvPr/>
        </p:nvSpPr>
        <p:spPr>
          <a:xfrm xmlns:a="http://schemas.openxmlformats.org/drawingml/2006/main">
            <a:off x="4457700" y="1552575"/>
            <a:ext cx="3448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Core medium</a:t>
            </a:r>
          </a:p>
        </p:txBody>
      </p:sp>
      <p:sp>
        <p:nvSpPr>
          <p:cNvPr id="5" name="text-4">
            <a:extLst xmlns:a="http://schemas.openxmlformats.org/drawingml/2006/main">
              <a:ext uri="{FF2B5EF4-FFF2-40B4-BE49-F238E27FC236}">
                <a16:creationId xmlns:a16="http://schemas.microsoft.com/office/drawing/2014/main" id="{20A2D156-5D5C-426B-B71A-C41BFDCEBF75}"/>
              </a:ext>
            </a:extLst>
          </p:cNvPr>
          <p:cNvSpPr>
            <a:spLocks xmlns:a="http://schemas.openxmlformats.org/drawingml/2006/main" noGrp="1"/>
          </p:cNvSpPr>
          <p:nvPr/>
        </p:nvSpPr>
        <p:spPr>
          <a:xfrm xmlns:a="http://schemas.openxmlformats.org/drawingml/2006/main">
            <a:off x="8229600" y="1552575"/>
            <a:ext cx="3448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SWE Pro subset</a:t>
            </a:r>
          </a:p>
        </p:txBody>
      </p:sp>
      <p:graphicFrame>
        <p:nvGraphicFramePr>
          <p:cNvPr id="17" name="Chart"/>
          <p:cNvGraphicFramePr/>
          <p:nvPr/>
        </p:nvGraphicFramePr>
        <p:xfrm>
          <a:off xmlns:a="http://schemas.openxmlformats.org/drawingml/2006/main" x="514350" y="2105025"/>
          <a:ext xmlns:a="http://schemas.openxmlformats.org/drawingml/2006/main" cx="3600450" cy="3457575"/>
        </p:xfrm>
        <a:graphic xmlns:a="http://schemas.openxmlformats.org/drawingml/2006/main">
          <a:graphicData uri="http://schemas.openxmlformats.org/drawingml/2006/chart">
            <c:chart xmlns:r="http://schemas.openxmlformats.org/officeDocument/2006/relationships" xmlns:c="http://schemas.openxmlformats.org/drawingml/2006/chart" r:id="Rafc122d6b85d4cd2"/>
          </a:graphicData>
        </a:graphic>
      </p:graphicFrame>
      <p:graphicFrame>
        <p:nvGraphicFramePr>
          <p:cNvPr id="18" name="Chart"/>
          <p:cNvGraphicFramePr/>
          <p:nvPr/>
        </p:nvGraphicFramePr>
        <p:xfrm>
          <a:off xmlns:a="http://schemas.openxmlformats.org/drawingml/2006/main" x="4286250" y="2105025"/>
          <a:ext xmlns:a="http://schemas.openxmlformats.org/drawingml/2006/main" cx="3600450" cy="3457575"/>
        </p:xfrm>
        <a:graphic xmlns:a="http://schemas.openxmlformats.org/drawingml/2006/main">
          <a:graphicData uri="http://schemas.openxmlformats.org/drawingml/2006/chart">
            <c:chart xmlns:r="http://schemas.openxmlformats.org/officeDocument/2006/relationships" xmlns:c="http://schemas.openxmlformats.org/drawingml/2006/chart" r:id="Re2e84007f4ab47e5"/>
          </a:graphicData>
        </a:graphic>
      </p:graphicFrame>
      <p:graphicFrame>
        <p:nvGraphicFramePr>
          <p:cNvPr id="19" name="Chart"/>
          <p:cNvGraphicFramePr/>
          <p:nvPr/>
        </p:nvGraphicFramePr>
        <p:xfrm>
          <a:off xmlns:a="http://schemas.openxmlformats.org/drawingml/2006/main" x="8058150" y="2105025"/>
          <a:ext xmlns:a="http://schemas.openxmlformats.org/drawingml/2006/main" cx="3600450" cy="3457575"/>
        </p:xfrm>
        <a:graphic xmlns:a="http://schemas.openxmlformats.org/drawingml/2006/main">
          <a:graphicData uri="http://schemas.openxmlformats.org/drawingml/2006/chart">
            <c:chart xmlns:r="http://schemas.openxmlformats.org/officeDocument/2006/relationships" xmlns:c="http://schemas.openxmlformats.org/drawingml/2006/chart" r:id="R7286cd304de34186"/>
          </a:graphicData>
        </a:graphic>
      </p:graphicFrame>
      <p:sp>
        <p:nvSpPr>
          <p:cNvPr id="9" name="text-5">
            <a:extLst xmlns:a="http://schemas.openxmlformats.org/drawingml/2006/main">
              <a:ext uri="{FF2B5EF4-FFF2-40B4-BE49-F238E27FC236}">
                <a16:creationId xmlns:a16="http://schemas.microsoft.com/office/drawing/2014/main" id="{800A4147-1420-45F2-937B-3883AAAD6C46}"/>
              </a:ext>
            </a:extLst>
          </p:cNvPr>
          <p:cNvSpPr>
            <a:spLocks xmlns:a="http://schemas.openxmlformats.org/drawingml/2006/main" noGrp="1"/>
          </p:cNvSpPr>
          <p:nvPr/>
        </p:nvSpPr>
        <p:spPr>
          <a:xfrm xmlns:a="http://schemas.openxmlformats.org/drawingml/2006/main">
            <a:off x="685800" y="5772150"/>
            <a:ext cx="342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50 steps for all</a:t>
            </a:r>
          </a:p>
        </p:txBody>
      </p:sp>
      <p:sp>
        <p:nvSpPr>
          <p:cNvPr id="10" name="text-6">
            <a:extLst xmlns:a="http://schemas.openxmlformats.org/drawingml/2006/main">
              <a:ext uri="{FF2B5EF4-FFF2-40B4-BE49-F238E27FC236}">
                <a16:creationId xmlns:a16="http://schemas.microsoft.com/office/drawing/2014/main" id="{B0B008F8-85FE-4D92-ADE5-0F2102EBF1DB}"/>
              </a:ext>
            </a:extLst>
          </p:cNvPr>
          <p:cNvSpPr>
            <a:spLocks xmlns:a="http://schemas.openxmlformats.org/drawingml/2006/main" noGrp="1"/>
          </p:cNvSpPr>
          <p:nvPr/>
        </p:nvSpPr>
        <p:spPr>
          <a:xfrm xmlns:a="http://schemas.openxmlformats.org/drawingml/2006/main">
            <a:off x="4457700" y="5772150"/>
            <a:ext cx="342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Single 50 / multi 75</a:t>
            </a:r>
          </a:p>
        </p:txBody>
      </p:sp>
      <p:sp>
        <p:nvSpPr>
          <p:cNvPr id="11" name="text-7">
            <a:extLst xmlns:a="http://schemas.openxmlformats.org/drawingml/2006/main">
              <a:ext uri="{FF2B5EF4-FFF2-40B4-BE49-F238E27FC236}">
                <a16:creationId xmlns:a16="http://schemas.microsoft.com/office/drawing/2014/main" id="{15C637C4-11AC-470D-A8EB-9494606A418D}"/>
              </a:ext>
            </a:extLst>
          </p:cNvPr>
          <p:cNvSpPr>
            <a:spLocks xmlns:a="http://schemas.openxmlformats.org/drawingml/2006/main" noGrp="1"/>
          </p:cNvSpPr>
          <p:nvPr/>
        </p:nvSpPr>
        <p:spPr>
          <a:xfrm xmlns:a="http://schemas.openxmlformats.org/drawingml/2006/main">
            <a:off x="8229600" y="5772150"/>
            <a:ext cx="333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Single 50 / graph 75</a:t>
            </a:r>
          </a:p>
        </p:txBody>
      </p:sp>
    </p:spTree>
    <p:extLst>
      <p:ext uri="{BB962C8B-B14F-4D97-AF65-F5344CB8AC3E}">
        <p14:creationId xmlns:p14="http://schemas.microsoft.com/office/powerpoint/2010/main" val="105750238"/>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3E06B29-1132-4CFF-90F9-EB08175A2450}"/>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Functional quality results</a:t>
            </a:r>
          </a:p>
        </p:txBody>
      </p:sp>
      <p:sp>
        <p:nvSpPr>
          <p:cNvPr id="2" name="slide-number">
            <a:extLst xmlns:a="http://schemas.openxmlformats.org/drawingml/2006/main">
              <a:ext uri="{FF2B5EF4-FFF2-40B4-BE49-F238E27FC236}">
                <a16:creationId xmlns:a16="http://schemas.microsoft.com/office/drawing/2014/main" id="{436F616D-CE68-46B8-A1DD-C2F29BC9E3C6}"/>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12</a:t>
            </a:r>
          </a:p>
        </p:txBody>
      </p:sp>
      <p:sp>
        <p:nvSpPr>
          <p:cNvPr id="3" name="text-2">
            <a:extLst xmlns:a="http://schemas.openxmlformats.org/drawingml/2006/main">
              <a:ext uri="{FF2B5EF4-FFF2-40B4-BE49-F238E27FC236}">
                <a16:creationId xmlns:a16="http://schemas.microsoft.com/office/drawing/2014/main" id="{CDB83110-94F1-4053-B9C0-127207025F68}"/>
              </a:ext>
            </a:extLst>
          </p:cNvPr>
          <p:cNvSpPr>
            <a:spLocks xmlns:a="http://schemas.openxmlformats.org/drawingml/2006/main" noGrp="1"/>
          </p:cNvSpPr>
          <p:nvPr/>
        </p:nvSpPr>
        <p:spPr>
          <a:xfrm xmlns:a="http://schemas.openxmlformats.org/drawingml/2006/main">
            <a:off x="685800" y="14382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Core: 24 tasks per architecture. Small 50/50 steps, medium 50/75.</a:t>
            </a:r>
          </a:p>
        </p:txBody>
      </p:sp>
      <p:graphicFrame>
        <p:nvGraphicFramePr>
          <p:cNvPr id="10" name=""/>
          <p:cNvGraphicFramePr/>
          <p:nvPr/>
        </p:nvGraphicFramePr>
        <p:xfrm>
          <a:off xmlns:a="http://schemas.openxmlformats.org/drawingml/2006/main" x="685800" y="2047875"/>
          <a:ext xmlns:a="http://schemas.openxmlformats.org/drawingml/2006/main" cx="10820400" cy="3533775"/>
        </p:xfrm>
        <a:graphic xmlns:a="http://schemas.openxmlformats.org/drawingml/2006/main">
          <a:graphicData uri="http://schemas.openxmlformats.org/drawingml/2006/table">
            <a:tbl>
              <a:tblPr firstRow="0" bandRow="0"/>
              <a:tblGrid>
                <a:gridCol w="4152900"/>
                <a:gridCol w="2219325"/>
                <a:gridCol w="2219325"/>
                <a:gridCol w="2228850"/>
              </a:tblGrid>
              <a:tr h="581025">
                <a:tc>
                  <a:txBody>
                    <a:bodyPr>
                      <a:noAutofit/>
                    </a:bodyPr>
                    <a:lstStyle/>
                    <a:p>
                      <a:pPr algn="l"/>
                      <a:r>
                        <a:rPr sz="1725" b="1">
                          <a:solidFill>
                            <a:srgbClr val="FFFFFF"/>
                          </a:solidFill>
                          <a:latin typeface="Helvetica Neue"/>
                          <a:ea typeface="Helvetica Neue"/>
                          <a:cs typeface="Helvetica Neue"/>
                        </a:rPr>
                        <a:t>Metric</a:t>
                      </a:r>
                    </a:p>
                  </a:txBody>
                  <a:tcPr marL="152400" marR="114300" marT="123825" marB="114300" anchor="ctr">
                    <a:solidFill>
                      <a:srgbClr val="17283D"/>
                    </a:solidFill>
                  </a:tcPr>
                </a:tc>
                <a:tc>
                  <a:txBody>
                    <a:bodyPr>
                      <a:noAutofit/>
                    </a:bodyPr>
                    <a:lstStyle/>
                    <a:p>
                      <a:pPr algn="l"/>
                      <a:r>
                        <a:rPr sz="1725"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725" b="1">
                          <a:solidFill>
                            <a:srgbClr val="FFFFFF"/>
                          </a:solidFill>
                          <a:latin typeface="Helvetica Neue"/>
                          <a:ea typeface="Helvetica Neue"/>
                          <a:cs typeface="Helvetica Neue"/>
                        </a:rPr>
                        <a:t>Graph</a:t>
                      </a:r>
                    </a:p>
                  </a:txBody>
                  <a:tcPr marL="152400" marR="114300" marT="123825" marB="114300" anchor="ctr">
                    <a:solidFill>
                      <a:srgbClr val="17283D"/>
                    </a:solidFill>
                  </a:tcPr>
                </a:tc>
                <a:tc>
                  <a:txBody>
                    <a:bodyPr>
                      <a:noAutofit/>
                    </a:bodyPr>
                    <a:lstStyle/>
                    <a:p>
                      <a:pPr algn="l"/>
                      <a:r>
                        <a:rPr sz="1725" b="1">
                          <a:solidFill>
                            <a:srgbClr val="FFFFFF"/>
                          </a:solidFill>
                          <a:latin typeface="Helvetica Neue"/>
                          <a:ea typeface="Helvetica Neue"/>
                          <a:cs typeface="Helvetica Neue"/>
                        </a:rPr>
                        <a:t>Guarded</a:t>
                      </a:r>
                    </a:p>
                  </a:txBody>
                  <a:tcPr marL="152400" marR="114300" marT="123825" marB="114300" anchor="ctr">
                    <a:solidFill>
                      <a:srgbClr val="17283D"/>
                    </a:solidFill>
                  </a:tcPr>
                </a:tc>
              </a:tr>
              <a:tr h="590550">
                <a:tc>
                  <a:txBody>
                    <a:bodyPr>
                      <a:noAutofit/>
                    </a:bodyPr>
                    <a:lstStyle/>
                    <a:p>
                      <a:pPr algn="l"/>
                      <a:r>
                        <a:rPr sz="1800" b="0">
                          <a:solidFill>
                            <a:srgbClr val="17283D"/>
                          </a:solidFill>
                          <a:latin typeface="Helvetica Neue"/>
                          <a:ea typeface="Helvetica Neue"/>
                          <a:cs typeface="Helvetica Neue"/>
                        </a:rPr>
                        <a:t>Resolved@1</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91.7% (22/24)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r>
              <a:tr h="590550">
                <a:tc>
                  <a:txBody>
                    <a:bodyPr>
                      <a:noAutofit/>
                    </a:bodyPr>
                    <a:lstStyle/>
                    <a:p>
                      <a:pPr algn="l"/>
                      <a:r>
                        <a:rPr sz="1800" b="0">
                          <a:solidFill>
                            <a:srgbClr val="17283D"/>
                          </a:solidFill>
                          <a:latin typeface="Helvetica Neue"/>
                          <a:ea typeface="Helvetica Neue"/>
                          <a:cs typeface="Helvetica Neue"/>
                        </a:rPr>
                        <a:t>Visible suite pass rate</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100% (24/24)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91.7% (22/24)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95.8% (23/24)</a:t>
                      </a:r>
                    </a:p>
                  </a:txBody>
                  <a:tcPr marL="152400" marR="114300" marT="123825" marB="114300" anchor="ctr">
                    <a:solidFill>
                      <a:srgbClr val="EFF2F6"/>
                    </a:solidFill>
                  </a:tcPr>
                </a:tc>
              </a:tr>
              <a:tr h="590550">
                <a:tc>
                  <a:txBody>
                    <a:bodyPr>
                      <a:noAutofit/>
                    </a:bodyPr>
                    <a:lstStyle/>
                    <a:p>
                      <a:pPr algn="l"/>
                      <a:r>
                        <a:rPr sz="1800" b="0">
                          <a:solidFill>
                            <a:srgbClr val="17283D"/>
                          </a:solidFill>
                          <a:latin typeface="Helvetica Neue"/>
                          <a:ea typeface="Helvetica Neue"/>
                          <a:cs typeface="Helvetica Neue"/>
                        </a:rPr>
                        <a:t>Required hidden suite pass</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91.7% (22/24)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87.5% (21/24)</a:t>
                      </a:r>
                    </a:p>
                  </a:txBody>
                  <a:tcPr marL="152400" marR="114300" marT="123825" marB="114300" anchor="ctr">
                    <a:solidFill>
                      <a:srgbClr val="FFFFFF"/>
                    </a:solidFill>
                  </a:tcPr>
                </a:tc>
              </a:tr>
              <a:tr h="590550">
                <a:tc>
                  <a:txBody>
                    <a:bodyPr>
                      <a:noAutofit/>
                    </a:bodyPr>
                    <a:lstStyle/>
                    <a:p>
                      <a:pPr algn="l"/>
                      <a:r>
                        <a:rPr sz="1800" b="0">
                          <a:solidFill>
                            <a:srgbClr val="17283D"/>
                          </a:solidFill>
                          <a:latin typeface="Helvetica Neue"/>
                          <a:ea typeface="Helvetica Neue"/>
                          <a:cs typeface="Helvetica Neue"/>
                        </a:rPr>
                        <a:t>Runs with regressions</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4.2% (1/24)</a:t>
                      </a:r>
                    </a:p>
                  </a:txBody>
                  <a:tcPr marL="152400" marR="114300" marT="123825" marB="114300" anchor="ctr">
                    <a:solidFill>
                      <a:srgbClr val="EFF2F6"/>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EFF2F6"/>
                    </a:solidFill>
                  </a:tcPr>
                </a:tc>
              </a:tr>
              <a:tr h="590550">
                <a:tc>
                  <a:txBody>
                    <a:bodyPr>
                      <a:noAutofit/>
                    </a:bodyPr>
                    <a:lstStyle/>
                    <a:p>
                      <a:pPr algn="l"/>
                      <a:r>
                        <a:rPr sz="1800" b="0">
                          <a:solidFill>
                            <a:srgbClr val="17283D"/>
                          </a:solidFill>
                          <a:latin typeface="Helvetica Neue"/>
                          <a:ea typeface="Helvetica Neue"/>
                          <a:cs typeface="Helvetica Neue"/>
                        </a:rPr>
                        <a:t>Human handoff rate</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FFFFFF"/>
                    </a:solidFill>
                  </a:tcPr>
                </a:tc>
                <a:tc>
                  <a:txBody>
                    <a:bodyPr>
                      <a:noAutofit/>
                    </a:bodyPr>
                    <a:lstStyle/>
                    <a:p>
                      <a:pPr algn="l"/>
                      <a:r>
                        <a:rPr sz="1800" b="0">
                          <a:solidFill>
                            <a:srgbClr val="17283D"/>
                          </a:solidFill>
                          <a:latin typeface="Helvetica Neue"/>
                          <a:ea typeface="Helvetica Neue"/>
                          <a:cs typeface="Helvetica Neue"/>
                        </a:rPr>
                        <a:t>0% (0/24)</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E6BBF817-792F-401A-B60A-2404962B8E74}"/>
              </a:ext>
            </a:extLst>
          </p:cNvPr>
          <p:cNvSpPr>
            <a:spLocks xmlns:a="http://schemas.openxmlformats.org/drawingml/2006/main" noGrp="1"/>
          </p:cNvSpPr>
          <p:nvPr/>
        </p:nvSpPr>
        <p:spPr>
          <a:xfrm xmlns:a="http://schemas.openxmlformats.org/drawingml/2006/main">
            <a:off x="685800" y="58007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468C9"/>
                </a:solidFill>
                <a:latin typeface="Helvetica Neue"/>
                <a:ea typeface="Helvetica Neue"/>
                <a:cs typeface="Helvetica Neue"/>
              </a:defRPr>
            </a:pPr>
            <a:r>
              <a:rPr sz="2025" b="1">
                <a:solidFill>
                  <a:srgbClr val="2468C9"/>
                </a:solidFill>
                <a:latin typeface="Helvetica Neue"/>
                <a:ea typeface="Helvetica Neue"/>
                <a:cs typeface="Helvetica Neue"/>
              </a:rPr>
              <a:t>Rubric quality score: N/A for all 102 final runs.</a:t>
            </a:r>
          </a:p>
        </p:txBody>
      </p:sp>
      <p:sp>
        <p:nvSpPr>
          <p:cNvPr id="6" name="text-4">
            <a:extLst xmlns:a="http://schemas.openxmlformats.org/drawingml/2006/main">
              <a:ext uri="{FF2B5EF4-FFF2-40B4-BE49-F238E27FC236}">
                <a16:creationId xmlns:a16="http://schemas.microsoft.com/office/drawing/2014/main" id="{75B13D18-0963-44A2-AC9D-0873122AA76C}"/>
              </a:ext>
            </a:extLst>
          </p:cNvPr>
          <p:cNvSpPr>
            <a:spLocks xmlns:a="http://schemas.openxmlformats.org/drawingml/2006/main" noGrp="1"/>
          </p:cNvSpPr>
          <p:nvPr/>
        </p:nvSpPr>
        <p:spPr>
          <a:xfrm xmlns:a="http://schemas.openxmlformats.org/drawingml/2006/main">
            <a:off x="685800" y="61817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No measured ranking for maintainability, robustness, or safety.</a:t>
            </a:r>
          </a:p>
        </p:txBody>
      </p:sp>
    </p:spTree>
    <p:extLst>
      <p:ext uri="{BB962C8B-B14F-4D97-AF65-F5344CB8AC3E}">
        <p14:creationId xmlns:p14="http://schemas.microsoft.com/office/powerpoint/2010/main" val="954553617"/>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98649741-86E8-4FE2-ACF4-60AB09413A28}"/>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AI and agent metric results</a:t>
            </a:r>
          </a:p>
        </p:txBody>
      </p:sp>
      <p:sp>
        <p:nvSpPr>
          <p:cNvPr id="2" name="slide-number">
            <a:extLst xmlns:a="http://schemas.openxmlformats.org/drawingml/2006/main">
              <a:ext uri="{FF2B5EF4-FFF2-40B4-BE49-F238E27FC236}">
                <a16:creationId xmlns:a16="http://schemas.microsoft.com/office/drawing/2014/main" id="{DC253B72-5D23-411F-B124-8700E5B4072D}"/>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13</a:t>
            </a:r>
          </a:p>
        </p:txBody>
      </p:sp>
      <p:sp>
        <p:nvSpPr>
          <p:cNvPr id="3" name="text-2">
            <a:extLst xmlns:a="http://schemas.openxmlformats.org/drawingml/2006/main">
              <a:ext uri="{FF2B5EF4-FFF2-40B4-BE49-F238E27FC236}">
                <a16:creationId xmlns:a16="http://schemas.microsoft.com/office/drawing/2014/main" id="{C9595DF2-8D66-4DB3-81BF-D99FE8972926}"/>
              </a:ext>
            </a:extLst>
          </p:cNvPr>
          <p:cNvSpPr>
            <a:spLocks xmlns:a="http://schemas.openxmlformats.org/drawingml/2006/main" noGrp="1"/>
          </p:cNvSpPr>
          <p:nvPr/>
        </p:nvSpPr>
        <p:spPr>
          <a:xfrm xmlns:a="http://schemas.openxmlformats.org/drawingml/2006/main">
            <a:off x="685800" y="14382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Core: 24 tasks per architecture. Counts show each denominator.</a:t>
            </a:r>
          </a:p>
        </p:txBody>
      </p:sp>
      <p:graphicFrame>
        <p:nvGraphicFramePr>
          <p:cNvPr id="10" name=""/>
          <p:cNvGraphicFramePr/>
          <p:nvPr/>
        </p:nvGraphicFramePr>
        <p:xfrm>
          <a:off xmlns:a="http://schemas.openxmlformats.org/drawingml/2006/main" x="685800" y="2047875"/>
          <a:ext xmlns:a="http://schemas.openxmlformats.org/drawingml/2006/main" cx="10820400" cy="3533775"/>
        </p:xfrm>
        <a:graphic xmlns:a="http://schemas.openxmlformats.org/drawingml/2006/main">
          <a:graphicData uri="http://schemas.openxmlformats.org/drawingml/2006/table">
            <a:tbl>
              <a:tblPr firstRow="0" bandRow="0"/>
              <a:tblGrid>
                <a:gridCol w="4152900"/>
                <a:gridCol w="2219325"/>
                <a:gridCol w="2219325"/>
                <a:gridCol w="2228850"/>
              </a:tblGrid>
              <a:tr h="581025">
                <a:tc>
                  <a:txBody>
                    <a:bodyPr>
                      <a:noAutofit/>
                    </a:bodyPr>
                    <a:lstStyle/>
                    <a:p>
                      <a:pPr algn="l"/>
                      <a:r>
                        <a:rPr sz="1650" b="1">
                          <a:solidFill>
                            <a:srgbClr val="FFFFFF"/>
                          </a:solidFill>
                          <a:latin typeface="Helvetica Neue"/>
                          <a:ea typeface="Helvetica Neue"/>
                          <a:cs typeface="Helvetica Neue"/>
                        </a:rPr>
                        <a:t>Metric</a:t>
                      </a:r>
                    </a:p>
                  </a:txBody>
                  <a:tcPr marL="152400" marR="114300" marT="123825" marB="114300"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123825" marB="114300" anchor="ctr">
                    <a:solidFill>
                      <a:srgbClr val="17283D"/>
                    </a:solidFill>
                  </a:tcPr>
                </a:tc>
                <a:tc>
                  <a:txBody>
                    <a:bodyPr>
                      <a:noAutofit/>
                    </a:bodyPr>
                    <a:lstStyle/>
                    <a:p>
                      <a:pPr algn="l"/>
                      <a:r>
                        <a:rPr sz="1650" b="1">
                          <a:solidFill>
                            <a:srgbClr val="FFFFFF"/>
                          </a:solidFill>
                          <a:latin typeface="Helvetica Neue"/>
                          <a:ea typeface="Helvetica Neue"/>
                          <a:cs typeface="Helvetica Neue"/>
                        </a:rPr>
                        <a:t>Guarded</a:t>
                      </a:r>
                    </a:p>
                  </a:txBody>
                  <a:tcPr marL="152400" marR="114300" marT="123825" marB="114300" anchor="ctr">
                    <a:solidFill>
                      <a:srgbClr val="17283D"/>
                    </a:solidFill>
                  </a:tcPr>
                </a:tc>
              </a:tr>
              <a:tr h="590550">
                <a:tc>
                  <a:txBody>
                    <a:bodyPr>
                      <a:noAutofit/>
                    </a:bodyPr>
                    <a:lstStyle/>
                    <a:p>
                      <a:pPr algn="l"/>
                      <a:r>
                        <a:rPr sz="1725" b="0">
                          <a:solidFill>
                            <a:srgbClr val="17283D"/>
                          </a:solidFill>
                          <a:latin typeface="Helvetica Neue"/>
                          <a:ea typeface="Helvetica Neue"/>
                          <a:cs typeface="Helvetica Neue"/>
                        </a:rPr>
                        <a:t>Patch validity*</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(24/24)</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(24/24)</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(24/24)</a:t>
                      </a:r>
                    </a:p>
                  </a:txBody>
                  <a:tcPr marL="152400" marR="114300" marT="123825" marB="114300" anchor="ctr">
                    <a:solidFill>
                      <a:srgbClr val="FFFFFF"/>
                    </a:solidFill>
                  </a:tcPr>
                </a:tc>
              </a:tr>
              <a:tr h="590550">
                <a:tc>
                  <a:txBody>
                    <a:bodyPr>
                      <a:noAutofit/>
                    </a:bodyPr>
                    <a:lstStyle/>
                    <a:p>
                      <a:pPr algn="l"/>
                      <a:r>
                        <a:rPr sz="1725" b="0">
                          <a:solidFill>
                            <a:srgbClr val="17283D"/>
                          </a:solidFill>
                          <a:latin typeface="Helvetica Neue"/>
                          <a:ea typeface="Helvetica Neue"/>
                          <a:cs typeface="Helvetica Neue"/>
                        </a:rPr>
                        <a:t>Tool-use validity</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96% (462/481)</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95.3% (729/765)</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96.2% (692/719)</a:t>
                      </a:r>
                    </a:p>
                  </a:txBody>
                  <a:tcPr marL="152400" marR="114300" marT="123825" marB="114300" anchor="ctr">
                    <a:solidFill>
                      <a:srgbClr val="EFF2F6"/>
                    </a:solidFill>
                  </a:tcPr>
                </a:tc>
              </a:tr>
              <a:tr h="590550">
                <a:tc>
                  <a:txBody>
                    <a:bodyPr>
                      <a:noAutofit/>
                    </a:bodyPr>
                    <a:lstStyle/>
                    <a:p>
                      <a:pPr algn="l"/>
                      <a:r>
                        <a:rPr sz="1725" b="0">
                          <a:solidFill>
                            <a:srgbClr val="17283D"/>
                          </a:solidFill>
                          <a:latin typeface="Helvetica Neue"/>
                          <a:ea typeface="Helvetica Neue"/>
                          <a:cs typeface="Helvetica Neue"/>
                        </a:rPr>
                        <a:t>Hallucinated refs / run*</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0.79</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1.33</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1.04</a:t>
                      </a:r>
                    </a:p>
                  </a:txBody>
                  <a:tcPr marL="152400" marR="114300" marT="123825" marB="114300" anchor="ctr">
                    <a:solidFill>
                      <a:srgbClr val="FFFFFF"/>
                    </a:solidFill>
                  </a:tcPr>
                </a:tc>
              </a:tr>
              <a:tr h="590550">
                <a:tc>
                  <a:txBody>
                    <a:bodyPr>
                      <a:noAutofit/>
                    </a:bodyPr>
                    <a:lstStyle/>
                    <a:p>
                      <a:pPr algn="l"/>
                      <a:r>
                        <a:rPr sz="1725" b="0">
                          <a:solidFill>
                            <a:srgbClr val="17283D"/>
                          </a:solidFill>
                          <a:latin typeface="Helvetica Neue"/>
                          <a:ea typeface="Helvetica Neue"/>
                          <a:cs typeface="Helvetica Neue"/>
                        </a:rPr>
                        <a:t>Test overfitting*</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8.3% (2/24)</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4.5% (1/22)</a:t>
                      </a:r>
                    </a:p>
                  </a:txBody>
                  <a:tcPr marL="152400" marR="114300" marT="123825" marB="114300" anchor="ctr">
                    <a:solidFill>
                      <a:srgbClr val="EFF2F6"/>
                    </a:solidFill>
                  </a:tcPr>
                </a:tc>
                <a:tc>
                  <a:txBody>
                    <a:bodyPr>
                      <a:noAutofit/>
                    </a:bodyPr>
                    <a:lstStyle/>
                    <a:p>
                      <a:pPr algn="l"/>
                      <a:r>
                        <a:rPr sz="1725" b="0">
                          <a:solidFill>
                            <a:srgbClr val="17283D"/>
                          </a:solidFill>
                          <a:latin typeface="Helvetica Neue"/>
                          <a:ea typeface="Helvetica Neue"/>
                          <a:cs typeface="Helvetica Neue"/>
                        </a:rPr>
                        <a:t>8.7% (2/23)</a:t>
                      </a:r>
                    </a:p>
                  </a:txBody>
                  <a:tcPr marL="152400" marR="114300" marT="123825" marB="114300" anchor="ctr">
                    <a:solidFill>
                      <a:srgbClr val="EFF2F6"/>
                    </a:solidFill>
                  </a:tcPr>
                </a:tc>
              </a:tr>
              <a:tr h="590550">
                <a:tc>
                  <a:txBody>
                    <a:bodyPr>
                      <a:noAutofit/>
                    </a:bodyPr>
                    <a:lstStyle/>
                    <a:p>
                      <a:pPr algn="l"/>
                      <a:r>
                        <a:rPr sz="1725" b="0">
                          <a:solidFill>
                            <a:srgbClr val="17283D"/>
                          </a:solidFill>
                          <a:latin typeface="Helvetica Neue"/>
                          <a:ea typeface="Helvetica Neue"/>
                          <a:cs typeface="Helvetica Neue"/>
                        </a:rPr>
                        <a:t>Repair success*</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(21/21)</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94.1% (16/17)</a:t>
                      </a:r>
                    </a:p>
                  </a:txBody>
                  <a:tcPr marL="152400" marR="114300" marT="123825" marB="114300" anchor="ctr">
                    <a:solidFill>
                      <a:srgbClr val="FFFFFF"/>
                    </a:solidFill>
                  </a:tcPr>
                </a:tc>
                <a:tc>
                  <a:txBody>
                    <a:bodyPr>
                      <a:noAutofit/>
                    </a:bodyPr>
                    <a:lstStyle/>
                    <a:p>
                      <a:pPr algn="l"/>
                      <a:r>
                        <a:rPr sz="1725" b="0">
                          <a:solidFill>
                            <a:srgbClr val="17283D"/>
                          </a:solidFill>
                          <a:latin typeface="Helvetica Neue"/>
                          <a:ea typeface="Helvetica Neue"/>
                          <a:cs typeface="Helvetica Neue"/>
                        </a:rPr>
                        <a:t>94.7% (18/19)</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2B430DF2-0813-46CE-B13A-1B407493B681}"/>
              </a:ext>
            </a:extLst>
          </p:cNvPr>
          <p:cNvSpPr>
            <a:spLocks xmlns:a="http://schemas.openxmlformats.org/drawingml/2006/main" noGrp="1"/>
          </p:cNvSpPr>
          <p:nvPr/>
        </p:nvSpPr>
        <p:spPr>
          <a:xfrm xmlns:a="http://schemas.openxmlformats.org/drawingml/2006/main">
            <a:off x="685800" y="58102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468C9"/>
                </a:solidFill>
                <a:latin typeface="Helvetica Neue"/>
                <a:ea typeface="Helvetica Neue"/>
                <a:cs typeface="Helvetica Neue"/>
              </a:defRPr>
            </a:pPr>
            <a:r>
              <a:rPr sz="1950" b="1">
                <a:solidFill>
                  <a:srgbClr val="2468C9"/>
                </a:solidFill>
                <a:latin typeface="Helvetica Neue"/>
                <a:ea typeface="Helvetica Neue"/>
                <a:cs typeface="Helvetica Neue"/>
              </a:rPr>
              <a:t>*Operational proxies. Exact definitions appear in the appendix.</a:t>
            </a:r>
          </a:p>
        </p:txBody>
      </p:sp>
      <p:sp>
        <p:nvSpPr>
          <p:cNvPr id="6" name="text-4">
            <a:extLst xmlns:a="http://schemas.openxmlformats.org/drawingml/2006/main">
              <a:ext uri="{FF2B5EF4-FFF2-40B4-BE49-F238E27FC236}">
                <a16:creationId xmlns:a16="http://schemas.microsoft.com/office/drawing/2014/main" id="{2E12AA82-BD01-4A47-B214-303D9EE91CB7}"/>
              </a:ext>
            </a:extLst>
          </p:cNvPr>
          <p:cNvSpPr>
            <a:spLocks xmlns:a="http://schemas.openxmlformats.org/drawingml/2006/main" noGrp="1"/>
          </p:cNvSpPr>
          <p:nvPr/>
        </p:nvSpPr>
        <p:spPr>
          <a:xfrm xmlns:a="http://schemas.openxmlformats.org/drawingml/2006/main">
            <a:off x="685800" y="6191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Changed files and valid actions do not establish code quality.</a:t>
            </a:r>
          </a:p>
        </p:txBody>
      </p:sp>
    </p:spTree>
    <p:extLst>
      <p:ext uri="{BB962C8B-B14F-4D97-AF65-F5344CB8AC3E}">
        <p14:creationId xmlns:p14="http://schemas.microsoft.com/office/powerpoint/2010/main" val="1336688865"/>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FC23D037-89E0-4B97-9E05-1A74910A13A6}"/>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Graph cost more on the 39 shared tasks</a:t>
            </a:r>
          </a:p>
        </p:txBody>
      </p:sp>
      <p:sp>
        <p:nvSpPr>
          <p:cNvPr id="2" name="slide-number">
            <a:extLst xmlns:a="http://schemas.openxmlformats.org/drawingml/2006/main">
              <a:ext uri="{FF2B5EF4-FFF2-40B4-BE49-F238E27FC236}">
                <a16:creationId xmlns:a16="http://schemas.microsoft.com/office/drawing/2014/main" id="{004A0961-3E4F-4009-9873-8CFBBD8FAF78}"/>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14</a:t>
            </a:r>
          </a:p>
        </p:txBody>
      </p:sp>
      <p:sp>
        <p:nvSpPr>
          <p:cNvPr id="3" name="text-2">
            <a:extLst xmlns:a="http://schemas.openxmlformats.org/drawingml/2006/main">
              <a:ext uri="{FF2B5EF4-FFF2-40B4-BE49-F238E27FC236}">
                <a16:creationId xmlns:a16="http://schemas.microsoft.com/office/drawing/2014/main" id="{CA7E5CE6-D4A4-4E14-B313-96AA2E8A034C}"/>
              </a:ext>
            </a:extLst>
          </p:cNvPr>
          <p:cNvSpPr>
            <a:spLocks xmlns:a="http://schemas.openxmlformats.org/drawingml/2006/main" noGrp="1"/>
          </p:cNvSpPr>
          <p:nvPr/>
        </p:nvSpPr>
        <p:spPr>
          <a:xfrm xmlns:a="http://schemas.openxmlformats.org/drawingml/2006/main">
            <a:off x="685800" y="1714500"/>
            <a:ext cx="4667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D27820"/>
                </a:solidFill>
                <a:latin typeface="Helvetica Neue"/>
                <a:ea typeface="Helvetica Neue"/>
                <a:cs typeface="Helvetica Neue"/>
              </a:defRPr>
            </a:pPr>
            <a:r>
              <a:rPr sz="7800" b="1">
                <a:solidFill>
                  <a:srgbClr val="D27820"/>
                </a:solidFill>
                <a:latin typeface="Helvetica Neue"/>
                <a:ea typeface="Helvetica Neue"/>
                <a:cs typeface="Helvetica Neue"/>
              </a:rPr>
              <a:t>18.6%</a:t>
            </a:r>
          </a:p>
        </p:txBody>
      </p:sp>
      <p:sp>
        <p:nvSpPr>
          <p:cNvPr id="4" name="text-3">
            <a:extLst xmlns:a="http://schemas.openxmlformats.org/drawingml/2006/main">
              <a:ext uri="{FF2B5EF4-FFF2-40B4-BE49-F238E27FC236}">
                <a16:creationId xmlns:a16="http://schemas.microsoft.com/office/drawing/2014/main" id="{92FB68CF-01D4-4EA2-B395-EE25E22217D0}"/>
              </a:ext>
            </a:extLst>
          </p:cNvPr>
          <p:cNvSpPr>
            <a:spLocks xmlns:a="http://schemas.openxmlformats.org/drawingml/2006/main" noGrp="1"/>
          </p:cNvSpPr>
          <p:nvPr/>
        </p:nvSpPr>
        <p:spPr>
          <a:xfrm xmlns:a="http://schemas.openxmlformats.org/drawingml/2006/main">
            <a:off x="723900" y="3057525"/>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3D"/>
                </a:solidFill>
                <a:latin typeface="Helvetica Neue"/>
                <a:ea typeface="Helvetica Neue"/>
                <a:cs typeface="Helvetica Neue"/>
              </a:defRPr>
            </a:pPr>
            <a:r>
              <a:rPr sz="2400" b="1">
                <a:solidFill>
                  <a:srgbClr val="17283D"/>
                </a:solidFill>
                <a:latin typeface="Helvetica Neue"/>
                <a:ea typeface="Helvetica Neue"/>
                <a:cs typeface="Helvetica Neue"/>
              </a:rPr>
              <a:t>higher total cost for graph</a:t>
            </a:r>
          </a:p>
        </p:txBody>
      </p:sp>
      <p:graphicFrame>
        <p:nvGraphicFramePr>
          <p:cNvPr id="11" name=""/>
          <p:cNvGraphicFramePr/>
          <p:nvPr/>
        </p:nvGraphicFramePr>
        <p:xfrm>
          <a:off xmlns:a="http://schemas.openxmlformats.org/drawingml/2006/main" x="4953000" y="1800225"/>
          <a:ext xmlns:a="http://schemas.openxmlformats.org/drawingml/2006/main" cx="6819900" cy="3476625"/>
        </p:xfrm>
        <a:graphic xmlns:a="http://schemas.openxmlformats.org/drawingml/2006/main">
          <a:graphicData uri="http://schemas.openxmlformats.org/drawingml/2006/table">
            <a:tbl>
              <a:tblPr firstRow="0" bandRow="0"/>
              <a:tblGrid>
                <a:gridCol w="3162300"/>
                <a:gridCol w="1828800"/>
                <a:gridCol w="1828800"/>
              </a:tblGrid>
              <a:tr h="666750">
                <a:tc>
                  <a:txBody>
                    <a:bodyPr>
                      <a:noAutofit/>
                    </a:bodyPr>
                    <a:lstStyle/>
                    <a:p>
                      <a:pPr algn="l"/>
                      <a:r>
                        <a:rPr sz="1950" b="1">
                          <a:solidFill>
                            <a:srgbClr val="FFFFFF"/>
                          </a:solidFill>
                          <a:latin typeface="Helvetica Neue"/>
                          <a:ea typeface="Helvetica Neue"/>
                          <a:cs typeface="Helvetica Neue"/>
                        </a:rPr>
                        <a:t>Metric</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Graph</a:t>
                      </a:r>
                    </a:p>
                  </a:txBody>
                  <a:tcPr marL="152400" marR="114300" marT="123825" marB="114300" anchor="ctr">
                    <a:solidFill>
                      <a:srgbClr val="17283D"/>
                    </a:solidFill>
                  </a:tcPr>
                </a:tc>
              </a:tr>
              <a:tr h="876300">
                <a:tc>
                  <a:txBody>
                    <a:bodyPr>
                      <a:noAutofit/>
                    </a:bodyPr>
                    <a:lstStyle/>
                    <a:p>
                      <a:pPr algn="l"/>
                      <a:r>
                        <a:rPr sz="2025" b="0">
                          <a:solidFill>
                            <a:srgbClr val="17283D"/>
                          </a:solidFill>
                          <a:latin typeface="Helvetica Neue"/>
                          <a:ea typeface="Helvetica Neue"/>
                          <a:cs typeface="Helvetica Neue"/>
                        </a:rPr>
                        <a:t>Resolved</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31/39</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30/39</a:t>
                      </a:r>
                    </a:p>
                  </a:txBody>
                  <a:tcPr marL="152400" marR="114300" marT="123825" marB="114300" anchor="ctr">
                    <a:solidFill>
                      <a:srgbClr val="FFFFFF"/>
                    </a:solidFill>
                  </a:tcPr>
                </a:tc>
              </a:tr>
              <a:tr h="876300">
                <a:tc>
                  <a:txBody>
                    <a:bodyPr>
                      <a:noAutofit/>
                    </a:bodyPr>
                    <a:lstStyle/>
                    <a:p>
                      <a:pPr algn="l"/>
                      <a:r>
                        <a:rPr sz="2025" b="0">
                          <a:solidFill>
                            <a:srgbClr val="17283D"/>
                          </a:solidFill>
                          <a:latin typeface="Helvetica Neue"/>
                          <a:ea typeface="Helvetica Neue"/>
                          <a:cs typeface="Helvetica Neue"/>
                        </a:rPr>
                        <a:t>Total cost</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$4.1605</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$4.9328</a:t>
                      </a:r>
                    </a:p>
                  </a:txBody>
                  <a:tcPr marL="152400" marR="114300" marT="123825" marB="114300" anchor="ctr">
                    <a:solidFill>
                      <a:srgbClr val="EFF2F6"/>
                    </a:solidFill>
                  </a:tcPr>
                </a:tc>
              </a:tr>
              <a:tr h="876300">
                <a:tc>
                  <a:txBody>
                    <a:bodyPr>
                      <a:noAutofit/>
                    </a:bodyPr>
                    <a:lstStyle/>
                    <a:p>
                      <a:pPr algn="l"/>
                      <a:r>
                        <a:rPr sz="2025" b="0">
                          <a:solidFill>
                            <a:srgbClr val="17283D"/>
                          </a:solidFill>
                          <a:latin typeface="Helvetica Neue"/>
                          <a:ea typeface="Helvetica Neue"/>
                          <a:cs typeface="Helvetica Neue"/>
                        </a:rPr>
                        <a:t>Cost / solved task</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$0.1342</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$0.1644</a:t>
                      </a:r>
                    </a:p>
                  </a:txBody>
                  <a:tcPr marL="152400" marR="114300" marT="123825" marB="1143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485E9A48-44DA-4142-B5E0-66947B79A9EE}"/>
              </a:ext>
            </a:extLst>
          </p:cNvPr>
          <p:cNvSpPr>
            <a:spLocks xmlns:a="http://schemas.openxmlformats.org/drawingml/2006/main" noGrp="1"/>
          </p:cNvSpPr>
          <p:nvPr/>
        </p:nvSpPr>
        <p:spPr>
          <a:xfrm xmlns:a="http://schemas.openxmlformats.org/drawingml/2006/main">
            <a:off x="685800" y="57912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174"/>
                </a:solidFill>
                <a:latin typeface="Helvetica Neue"/>
                <a:ea typeface="Helvetica Neue"/>
                <a:cs typeface="Helvetica Neue"/>
              </a:defRPr>
            </a:pPr>
            <a:r>
              <a:rPr sz="1875" b="0">
                <a:solidFill>
                  <a:srgbClr val="516174"/>
                </a:solidFill>
                <a:latin typeface="Helvetica Neue"/>
                <a:ea typeface="Helvetica Neue"/>
                <a:cs typeface="Helvetica Neue"/>
              </a:rPr>
              <a:t>Secondary aggregate across mixed step policies</a:t>
            </a:r>
          </a:p>
        </p:txBody>
      </p:sp>
    </p:spTree>
    <p:extLst>
      <p:ext uri="{BB962C8B-B14F-4D97-AF65-F5344CB8AC3E}">
        <p14:creationId xmlns:p14="http://schemas.microsoft.com/office/powerpoint/2010/main" val="526565584"/>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A0B0F4CF-CEDB-4E70-A10D-B3EB69AEB40E}"/>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Only three tasks changed the ranking</a:t>
            </a:r>
          </a:p>
        </p:txBody>
      </p:sp>
      <p:sp>
        <p:nvSpPr>
          <p:cNvPr id="2" name="slide-number">
            <a:extLst xmlns:a="http://schemas.openxmlformats.org/drawingml/2006/main">
              <a:ext uri="{FF2B5EF4-FFF2-40B4-BE49-F238E27FC236}">
                <a16:creationId xmlns:a16="http://schemas.microsoft.com/office/drawing/2014/main" id="{43364F81-CC4A-4EE0-AE2E-708DBF4EBCF9}"/>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15</a:t>
            </a:r>
          </a:p>
        </p:txBody>
      </p:sp>
      <p:graphicFrame>
        <p:nvGraphicFramePr>
          <p:cNvPr id="7" name=""/>
          <p:cNvGraphicFramePr/>
          <p:nvPr/>
        </p:nvGraphicFramePr>
        <p:xfrm>
          <a:off xmlns:a="http://schemas.openxmlformats.org/drawingml/2006/main" x="685800" y="1809750"/>
          <a:ext xmlns:a="http://schemas.openxmlformats.org/drawingml/2006/main" cx="10820400" cy="3390900"/>
        </p:xfrm>
        <a:graphic xmlns:a="http://schemas.openxmlformats.org/drawingml/2006/main">
          <a:graphicData uri="http://schemas.openxmlformats.org/drawingml/2006/table">
            <a:tbl>
              <a:tblPr firstRow="0" bandRow="0"/>
              <a:tblGrid>
                <a:gridCol w="7239000"/>
                <a:gridCol w="3581400"/>
              </a:tblGrid>
              <a:tr h="619125">
                <a:tc>
                  <a:txBody>
                    <a:bodyPr>
                      <a:noAutofit/>
                    </a:bodyPr>
                    <a:lstStyle/>
                    <a:p>
                      <a:pPr algn="l"/>
                      <a:r>
                        <a:rPr sz="2025" b="1">
                          <a:solidFill>
                            <a:srgbClr val="FFFFFF"/>
                          </a:solidFill>
                          <a:latin typeface="Helvetica Neue"/>
                          <a:ea typeface="Helvetica Neue"/>
                          <a:cs typeface="Helvetica Neue"/>
                        </a:rPr>
                        <a:t>Paired outcome</a:t>
                      </a:r>
                    </a:p>
                  </a:txBody>
                  <a:tcPr marL="152400" marR="114300" marT="123825" marB="114300" anchor="ctr">
                    <a:solidFill>
                      <a:srgbClr val="17283D"/>
                    </a:solidFill>
                  </a:tcPr>
                </a:tc>
                <a:tc>
                  <a:txBody>
                    <a:bodyPr>
                      <a:noAutofit/>
                    </a:bodyPr>
                    <a:lstStyle/>
                    <a:p>
                      <a:pPr algn="l"/>
                      <a:r>
                        <a:rPr sz="2025" b="1">
                          <a:solidFill>
                            <a:srgbClr val="FFFFFF"/>
                          </a:solidFill>
                          <a:latin typeface="Helvetica Neue"/>
                          <a:ea typeface="Helvetica Neue"/>
                          <a:cs typeface="Helvetica Neue"/>
                        </a:rPr>
                        <a:t>Tasks</a:t>
                      </a:r>
                    </a:p>
                  </a:txBody>
                  <a:tcPr marL="152400" marR="114300" marT="123825" marB="114300" anchor="ctr">
                    <a:solidFill>
                      <a:srgbClr val="17283D"/>
                    </a:solidFill>
                  </a:tcPr>
                </a:tc>
              </a:tr>
              <a:tr h="695325">
                <a:tc>
                  <a:txBody>
                    <a:bodyPr>
                      <a:noAutofit/>
                    </a:bodyPr>
                    <a:lstStyle/>
                    <a:p>
                      <a:pPr algn="l"/>
                      <a:r>
                        <a:rPr sz="2100" b="0">
                          <a:solidFill>
                            <a:srgbClr val="17283D"/>
                          </a:solidFill>
                          <a:latin typeface="Helvetica Neue"/>
                          <a:ea typeface="Helvetica Neue"/>
                          <a:cs typeface="Helvetica Neue"/>
                        </a:rPr>
                        <a:t>Both solved</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29</a:t>
                      </a:r>
                    </a:p>
                  </a:txBody>
                  <a:tcPr marL="152400" marR="114300" marT="123825" marB="114300" anchor="ctr">
                    <a:solidFill>
                      <a:srgbClr val="FFFFFF"/>
                    </a:solidFill>
                  </a:tcPr>
                </a:tc>
              </a:tr>
              <a:tr h="695325">
                <a:tc>
                  <a:txBody>
                    <a:bodyPr>
                      <a:noAutofit/>
                    </a:bodyPr>
                    <a:lstStyle/>
                    <a:p>
                      <a:pPr algn="l"/>
                      <a:r>
                        <a:rPr sz="2100" b="0">
                          <a:solidFill>
                            <a:srgbClr val="17283D"/>
                          </a:solidFill>
                          <a:latin typeface="Helvetica Neue"/>
                          <a:ea typeface="Helvetica Neue"/>
                          <a:cs typeface="Helvetica Neue"/>
                        </a:rPr>
                        <a:t>Neither solved</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7</a:t>
                      </a:r>
                    </a:p>
                  </a:txBody>
                  <a:tcPr marL="152400" marR="114300" marT="123825" marB="114300" anchor="ctr">
                    <a:solidFill>
                      <a:srgbClr val="EFF2F6"/>
                    </a:solidFill>
                  </a:tcPr>
                </a:tc>
              </a:tr>
              <a:tr h="695325">
                <a:tc>
                  <a:txBody>
                    <a:bodyPr>
                      <a:noAutofit/>
                    </a:bodyPr>
                    <a:lstStyle/>
                    <a:p>
                      <a:pPr algn="l"/>
                      <a:r>
                        <a:rPr sz="2100" b="0">
                          <a:solidFill>
                            <a:srgbClr val="17283D"/>
                          </a:solidFill>
                          <a:latin typeface="Helvetica Neue"/>
                          <a:ea typeface="Helvetica Neue"/>
                          <a:cs typeface="Helvetica Neue"/>
                        </a:rPr>
                        <a:t>Single only</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2</a:t>
                      </a:r>
                    </a:p>
                  </a:txBody>
                  <a:tcPr marL="152400" marR="114300" marT="123825" marB="114300" anchor="ctr">
                    <a:solidFill>
                      <a:srgbClr val="FFFFFF"/>
                    </a:solidFill>
                  </a:tcPr>
                </a:tc>
              </a:tr>
              <a:tr h="695325">
                <a:tc>
                  <a:txBody>
                    <a:bodyPr>
                      <a:noAutofit/>
                    </a:bodyPr>
                    <a:lstStyle/>
                    <a:p>
                      <a:pPr algn="l"/>
                      <a:r>
                        <a:rPr sz="2100" b="0">
                          <a:solidFill>
                            <a:srgbClr val="17283D"/>
                          </a:solidFill>
                          <a:latin typeface="Helvetica Neue"/>
                          <a:ea typeface="Helvetica Neue"/>
                          <a:cs typeface="Helvetica Neue"/>
                        </a:rPr>
                        <a:t>Graph only</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1</a:t>
                      </a:r>
                    </a:p>
                  </a:txBody>
                  <a:tcPr marL="152400" marR="114300" marT="123825" marB="114300" anchor="ctr">
                    <a:solidFill>
                      <a:srgbClr val="EFF2F6"/>
                    </a:solidFill>
                  </a:tcPr>
                </a:tc>
              </a:tr>
            </a:tbl>
          </a:graphicData>
        </a:graphic>
      </p:graphicFrame>
      <p:sp>
        <p:nvSpPr>
          <p:cNvPr id="4" name="text-2">
            <a:extLst xmlns:a="http://schemas.openxmlformats.org/drawingml/2006/main">
              <a:ext uri="{FF2B5EF4-FFF2-40B4-BE49-F238E27FC236}">
                <a16:creationId xmlns:a16="http://schemas.microsoft.com/office/drawing/2014/main" id="{E1BF1EDA-738C-40D0-9A39-F8FFA546B0B3}"/>
              </a:ext>
            </a:extLst>
          </p:cNvPr>
          <p:cNvSpPr>
            <a:spLocks xmlns:a="http://schemas.openxmlformats.org/drawingml/2006/main" noGrp="1"/>
          </p:cNvSpPr>
          <p:nvPr/>
        </p:nvSpPr>
        <p:spPr>
          <a:xfrm xmlns:a="http://schemas.openxmlformats.org/drawingml/2006/main">
            <a:off x="685800" y="55530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468C9"/>
                </a:solidFill>
                <a:latin typeface="Helvetica Neue"/>
                <a:ea typeface="Helvetica Neue"/>
                <a:cs typeface="Helvetica Neue"/>
              </a:defRPr>
            </a:pPr>
            <a:r>
              <a:rPr sz="2400" b="1">
                <a:solidFill>
                  <a:srgbClr val="2468C9"/>
                </a:solidFill>
                <a:latin typeface="Helvetica Neue"/>
                <a:ea typeface="Helvetica Neue"/>
                <a:cs typeface="Helvetica Neue"/>
              </a:rPr>
              <a:t>A one-task aggregate difference is weak evidence for a general ranking.</a:t>
            </a:r>
          </a:p>
        </p:txBody>
      </p:sp>
    </p:spTree>
    <p:extLst>
      <p:ext uri="{BB962C8B-B14F-4D97-AF65-F5344CB8AC3E}">
        <p14:creationId xmlns:p14="http://schemas.microsoft.com/office/powerpoint/2010/main" val="1595424286"/>
      </p:ext>
    </p:extLst>
  </p:cSld>
</p:sld>
</file>

<file path=ppt/slides/slide1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B7E8A7B9-72C4-496E-B45B-9CBAF794BA3D}"/>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Limits of the primary experiment</a:t>
            </a:r>
          </a:p>
        </p:txBody>
      </p:sp>
      <p:sp>
        <p:nvSpPr>
          <p:cNvPr id="2" name="slide-number">
            <a:extLst xmlns:a="http://schemas.openxmlformats.org/drawingml/2006/main">
              <a:ext uri="{FF2B5EF4-FFF2-40B4-BE49-F238E27FC236}">
                <a16:creationId xmlns:a16="http://schemas.microsoft.com/office/drawing/2014/main" id="{B91E80D3-79EB-42F9-9405-0C8B84685AAC}"/>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16</a:t>
            </a:r>
          </a:p>
        </p:txBody>
      </p:sp>
      <p:sp>
        <p:nvSpPr>
          <p:cNvPr id="3" name="text-2">
            <a:extLst xmlns:a="http://schemas.openxmlformats.org/drawingml/2006/main">
              <a:ext uri="{FF2B5EF4-FFF2-40B4-BE49-F238E27FC236}">
                <a16:creationId xmlns:a16="http://schemas.microsoft.com/office/drawing/2014/main" id="{6370B79F-DE62-4FF8-85DA-2862A636032B}"/>
              </a:ext>
            </a:extLst>
          </p:cNvPr>
          <p:cNvSpPr>
            <a:spLocks xmlns:a="http://schemas.openxmlformats.org/drawingml/2006/main" noGrp="1"/>
          </p:cNvSpPr>
          <p:nvPr/>
        </p:nvSpPr>
        <p:spPr>
          <a:xfrm xmlns:a="http://schemas.openxmlformats.org/drawingml/2006/main">
            <a:off x="685800" y="17145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One model and one final attempt</a:t>
            </a:r>
          </a:p>
        </p:txBody>
      </p:sp>
      <p:sp>
        <p:nvSpPr>
          <p:cNvPr id="4" name="text-3">
            <a:extLst xmlns:a="http://schemas.openxmlformats.org/drawingml/2006/main">
              <a:ext uri="{FF2B5EF4-FFF2-40B4-BE49-F238E27FC236}">
                <a16:creationId xmlns:a16="http://schemas.microsoft.com/office/drawing/2014/main" id="{DB921BE0-7B90-4C57-9B48-0D19B492F5F2}"/>
              </a:ext>
            </a:extLst>
          </p:cNvPr>
          <p:cNvSpPr>
            <a:spLocks xmlns:a="http://schemas.openxmlformats.org/drawingml/2006/main" noGrp="1"/>
          </p:cNvSpPr>
          <p:nvPr/>
        </p:nvSpPr>
        <p:spPr>
          <a:xfrm xmlns:a="http://schemas.openxmlformats.org/drawingml/2006/main">
            <a:off x="685800" y="21621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Small effects and run-to-run stability remain uncertain</a:t>
            </a:r>
          </a:p>
        </p:txBody>
      </p:sp>
      <p:sp>
        <p:nvSpPr>
          <p:cNvPr id="5" name="text-4">
            <a:extLst xmlns:a="http://schemas.openxmlformats.org/drawingml/2006/main">
              <a:ext uri="{FF2B5EF4-FFF2-40B4-BE49-F238E27FC236}">
                <a16:creationId xmlns:a16="http://schemas.microsoft.com/office/drawing/2014/main" id="{C7F805A4-F421-40C4-B334-0BC7244FA808}"/>
              </a:ext>
            </a:extLst>
          </p:cNvPr>
          <p:cNvSpPr>
            <a:spLocks xmlns:a="http://schemas.openxmlformats.org/drawingml/2006/main" noGrp="1"/>
          </p:cNvSpPr>
          <p:nvPr/>
        </p:nvSpPr>
        <p:spPr>
          <a:xfrm xmlns:a="http://schemas.openxmlformats.org/drawingml/2006/main">
            <a:off x="685800" y="27717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Limited complexity coverage</a:t>
            </a:r>
          </a:p>
        </p:txBody>
      </p:sp>
      <p:sp>
        <p:nvSpPr>
          <p:cNvPr id="6" name="text-5">
            <a:extLst xmlns:a="http://schemas.openxmlformats.org/drawingml/2006/main">
              <a:ext uri="{FF2B5EF4-FFF2-40B4-BE49-F238E27FC236}">
                <a16:creationId xmlns:a16="http://schemas.microsoft.com/office/drawing/2014/main" id="{27240DA4-5934-4D00-9795-C1551D672199}"/>
              </a:ext>
            </a:extLst>
          </p:cNvPr>
          <p:cNvSpPr>
            <a:spLocks xmlns:a="http://schemas.openxmlformats.org/drawingml/2006/main" noGrp="1"/>
          </p:cNvSpPr>
          <p:nvPr/>
        </p:nvSpPr>
        <p:spPr>
          <a:xfrm xmlns:a="http://schemas.openxmlformats.org/drawingml/2006/main">
            <a:off x="685800" y="32194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19 of 24 core patches change one source file</a:t>
            </a:r>
          </a:p>
        </p:txBody>
      </p:sp>
      <p:sp>
        <p:nvSpPr>
          <p:cNvPr id="7" name="text-6">
            <a:extLst xmlns:a="http://schemas.openxmlformats.org/drawingml/2006/main">
              <a:ext uri="{FF2B5EF4-FFF2-40B4-BE49-F238E27FC236}">
                <a16:creationId xmlns:a16="http://schemas.microsoft.com/office/drawing/2014/main" id="{3AD93FD8-A68C-4A24-B72F-0E15F7741469}"/>
              </a:ext>
            </a:extLst>
          </p:cNvPr>
          <p:cNvSpPr>
            <a:spLocks xmlns:a="http://schemas.openxmlformats.org/drawingml/2006/main" noGrp="1"/>
          </p:cNvSpPr>
          <p:nvPr/>
        </p:nvSpPr>
        <p:spPr>
          <a:xfrm xmlns:a="http://schemas.openxmlformats.org/drawingml/2006/main">
            <a:off x="685800" y="38290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Development exposure</a:t>
            </a:r>
          </a:p>
        </p:txBody>
      </p:sp>
      <p:sp>
        <p:nvSpPr>
          <p:cNvPr id="8" name="text-7">
            <a:extLst xmlns:a="http://schemas.openxmlformats.org/drawingml/2006/main">
              <a:ext uri="{FF2B5EF4-FFF2-40B4-BE49-F238E27FC236}">
                <a16:creationId xmlns:a16="http://schemas.microsoft.com/office/drawing/2014/main" id="{E3C8BF0D-93DF-4D14-97E4-3443E347BBC5}"/>
              </a:ext>
            </a:extLst>
          </p:cNvPr>
          <p:cNvSpPr>
            <a:spLocks xmlns:a="http://schemas.openxmlformats.org/drawingml/2006/main" noGrp="1"/>
          </p:cNvSpPr>
          <p:nvPr/>
        </p:nvSpPr>
        <p:spPr>
          <a:xfrm xmlns:a="http://schemas.openxmlformats.org/drawingml/2006/main">
            <a:off x="685800" y="42767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20 of 39 shared tasks appeared in exploratory runs</a:t>
            </a:r>
          </a:p>
        </p:txBody>
      </p:sp>
      <p:sp>
        <p:nvSpPr>
          <p:cNvPr id="9" name="text-8">
            <a:extLst xmlns:a="http://schemas.openxmlformats.org/drawingml/2006/main">
              <a:ext uri="{FF2B5EF4-FFF2-40B4-BE49-F238E27FC236}">
                <a16:creationId xmlns:a16="http://schemas.microsoft.com/office/drawing/2014/main" id="{DC72674C-0140-46F8-BC97-1F4CD9B01FDB}"/>
              </a:ext>
            </a:extLst>
          </p:cNvPr>
          <p:cNvSpPr>
            <a:spLocks xmlns:a="http://schemas.openxmlformats.org/drawingml/2006/main" noGrp="1"/>
          </p:cNvSpPr>
          <p:nvPr/>
        </p:nvSpPr>
        <p:spPr>
          <a:xfrm xmlns:a="http://schemas.openxmlformats.org/drawingml/2006/main">
            <a:off x="685800" y="48863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3D"/>
                </a:solidFill>
                <a:latin typeface="Helvetica Neue"/>
                <a:ea typeface="Helvetica Neue"/>
                <a:cs typeface="Helvetica Neue"/>
              </a:defRPr>
            </a:pPr>
            <a:r>
              <a:rPr sz="2325" b="1">
                <a:solidFill>
                  <a:srgbClr val="17283D"/>
                </a:solidFill>
                <a:latin typeface="Helvetica Neue"/>
                <a:ea typeface="Helvetica Neue"/>
                <a:cs typeface="Helvetica Neue"/>
              </a:rPr>
              <a:t>Rubric quality review and reproduction</a:t>
            </a:r>
          </a:p>
        </p:txBody>
      </p:sp>
      <p:sp>
        <p:nvSpPr>
          <p:cNvPr id="10" name="text-9">
            <a:extLst xmlns:a="http://schemas.openxmlformats.org/drawingml/2006/main">
              <a:ext uri="{FF2B5EF4-FFF2-40B4-BE49-F238E27FC236}">
                <a16:creationId xmlns:a16="http://schemas.microsoft.com/office/drawing/2014/main" id="{EA85CA7F-7326-485F-B87A-617BAF8F6C27}"/>
              </a:ext>
            </a:extLst>
          </p:cNvPr>
          <p:cNvSpPr>
            <a:spLocks xmlns:a="http://schemas.openxmlformats.org/drawingml/2006/main" noGrp="1"/>
          </p:cNvSpPr>
          <p:nvPr/>
        </p:nvSpPr>
        <p:spPr>
          <a:xfrm xmlns:a="http://schemas.openxmlformats.org/drawingml/2006/main">
            <a:off x="685800" y="53340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No rubric scores for 102 final runs. Dataset packaging remains incomplete.</a:t>
            </a:r>
          </a:p>
        </p:txBody>
      </p:sp>
    </p:spTree>
    <p:extLst>
      <p:ext uri="{BB962C8B-B14F-4D97-AF65-F5344CB8AC3E}">
        <p14:creationId xmlns:p14="http://schemas.microsoft.com/office/powerpoint/2010/main" val="656935349"/>
      </p:ext>
    </p:extLst>
  </p:cSld>
</p:sld>
</file>

<file path=ppt/slides/slide1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DCC7FA41-8ED6-4D31-8F8E-044D370393C9}"/>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Kernel v2: initial comparisons</a:t>
            </a:r>
          </a:p>
        </p:txBody>
      </p:sp>
      <p:sp>
        <p:nvSpPr>
          <p:cNvPr id="2" name="slide-number">
            <a:extLst xmlns:a="http://schemas.openxmlformats.org/drawingml/2006/main">
              <a:ext uri="{FF2B5EF4-FFF2-40B4-BE49-F238E27FC236}">
                <a16:creationId xmlns:a16="http://schemas.microsoft.com/office/drawing/2014/main" id="{E2A70A21-62F2-402B-B218-AB7F5E1CB45D}"/>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17</a:t>
            </a:r>
          </a:p>
        </p:txBody>
      </p:sp>
      <p:sp>
        <p:nvSpPr>
          <p:cNvPr id="3" name="text-2">
            <a:extLst xmlns:a="http://schemas.openxmlformats.org/drawingml/2006/main">
              <a:ext uri="{FF2B5EF4-FFF2-40B4-BE49-F238E27FC236}">
                <a16:creationId xmlns:a16="http://schemas.microsoft.com/office/drawing/2014/main" id="{4682909A-9ADC-4987-BA68-489087B17B27}"/>
              </a:ext>
            </a:extLst>
          </p:cNvPr>
          <p:cNvSpPr>
            <a:spLocks xmlns:a="http://schemas.openxmlformats.org/drawingml/2006/main" noGrp="1"/>
          </p:cNvSpPr>
          <p:nvPr/>
        </p:nvSpPr>
        <p:spPr>
          <a:xfrm xmlns:a="http://schemas.openxmlformats.org/drawingml/2006/main">
            <a:off x="685800" y="15049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16174"/>
                </a:solidFill>
                <a:latin typeface="Helvetica Neue"/>
                <a:ea typeface="Helvetica Neue"/>
                <a:cs typeface="Helvetica Neue"/>
              </a:defRPr>
            </a:pPr>
            <a:r>
              <a:rPr sz="2325" b="0">
                <a:solidFill>
                  <a:srgbClr val="516174"/>
                </a:solidFill>
                <a:latin typeface="Helvetica Neue"/>
                <a:ea typeface="Helvetica Neue"/>
                <a:cs typeface="Helvetica Neue"/>
              </a:rPr>
              <a:t>Initial core-small comparisons at a 50-step cap</a:t>
            </a:r>
          </a:p>
        </p:txBody>
      </p:sp>
      <p:graphicFrame>
        <p:nvGraphicFramePr>
          <p:cNvPr id="10" name=""/>
          <p:cNvGraphicFramePr/>
          <p:nvPr/>
        </p:nvGraphicFramePr>
        <p:xfrm>
          <a:off xmlns:a="http://schemas.openxmlformats.org/drawingml/2006/main" x="685800" y="2266950"/>
          <a:ext xmlns:a="http://schemas.openxmlformats.org/drawingml/2006/main" cx="10820400" cy="3048000"/>
        </p:xfrm>
        <a:graphic xmlns:a="http://schemas.openxmlformats.org/drawingml/2006/main">
          <a:graphicData uri="http://schemas.openxmlformats.org/drawingml/2006/table">
            <a:tbl>
              <a:tblPr firstRow="0" bandRow="0"/>
              <a:tblGrid>
                <a:gridCol w="5676900"/>
                <a:gridCol w="1714500"/>
                <a:gridCol w="1714500"/>
                <a:gridCol w="1714500"/>
              </a:tblGrid>
              <a:tr h="619125">
                <a:tc>
                  <a:txBody>
                    <a:bodyPr>
                      <a:noAutofit/>
                    </a:bodyPr>
                    <a:lstStyle/>
                    <a:p>
                      <a:pPr algn="l"/>
                      <a:r>
                        <a:rPr sz="1875" b="1">
                          <a:solidFill>
                            <a:srgbClr val="FFFFFF"/>
                          </a:solidFill>
                          <a:latin typeface="Helvetica Neue"/>
                          <a:ea typeface="Helvetica Neue"/>
                          <a:cs typeface="Helvetica Neue"/>
                        </a:rPr>
                        <a:t>Model configuration</a:t>
                      </a:r>
                    </a:p>
                  </a:txBody>
                  <a:tcPr marL="152400" marR="114300" marT="123825" marB="114300" anchor="ctr">
                    <a:solidFill>
                      <a:srgbClr val="17283D"/>
                    </a:solidFill>
                  </a:tcPr>
                </a:tc>
                <a:tc>
                  <a:txBody>
                    <a:bodyPr>
                      <a:noAutofit/>
                    </a:bodyPr>
                    <a:lstStyle/>
                    <a:p>
                      <a:pPr algn="l"/>
                      <a:r>
                        <a:rPr sz="1875"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1875" b="1">
                          <a:solidFill>
                            <a:srgbClr val="FFFFFF"/>
                          </a:solidFill>
                          <a:latin typeface="Helvetica Neue"/>
                          <a:ea typeface="Helvetica Neue"/>
                          <a:cs typeface="Helvetica Neue"/>
                        </a:rPr>
                        <a:t>Graph</a:t>
                      </a:r>
                    </a:p>
                  </a:txBody>
                  <a:tcPr marL="152400" marR="114300" marT="123825" marB="114300" anchor="ctr">
                    <a:solidFill>
                      <a:srgbClr val="17283D"/>
                    </a:solidFill>
                  </a:tcPr>
                </a:tc>
                <a:tc>
                  <a:txBody>
                    <a:bodyPr>
                      <a:noAutofit/>
                    </a:bodyPr>
                    <a:lstStyle/>
                    <a:p>
                      <a:pPr algn="l"/>
                      <a:r>
                        <a:rPr sz="1875" b="1">
                          <a:solidFill>
                            <a:srgbClr val="FFFFFF"/>
                          </a:solidFill>
                          <a:latin typeface="Helvetica Neue"/>
                          <a:ea typeface="Helvetica Neue"/>
                          <a:cs typeface="Helvetica Neue"/>
                        </a:rPr>
                        <a:t>Guarded</a:t>
                      </a:r>
                    </a:p>
                  </a:txBody>
                  <a:tcPr marL="152400" marR="114300" marT="123825" marB="114300" anchor="ctr">
                    <a:solidFill>
                      <a:srgbClr val="17283D"/>
                    </a:solidFill>
                  </a:tcPr>
                </a:tc>
              </a:tr>
              <a:tr h="790575">
                <a:tc>
                  <a:txBody>
                    <a:bodyPr>
                      <a:noAutofit/>
                    </a:bodyPr>
                    <a:lstStyle/>
                    <a:p>
                      <a:pPr algn="l"/>
                      <a:r>
                        <a:rPr sz="1950" b="0">
                          <a:solidFill>
                            <a:srgbClr val="17283D"/>
                          </a:solidFill>
                          <a:latin typeface="Helvetica Neue"/>
                          <a:ea typeface="Helvetica Neue"/>
                          <a:cs typeface="Helvetica Neue"/>
                        </a:rPr>
                        <a:t>GLM-5.2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10/12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9/12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10/12</a:t>
                      </a:r>
                    </a:p>
                  </a:txBody>
                  <a:tcPr marL="152400" marR="114300" marT="123825" marB="114300" anchor="ctr">
                    <a:solidFill>
                      <a:srgbClr val="FFFFFF"/>
                    </a:solidFill>
                  </a:tcPr>
                </a:tc>
              </a:tr>
              <a:tr h="790575">
                <a:tc>
                  <a:txBody>
                    <a:bodyPr>
                      <a:noAutofit/>
                    </a:bodyPr>
                    <a:lstStyle/>
                    <a:p>
                      <a:pPr algn="l"/>
                      <a:r>
                        <a:rPr sz="1950" b="0">
                          <a:solidFill>
                            <a:srgbClr val="17283D"/>
                          </a:solidFill>
                          <a:latin typeface="Helvetica Neue"/>
                          <a:ea typeface="Helvetica Neue"/>
                          <a:cs typeface="Helvetica Neue"/>
                        </a:rPr>
                        <a:t>DeepSeek V4 Flash</a:t>
                      </a:r>
                    </a:p>
                  </a:txBody>
                  <a:tcPr marL="152400" marR="114300" marT="123825" marB="114300" anchor="ctr">
                    <a:solidFill>
                      <a:srgbClr val="EFF2F6"/>
                    </a:solidFill>
                  </a:tcPr>
                </a:tc>
                <a:tc>
                  <a:txBody>
                    <a:bodyPr>
                      <a:noAutofit/>
                    </a:bodyPr>
                    <a:lstStyle/>
                    <a:p>
                      <a:pPr algn="l"/>
                      <a:r>
                        <a:rPr sz="1950" b="0">
                          <a:solidFill>
                            <a:srgbClr val="17283D"/>
                          </a:solidFill>
                          <a:latin typeface="Helvetica Neue"/>
                          <a:ea typeface="Helvetica Neue"/>
                          <a:cs typeface="Helvetica Neue"/>
                        </a:rPr>
                        <a:t>9/12</a:t>
                      </a:r>
                    </a:p>
                  </a:txBody>
                  <a:tcPr marL="152400" marR="114300" marT="123825" marB="114300" anchor="ctr">
                    <a:solidFill>
                      <a:srgbClr val="EFF2F6"/>
                    </a:solidFill>
                  </a:tcPr>
                </a:tc>
                <a:tc>
                  <a:txBody>
                    <a:bodyPr>
                      <a:noAutofit/>
                    </a:bodyPr>
                    <a:lstStyle/>
                    <a:p>
                      <a:pPr algn="l"/>
                      <a:r>
                        <a:rPr sz="1950" b="0">
                          <a:solidFill>
                            <a:srgbClr val="17283D"/>
                          </a:solidFill>
                          <a:latin typeface="Helvetica Neue"/>
                          <a:ea typeface="Helvetica Neue"/>
                          <a:cs typeface="Helvetica Neue"/>
                        </a:rPr>
                        <a:t>11/12</a:t>
                      </a:r>
                    </a:p>
                  </a:txBody>
                  <a:tcPr marL="152400" marR="114300" marT="123825" marB="114300" anchor="ctr">
                    <a:solidFill>
                      <a:srgbClr val="EFF2F6"/>
                    </a:solidFill>
                  </a:tcPr>
                </a:tc>
                <a:tc>
                  <a:txBody>
                    <a:bodyPr>
                      <a:noAutofit/>
                    </a:bodyPr>
                    <a:lstStyle/>
                    <a:p>
                      <a:pPr algn="l"/>
                      <a:r>
                        <a:rPr sz="1950" b="0">
                          <a:solidFill>
                            <a:srgbClr val="17283D"/>
                          </a:solidFill>
                          <a:latin typeface="Helvetica Neue"/>
                          <a:ea typeface="Helvetica Neue"/>
                          <a:cs typeface="Helvetica Neue"/>
                        </a:rPr>
                        <a:t>11/12</a:t>
                      </a:r>
                    </a:p>
                  </a:txBody>
                  <a:tcPr marL="152400" marR="114300" marT="123825" marB="114300" anchor="ctr">
                    <a:solidFill>
                      <a:srgbClr val="EFF2F6"/>
                    </a:solidFill>
                  </a:tcPr>
                </a:tc>
              </a:tr>
              <a:tr h="790575">
                <a:tc>
                  <a:txBody>
                    <a:bodyPr>
                      <a:noAutofit/>
                    </a:bodyPr>
                    <a:lstStyle/>
                    <a:p>
                      <a:pPr algn="l"/>
                      <a:r>
                        <a:rPr sz="1950" b="0">
                          <a:solidFill>
                            <a:srgbClr val="17283D"/>
                          </a:solidFill>
                          <a:latin typeface="Helvetica Neue"/>
                          <a:ea typeface="Helvetica Neue"/>
                          <a:cs typeface="Helvetica Neue"/>
                        </a:rPr>
                        <a:t>GPT-5.1 Codex Mini</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9/12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7/12</a:t>
                      </a:r>
                    </a:p>
                  </a:txBody>
                  <a:tcPr marL="152400" marR="114300" marT="123825" marB="114300" anchor="ctr">
                    <a:solidFill>
                      <a:srgbClr val="FFFFFF"/>
                    </a:solidFill>
                  </a:tcPr>
                </a:tc>
                <a:tc>
                  <a:txBody>
                    <a:bodyPr>
                      <a:noAutofit/>
                    </a:bodyPr>
                    <a:lstStyle/>
                    <a:p>
                      <a:pPr algn="l"/>
                      <a:r>
                        <a:rPr sz="1950" b="0">
                          <a:solidFill>
                            <a:srgbClr val="17283D"/>
                          </a:solidFill>
                          <a:latin typeface="Helvetica Neue"/>
                          <a:ea typeface="Helvetica Neue"/>
                          <a:cs typeface="Helvetica Neue"/>
                        </a:rPr>
                        <a:t>8/12</a:t>
                      </a:r>
                    </a:p>
                  </a:txBody>
                  <a:tcPr marL="152400" marR="114300" marT="123825"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5967A918-18A6-4E84-A3DE-C8090DCC77AB}"/>
              </a:ext>
            </a:extLst>
          </p:cNvPr>
          <p:cNvSpPr>
            <a:spLocks xmlns:a="http://schemas.openxmlformats.org/drawingml/2006/main" noGrp="1"/>
          </p:cNvSpPr>
          <p:nvPr/>
        </p:nvSpPr>
        <p:spPr>
          <a:xfrm xmlns:a="http://schemas.openxmlformats.org/drawingml/2006/main">
            <a:off x="685800" y="55626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468C9"/>
                </a:solidFill>
                <a:latin typeface="Helvetica Neue"/>
                <a:ea typeface="Helvetica Neue"/>
                <a:cs typeface="Helvetica Neue"/>
              </a:defRPr>
            </a:pPr>
            <a:r>
              <a:rPr sz="2250" b="1">
                <a:solidFill>
                  <a:srgbClr val="2468C9"/>
                </a:solidFill>
                <a:latin typeface="Helvetica Neue"/>
                <a:ea typeface="Helvetica Neue"/>
                <a:cs typeface="Helvetica Neue"/>
              </a:rPr>
              <a:t>Architecture rankings vary across configurations.</a:t>
            </a:r>
          </a:p>
        </p:txBody>
      </p:sp>
      <p:sp>
        <p:nvSpPr>
          <p:cNvPr id="6" name="text-4">
            <a:extLst xmlns:a="http://schemas.openxmlformats.org/drawingml/2006/main">
              <a:ext uri="{FF2B5EF4-FFF2-40B4-BE49-F238E27FC236}">
                <a16:creationId xmlns:a16="http://schemas.microsoft.com/office/drawing/2014/main" id="{6061F7D0-80A9-43DB-AE89-A300C38EBC3C}"/>
              </a:ext>
            </a:extLst>
          </p:cNvPr>
          <p:cNvSpPr>
            <a:spLocks xmlns:a="http://schemas.openxmlformats.org/drawingml/2006/main" noGrp="1"/>
          </p:cNvSpPr>
          <p:nvPr/>
        </p:nvSpPr>
        <p:spPr>
          <a:xfrm xmlns:a="http://schemas.openxmlformats.org/drawingml/2006/main">
            <a:off x="685800" y="60102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16174"/>
                </a:solidFill>
                <a:latin typeface="Helvetica Neue"/>
                <a:ea typeface="Helvetica Neue"/>
                <a:cs typeface="Helvetica Neue"/>
              </a:defRPr>
            </a:pPr>
            <a:r>
              <a:rPr sz="1500" b="0">
                <a:solidFill>
                  <a:srgbClr val="516174"/>
                </a:solidFill>
                <a:latin typeface="Helvetica Neue"/>
                <a:ea typeface="Helvetica Neue"/>
                <a:cs typeface="Helvetica Neue"/>
              </a:rPr>
              <a:t>Different reasoning and compaction settings. These results do not extend the master totals.</a:t>
            </a:r>
          </a:p>
        </p:txBody>
      </p:sp>
    </p:spTree>
    <p:extLst>
      <p:ext uri="{BB962C8B-B14F-4D97-AF65-F5344CB8AC3E}">
        <p14:creationId xmlns:p14="http://schemas.microsoft.com/office/powerpoint/2010/main" val="1888178336"/>
      </p:ext>
    </p:extLst>
  </p:cSld>
</p:sld>
</file>

<file path=ppt/slides/slide1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96AFC7A3-F1C0-4AEC-8506-460275607E2A}"/>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Repeated runs: a smaller graph advantage</a:t>
            </a:r>
          </a:p>
        </p:txBody>
      </p:sp>
      <p:sp>
        <p:nvSpPr>
          <p:cNvPr id="2" name="slide-number">
            <a:extLst xmlns:a="http://schemas.openxmlformats.org/drawingml/2006/main">
              <a:ext uri="{FF2B5EF4-FFF2-40B4-BE49-F238E27FC236}">
                <a16:creationId xmlns:a16="http://schemas.microsoft.com/office/drawing/2014/main" id="{511E03EE-CD93-4804-98B8-65CBB133CA50}"/>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18</a:t>
            </a:r>
          </a:p>
        </p:txBody>
      </p:sp>
      <p:sp>
        <p:nvSpPr>
          <p:cNvPr id="3" name="text-2">
            <a:extLst xmlns:a="http://schemas.openxmlformats.org/drawingml/2006/main">
              <a:ext uri="{FF2B5EF4-FFF2-40B4-BE49-F238E27FC236}">
                <a16:creationId xmlns:a16="http://schemas.microsoft.com/office/drawing/2014/main" id="{A6DCF6CC-23D3-43C6-A847-1E3EBE74A1DC}"/>
              </a:ext>
            </a:extLst>
          </p:cNvPr>
          <p:cNvSpPr>
            <a:spLocks xmlns:a="http://schemas.openxmlformats.org/drawingml/2006/main" noGrp="1"/>
          </p:cNvSpPr>
          <p:nvPr/>
        </p:nvSpPr>
        <p:spPr>
          <a:xfrm xmlns:a="http://schemas.openxmlformats.org/drawingml/2006/main">
            <a:off x="685800" y="147637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174"/>
                </a:solidFill>
                <a:latin typeface="Helvetica Neue"/>
                <a:ea typeface="Helvetica Neue"/>
                <a:cs typeface="Helvetica Neue"/>
              </a:defRPr>
            </a:pPr>
            <a:r>
              <a:rPr sz="2175" b="0">
                <a:solidFill>
                  <a:srgbClr val="516174"/>
                </a:solidFill>
                <a:latin typeface="Helvetica Neue"/>
                <a:ea typeface="Helvetica Neue"/>
                <a:cs typeface="Helvetica Neue"/>
              </a:rPr>
              <a:t>DeepSeek V4 Flash. The same 12 tasks and 50-step limit.</a:t>
            </a:r>
          </a:p>
        </p:txBody>
      </p:sp>
      <p:graphicFrame>
        <p:nvGraphicFramePr>
          <p:cNvPr id="10" name=""/>
          <p:cNvGraphicFramePr/>
          <p:nvPr/>
        </p:nvGraphicFramePr>
        <p:xfrm>
          <a:off xmlns:a="http://schemas.openxmlformats.org/drawingml/2006/main" x="685800" y="2114550"/>
          <a:ext xmlns:a="http://schemas.openxmlformats.org/drawingml/2006/main" cx="10820400" cy="3390900"/>
        </p:xfrm>
        <a:graphic xmlns:a="http://schemas.openxmlformats.org/drawingml/2006/main">
          <a:graphicData uri="http://schemas.openxmlformats.org/drawingml/2006/table">
            <a:tbl>
              <a:tblPr firstRow="0" bandRow="0"/>
              <a:tblGrid>
                <a:gridCol w="4000500"/>
                <a:gridCol w="2095500"/>
                <a:gridCol w="2095500"/>
                <a:gridCol w="2628900"/>
              </a:tblGrid>
              <a:tr h="609600">
                <a:tc>
                  <a:txBody>
                    <a:bodyPr>
                      <a:noAutofit/>
                    </a:bodyPr>
                    <a:lstStyle/>
                    <a:p>
                      <a:pPr algn="l"/>
                      <a:r>
                        <a:rPr sz="2025" b="1">
                          <a:solidFill>
                            <a:srgbClr val="FFFFFF"/>
                          </a:solidFill>
                          <a:latin typeface="Helvetica Neue"/>
                          <a:ea typeface="Helvetica Neue"/>
                          <a:cs typeface="Helvetica Neue"/>
                        </a:rPr>
                        <a:t>Attempt</a:t>
                      </a:r>
                    </a:p>
                  </a:txBody>
                  <a:tcPr marL="152400" marR="114300" marT="123825" marB="114300" anchor="ctr">
                    <a:solidFill>
                      <a:srgbClr val="17283D"/>
                    </a:solidFill>
                  </a:tcPr>
                </a:tc>
                <a:tc>
                  <a:txBody>
                    <a:bodyPr>
                      <a:noAutofit/>
                    </a:bodyPr>
                    <a:lstStyle/>
                    <a:p>
                      <a:pPr algn="l"/>
                      <a:r>
                        <a:rPr sz="2025"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2025" b="1">
                          <a:solidFill>
                            <a:srgbClr val="FFFFFF"/>
                          </a:solidFill>
                          <a:latin typeface="Helvetica Neue"/>
                          <a:ea typeface="Helvetica Neue"/>
                          <a:cs typeface="Helvetica Neue"/>
                        </a:rPr>
                        <a:t>Graph</a:t>
                      </a:r>
                    </a:p>
                  </a:txBody>
                  <a:tcPr marL="152400" marR="114300" marT="123825" marB="114300" anchor="ctr">
                    <a:solidFill>
                      <a:srgbClr val="17283D"/>
                    </a:solidFill>
                  </a:tcPr>
                </a:tc>
                <a:tc>
                  <a:txBody>
                    <a:bodyPr>
                      <a:noAutofit/>
                    </a:bodyPr>
                    <a:lstStyle/>
                    <a:p>
                      <a:pPr algn="l"/>
                      <a:r>
                        <a:rPr sz="2025" b="1">
                          <a:solidFill>
                            <a:srgbClr val="FFFFFF"/>
                          </a:solidFill>
                          <a:latin typeface="Helvetica Neue"/>
                          <a:ea typeface="Helvetica Neue"/>
                          <a:cs typeface="Helvetica Neue"/>
                        </a:rPr>
                        <a:t>Graph lead</a:t>
                      </a:r>
                    </a:p>
                  </a:txBody>
                  <a:tcPr marL="152400" marR="114300" marT="123825" marB="114300" anchor="ctr">
                    <a:solidFill>
                      <a:srgbClr val="17283D"/>
                    </a:solidFill>
                  </a:tcPr>
                </a:tc>
              </a:tr>
              <a:tr h="695325">
                <a:tc>
                  <a:txBody>
                    <a:bodyPr>
                      <a:noAutofit/>
                    </a:bodyPr>
                    <a:lstStyle/>
                    <a:p>
                      <a:pPr algn="l"/>
                      <a:r>
                        <a:rPr sz="2100" b="0">
                          <a:solidFill>
                            <a:srgbClr val="17283D"/>
                          </a:solidFill>
                          <a:latin typeface="Helvetica Neue"/>
                          <a:ea typeface="Helvetica Neue"/>
                          <a:cs typeface="Helvetica Neue"/>
                        </a:rPr>
                        <a:t>Original</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9/12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11/12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+2 tasks</a:t>
                      </a:r>
                    </a:p>
                  </a:txBody>
                  <a:tcPr marL="152400" marR="114300" marT="123825" marB="114300" anchor="ctr">
                    <a:solidFill>
                      <a:srgbClr val="FFFFFF"/>
                    </a:solidFill>
                  </a:tcPr>
                </a:tc>
              </a:tr>
              <a:tr h="695325">
                <a:tc>
                  <a:txBody>
                    <a:bodyPr>
                      <a:noAutofit/>
                    </a:bodyPr>
                    <a:lstStyle/>
                    <a:p>
                      <a:pPr algn="l"/>
                      <a:r>
                        <a:rPr sz="2100" b="0">
                          <a:solidFill>
                            <a:srgbClr val="17283D"/>
                          </a:solidFill>
                          <a:latin typeface="Helvetica Neue"/>
                          <a:ea typeface="Helvetica Neue"/>
                          <a:cs typeface="Helvetica Neue"/>
                        </a:rPr>
                        <a:t>Repeat 1</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10/12</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10/12</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Tie</a:t>
                      </a:r>
                    </a:p>
                  </a:txBody>
                  <a:tcPr marL="152400" marR="114300" marT="123825" marB="114300" anchor="ctr">
                    <a:solidFill>
                      <a:srgbClr val="EFF2F6"/>
                    </a:solidFill>
                  </a:tcPr>
                </a:tc>
              </a:tr>
              <a:tr h="695325">
                <a:tc>
                  <a:txBody>
                    <a:bodyPr>
                      <a:noAutofit/>
                    </a:bodyPr>
                    <a:lstStyle/>
                    <a:p>
                      <a:pPr algn="l"/>
                      <a:r>
                        <a:rPr sz="2100" b="0">
                          <a:solidFill>
                            <a:srgbClr val="17283D"/>
                          </a:solidFill>
                          <a:latin typeface="Helvetica Neue"/>
                          <a:ea typeface="Helvetica Neue"/>
                          <a:cs typeface="Helvetica Neue"/>
                        </a:rPr>
                        <a:t>Repeat 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10/12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11/12</a:t>
                      </a:r>
                    </a:p>
                  </a:txBody>
                  <a:tcPr marL="152400" marR="114300" marT="123825" marB="114300" anchor="ctr">
                    <a:solidFill>
                      <a:srgbClr val="FFFFFF"/>
                    </a:solidFill>
                  </a:tcPr>
                </a:tc>
                <a:tc>
                  <a:txBody>
                    <a:bodyPr>
                      <a:noAutofit/>
                    </a:bodyPr>
                    <a:lstStyle/>
                    <a:p>
                      <a:pPr algn="l"/>
                      <a:r>
                        <a:rPr sz="2100" b="0">
                          <a:solidFill>
                            <a:srgbClr val="17283D"/>
                          </a:solidFill>
                          <a:latin typeface="Helvetica Neue"/>
                          <a:ea typeface="Helvetica Neue"/>
                          <a:cs typeface="Helvetica Neue"/>
                        </a:rPr>
                        <a:t>+1 task</a:t>
                      </a:r>
                    </a:p>
                  </a:txBody>
                  <a:tcPr marL="152400" marR="114300" marT="123825" marB="114300" anchor="ctr">
                    <a:solidFill>
                      <a:srgbClr val="FFFFFF"/>
                    </a:solidFill>
                  </a:tcPr>
                </a:tc>
              </a:tr>
              <a:tr h="695325">
                <a:tc>
                  <a:txBody>
                    <a:bodyPr>
                      <a:noAutofit/>
                    </a:bodyPr>
                    <a:lstStyle/>
                    <a:p>
                      <a:pPr algn="l"/>
                      <a:r>
                        <a:rPr sz="2100" b="0">
                          <a:solidFill>
                            <a:srgbClr val="17283D"/>
                          </a:solidFill>
                          <a:latin typeface="Helvetica Neue"/>
                          <a:ea typeface="Helvetica Neue"/>
                          <a:cs typeface="Helvetica Neue"/>
                        </a:rPr>
                        <a:t>All attempts</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29/36</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32/36</a:t>
                      </a:r>
                    </a:p>
                  </a:txBody>
                  <a:tcPr marL="152400" marR="114300" marT="123825" marB="114300" anchor="ctr">
                    <a:solidFill>
                      <a:srgbClr val="EFF2F6"/>
                    </a:solidFill>
                  </a:tcPr>
                </a:tc>
                <a:tc>
                  <a:txBody>
                    <a:bodyPr>
                      <a:noAutofit/>
                    </a:bodyPr>
                    <a:lstStyle/>
                    <a:p>
                      <a:pPr algn="l"/>
                      <a:r>
                        <a:rPr sz="2100" b="0">
                          <a:solidFill>
                            <a:srgbClr val="17283D"/>
                          </a:solidFill>
                          <a:latin typeface="Helvetica Neue"/>
                          <a:ea typeface="Helvetica Neue"/>
                          <a:cs typeface="Helvetica Neue"/>
                        </a:rPr>
                        <a:t>+3 outcomes</a:t>
                      </a:r>
                    </a:p>
                  </a:txBody>
                  <a:tcPr marL="152400" marR="114300" marT="123825" marB="114300"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49BC79DA-C891-4B8E-9086-C6A165A30BC5}"/>
              </a:ext>
            </a:extLst>
          </p:cNvPr>
          <p:cNvSpPr>
            <a:spLocks xmlns:a="http://schemas.openxmlformats.org/drawingml/2006/main" noGrp="1"/>
          </p:cNvSpPr>
          <p:nvPr/>
        </p:nvSpPr>
        <p:spPr>
          <a:xfrm xmlns:a="http://schemas.openxmlformats.org/drawingml/2006/main">
            <a:off x="685800" y="57150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468C9"/>
                </a:solidFill>
                <a:latin typeface="Helvetica Neue"/>
                <a:ea typeface="Helvetica Neue"/>
                <a:cs typeface="Helvetica Neue"/>
              </a:defRPr>
            </a:pPr>
            <a:r>
              <a:rPr sz="2100" b="1">
                <a:solidFill>
                  <a:srgbClr val="2468C9"/>
                </a:solidFill>
                <a:latin typeface="Helvetica Neue"/>
                <a:ea typeface="Helvetica Neue"/>
                <a:cs typeface="Helvetica Neue"/>
              </a:rPr>
              <a:t>Solved in all three attempts: single 7/12 tasks, graph 10/12.</a:t>
            </a:r>
          </a:p>
        </p:txBody>
      </p:sp>
      <p:sp>
        <p:nvSpPr>
          <p:cNvPr id="6" name="text-4">
            <a:extLst xmlns:a="http://schemas.openxmlformats.org/drawingml/2006/main">
              <a:ext uri="{FF2B5EF4-FFF2-40B4-BE49-F238E27FC236}">
                <a16:creationId xmlns:a16="http://schemas.microsoft.com/office/drawing/2014/main" id="{94EC56C2-E231-4D06-82EB-DA7D8EDD5F18}"/>
              </a:ext>
            </a:extLst>
          </p:cNvPr>
          <p:cNvSpPr>
            <a:spLocks xmlns:a="http://schemas.openxmlformats.org/drawingml/2006/main" noGrp="1"/>
          </p:cNvSpPr>
          <p:nvPr/>
        </p:nvSpPr>
        <p:spPr>
          <a:xfrm xmlns:a="http://schemas.openxmlformats.org/drawingml/2006/main">
            <a:off x="685800" y="61722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174"/>
                </a:solidFill>
                <a:latin typeface="Helvetica Neue"/>
                <a:ea typeface="Helvetica Neue"/>
                <a:cs typeface="Helvetica Neue"/>
              </a:defRPr>
            </a:pPr>
            <a:r>
              <a:rPr sz="1650" b="0">
                <a:solidFill>
                  <a:srgbClr val="516174"/>
                </a:solidFill>
                <a:latin typeface="Helvetica Neue"/>
                <a:ea typeface="Helvetica Neue"/>
                <a:cs typeface="Helvetica Neue"/>
              </a:rPr>
              <a:t>Repeated outcomes on 12 familiar tasks. Graph tied single in one repetition.</a:t>
            </a:r>
          </a:p>
        </p:txBody>
      </p:sp>
    </p:spTree>
    <p:extLst>
      <p:ext uri="{BB962C8B-B14F-4D97-AF65-F5344CB8AC3E}">
        <p14:creationId xmlns:p14="http://schemas.microsoft.com/office/powerpoint/2010/main" val="160178364"/>
      </p:ext>
    </p:extLst>
  </p:cSld>
</p:sld>
</file>

<file path=ppt/slides/slide1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A6104D41-532B-4DAE-B0D4-EDF3BAE38991}"/>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Single cost less in both new repetitions</a:t>
            </a:r>
          </a:p>
        </p:txBody>
      </p:sp>
      <p:sp>
        <p:nvSpPr>
          <p:cNvPr id="2" name="slide-number">
            <a:extLst xmlns:a="http://schemas.openxmlformats.org/drawingml/2006/main">
              <a:ext uri="{FF2B5EF4-FFF2-40B4-BE49-F238E27FC236}">
                <a16:creationId xmlns:a16="http://schemas.microsoft.com/office/drawing/2014/main" id="{E42EB1C6-DD29-4571-B991-2CF7F8E84C6A}"/>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19</a:t>
            </a:r>
          </a:p>
        </p:txBody>
      </p:sp>
      <p:sp>
        <p:nvSpPr>
          <p:cNvPr id="3" name="text-2">
            <a:extLst xmlns:a="http://schemas.openxmlformats.org/drawingml/2006/main">
              <a:ext uri="{FF2B5EF4-FFF2-40B4-BE49-F238E27FC236}">
                <a16:creationId xmlns:a16="http://schemas.microsoft.com/office/drawing/2014/main" id="{305EC12B-F77A-4807-97D8-5D0082ED09E5}"/>
              </a:ext>
            </a:extLst>
          </p:cNvPr>
          <p:cNvSpPr>
            <a:spLocks xmlns:a="http://schemas.openxmlformats.org/drawingml/2006/main" noGrp="1"/>
          </p:cNvSpPr>
          <p:nvPr/>
        </p:nvSpPr>
        <p:spPr>
          <a:xfrm xmlns:a="http://schemas.openxmlformats.org/drawingml/2006/main">
            <a:off x="685800" y="14859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174"/>
                </a:solidFill>
                <a:latin typeface="Helvetica Neue"/>
                <a:ea typeface="Helvetica Neue"/>
                <a:cs typeface="Helvetica Neue"/>
              </a:defRPr>
            </a:pPr>
            <a:r>
              <a:rPr sz="2250" b="0">
                <a:solidFill>
                  <a:srgbClr val="516174"/>
                </a:solidFill>
                <a:latin typeface="Helvetica Neue"/>
                <a:ea typeface="Helvetica Neue"/>
                <a:cs typeface="Helvetica Neue"/>
              </a:rPr>
              <a:t>Provider-billed LLM cost per successful outcome</a:t>
            </a:r>
          </a:p>
        </p:txBody>
      </p:sp>
      <p:graphicFrame>
        <p:nvGraphicFramePr>
          <p:cNvPr id="10" name=""/>
          <p:cNvGraphicFramePr/>
          <p:nvPr/>
        </p:nvGraphicFramePr>
        <p:xfrm>
          <a:off xmlns:a="http://schemas.openxmlformats.org/drawingml/2006/main" x="685800" y="2114550"/>
          <a:ext xmlns:a="http://schemas.openxmlformats.org/drawingml/2006/main" cx="10820400" cy="3390900"/>
        </p:xfrm>
        <a:graphic xmlns:a="http://schemas.openxmlformats.org/drawingml/2006/main">
          <a:graphicData uri="http://schemas.openxmlformats.org/drawingml/2006/table">
            <a:tbl>
              <a:tblPr firstRow="0" bandRow="0"/>
              <a:tblGrid>
                <a:gridCol w="5715000"/>
                <a:gridCol w="2552700"/>
                <a:gridCol w="2552700"/>
              </a:tblGrid>
              <a:tr h="609600">
                <a:tc>
                  <a:txBody>
                    <a:bodyPr>
                      <a:noAutofit/>
                    </a:bodyPr>
                    <a:lstStyle/>
                    <a:p>
                      <a:pPr algn="l"/>
                      <a:r>
                        <a:rPr sz="2100" b="1">
                          <a:solidFill>
                            <a:srgbClr val="FFFFFF"/>
                          </a:solidFill>
                          <a:latin typeface="Helvetica Neue"/>
                          <a:ea typeface="Helvetica Neue"/>
                          <a:cs typeface="Helvetica Neue"/>
                        </a:rPr>
                        <a:t>Attempt</a:t>
                      </a:r>
                    </a:p>
                  </a:txBody>
                  <a:tcPr marL="152400" marR="114300" marT="123825" marB="114300" anchor="ctr">
                    <a:solidFill>
                      <a:srgbClr val="17283D"/>
                    </a:solidFill>
                  </a:tcPr>
                </a:tc>
                <a:tc>
                  <a:txBody>
                    <a:bodyPr>
                      <a:noAutofit/>
                    </a:bodyPr>
                    <a:lstStyle/>
                    <a:p>
                      <a:pPr algn="l"/>
                      <a:r>
                        <a:rPr sz="2100" b="1">
                          <a:solidFill>
                            <a:srgbClr val="FFFFFF"/>
                          </a:solidFill>
                          <a:latin typeface="Helvetica Neue"/>
                          <a:ea typeface="Helvetica Neue"/>
                          <a:cs typeface="Helvetica Neue"/>
                        </a:rPr>
                        <a:t>Single</a:t>
                      </a:r>
                    </a:p>
                  </a:txBody>
                  <a:tcPr marL="152400" marR="114300" marT="123825" marB="114300" anchor="ctr">
                    <a:solidFill>
                      <a:srgbClr val="17283D"/>
                    </a:solidFill>
                  </a:tcPr>
                </a:tc>
                <a:tc>
                  <a:txBody>
                    <a:bodyPr>
                      <a:noAutofit/>
                    </a:bodyPr>
                    <a:lstStyle/>
                    <a:p>
                      <a:pPr algn="l"/>
                      <a:r>
                        <a:rPr sz="2100" b="1">
                          <a:solidFill>
                            <a:srgbClr val="FFFFFF"/>
                          </a:solidFill>
                          <a:latin typeface="Helvetica Neue"/>
                          <a:ea typeface="Helvetica Neue"/>
                          <a:cs typeface="Helvetica Neue"/>
                        </a:rPr>
                        <a:t>Graph</a:t>
                      </a:r>
                    </a:p>
                  </a:txBody>
                  <a:tcPr marL="152400" marR="114300" marT="123825" marB="114300" anchor="ctr">
                    <a:solidFill>
                      <a:srgbClr val="17283D"/>
                    </a:solidFill>
                  </a:tcPr>
                </a:tc>
              </a:tr>
              <a:tr h="695325">
                <a:tc>
                  <a:txBody>
                    <a:bodyPr>
                      <a:noAutofit/>
                    </a:bodyPr>
                    <a:lstStyle/>
                    <a:p>
                      <a:pPr algn="l"/>
                      <a:r>
                        <a:rPr sz="2175" b="0">
                          <a:solidFill>
                            <a:srgbClr val="17283D"/>
                          </a:solidFill>
                          <a:latin typeface="Helvetica Neue"/>
                          <a:ea typeface="Helvetica Neue"/>
                          <a:cs typeface="Helvetica Neue"/>
                        </a:rPr>
                        <a:t>Original</a:t>
                      </a:r>
                    </a:p>
                  </a:txBody>
                  <a:tcPr marL="152400" marR="114300" marT="123825" marB="114300" anchor="ctr">
                    <a:solidFill>
                      <a:srgbClr val="FFFFFF"/>
                    </a:solidFill>
                  </a:tcPr>
                </a:tc>
                <a:tc>
                  <a:txBody>
                    <a:bodyPr>
                      <a:noAutofit/>
                    </a:bodyPr>
                    <a:lstStyle/>
                    <a:p>
                      <a:pPr algn="l"/>
                      <a:r>
                        <a:rPr sz="2175" b="0">
                          <a:solidFill>
                            <a:srgbClr val="17283D"/>
                          </a:solidFill>
                          <a:latin typeface="Helvetica Neue"/>
                          <a:ea typeface="Helvetica Neue"/>
                          <a:cs typeface="Helvetica Neue"/>
                        </a:rPr>
                        <a:t>$0.0409</a:t>
                      </a:r>
                    </a:p>
                  </a:txBody>
                  <a:tcPr marL="152400" marR="114300" marT="123825" marB="114300" anchor="ctr">
                    <a:solidFill>
                      <a:srgbClr val="FFFFFF"/>
                    </a:solidFill>
                  </a:tcPr>
                </a:tc>
                <a:tc>
                  <a:txBody>
                    <a:bodyPr>
                      <a:noAutofit/>
                    </a:bodyPr>
                    <a:lstStyle/>
                    <a:p>
                      <a:pPr algn="l"/>
                      <a:r>
                        <a:rPr sz="2175" b="0">
                          <a:solidFill>
                            <a:srgbClr val="17283D"/>
                          </a:solidFill>
                          <a:latin typeface="Helvetica Neue"/>
                          <a:ea typeface="Helvetica Neue"/>
                          <a:cs typeface="Helvetica Neue"/>
                        </a:rPr>
                        <a:t>$0.0386</a:t>
                      </a:r>
                    </a:p>
                  </a:txBody>
                  <a:tcPr marL="152400" marR="114300" marT="123825" marB="114300" anchor="ctr">
                    <a:solidFill>
                      <a:srgbClr val="FFFFFF"/>
                    </a:solidFill>
                  </a:tcPr>
                </a:tc>
              </a:tr>
              <a:tr h="695325">
                <a:tc>
                  <a:txBody>
                    <a:bodyPr>
                      <a:noAutofit/>
                    </a:bodyPr>
                    <a:lstStyle/>
                    <a:p>
                      <a:pPr algn="l"/>
                      <a:r>
                        <a:rPr sz="2175" b="0">
                          <a:solidFill>
                            <a:srgbClr val="17283D"/>
                          </a:solidFill>
                          <a:latin typeface="Helvetica Neue"/>
                          <a:ea typeface="Helvetica Neue"/>
                          <a:cs typeface="Helvetica Neue"/>
                        </a:rPr>
                        <a:t>Repeat 1</a:t>
                      </a:r>
                    </a:p>
                  </a:txBody>
                  <a:tcPr marL="152400" marR="114300" marT="123825" marB="114300" anchor="ctr">
                    <a:solidFill>
                      <a:srgbClr val="EFF2F6"/>
                    </a:solidFill>
                  </a:tcPr>
                </a:tc>
                <a:tc>
                  <a:txBody>
                    <a:bodyPr>
                      <a:noAutofit/>
                    </a:bodyPr>
                    <a:lstStyle/>
                    <a:p>
                      <a:pPr algn="l"/>
                      <a:r>
                        <a:rPr sz="2175" b="0">
                          <a:solidFill>
                            <a:srgbClr val="17283D"/>
                          </a:solidFill>
                          <a:latin typeface="Helvetica Neue"/>
                          <a:ea typeface="Helvetica Neue"/>
                          <a:cs typeface="Helvetica Neue"/>
                        </a:rPr>
                        <a:t>$0.0187</a:t>
                      </a:r>
                    </a:p>
                  </a:txBody>
                  <a:tcPr marL="152400" marR="114300" marT="123825" marB="114300" anchor="ctr">
                    <a:solidFill>
                      <a:srgbClr val="EFF2F6"/>
                    </a:solidFill>
                  </a:tcPr>
                </a:tc>
                <a:tc>
                  <a:txBody>
                    <a:bodyPr>
                      <a:noAutofit/>
                    </a:bodyPr>
                    <a:lstStyle/>
                    <a:p>
                      <a:pPr algn="l"/>
                      <a:r>
                        <a:rPr sz="2175" b="0">
                          <a:solidFill>
                            <a:srgbClr val="17283D"/>
                          </a:solidFill>
                          <a:latin typeface="Helvetica Neue"/>
                          <a:ea typeface="Helvetica Neue"/>
                          <a:cs typeface="Helvetica Neue"/>
                        </a:rPr>
                        <a:t>$0.0306</a:t>
                      </a:r>
                    </a:p>
                  </a:txBody>
                  <a:tcPr marL="152400" marR="114300" marT="123825" marB="114300" anchor="ctr">
                    <a:solidFill>
                      <a:srgbClr val="EFF2F6"/>
                    </a:solidFill>
                  </a:tcPr>
                </a:tc>
              </a:tr>
              <a:tr h="695325">
                <a:tc>
                  <a:txBody>
                    <a:bodyPr>
                      <a:noAutofit/>
                    </a:bodyPr>
                    <a:lstStyle/>
                    <a:p>
                      <a:pPr algn="l"/>
                      <a:r>
                        <a:rPr sz="2175" b="0">
                          <a:solidFill>
                            <a:srgbClr val="17283D"/>
                          </a:solidFill>
                          <a:latin typeface="Helvetica Neue"/>
                          <a:ea typeface="Helvetica Neue"/>
                          <a:cs typeface="Helvetica Neue"/>
                        </a:rPr>
                        <a:t>Repeat 2</a:t>
                      </a:r>
                    </a:p>
                  </a:txBody>
                  <a:tcPr marL="152400" marR="114300" marT="123825" marB="114300" anchor="ctr">
                    <a:solidFill>
                      <a:srgbClr val="FFFFFF"/>
                    </a:solidFill>
                  </a:tcPr>
                </a:tc>
                <a:tc>
                  <a:txBody>
                    <a:bodyPr>
                      <a:noAutofit/>
                    </a:bodyPr>
                    <a:lstStyle/>
                    <a:p>
                      <a:pPr algn="l"/>
                      <a:r>
                        <a:rPr sz="2175" b="0">
                          <a:solidFill>
                            <a:srgbClr val="17283D"/>
                          </a:solidFill>
                          <a:latin typeface="Helvetica Neue"/>
                          <a:ea typeface="Helvetica Neue"/>
                          <a:cs typeface="Helvetica Neue"/>
                        </a:rPr>
                        <a:t>$0.0229</a:t>
                      </a:r>
                    </a:p>
                  </a:txBody>
                  <a:tcPr marL="152400" marR="114300" marT="123825" marB="114300" anchor="ctr">
                    <a:solidFill>
                      <a:srgbClr val="FFFFFF"/>
                    </a:solidFill>
                  </a:tcPr>
                </a:tc>
                <a:tc>
                  <a:txBody>
                    <a:bodyPr>
                      <a:noAutofit/>
                    </a:bodyPr>
                    <a:lstStyle/>
                    <a:p>
                      <a:pPr algn="l"/>
                      <a:r>
                        <a:rPr sz="2175" b="0">
                          <a:solidFill>
                            <a:srgbClr val="17283D"/>
                          </a:solidFill>
                          <a:latin typeface="Helvetica Neue"/>
                          <a:ea typeface="Helvetica Neue"/>
                          <a:cs typeface="Helvetica Neue"/>
                        </a:rPr>
                        <a:t>$0.0285</a:t>
                      </a:r>
                    </a:p>
                  </a:txBody>
                  <a:tcPr marL="152400" marR="114300" marT="123825" marB="114300" anchor="ctr">
                    <a:solidFill>
                      <a:srgbClr val="FFFFFF"/>
                    </a:solidFill>
                  </a:tcPr>
                </a:tc>
              </a:tr>
              <a:tr h="695325">
                <a:tc>
                  <a:txBody>
                    <a:bodyPr>
                      <a:noAutofit/>
                    </a:bodyPr>
                    <a:lstStyle/>
                    <a:p>
                      <a:pPr algn="l"/>
                      <a:r>
                        <a:rPr sz="2175" b="0">
                          <a:solidFill>
                            <a:srgbClr val="17283D"/>
                          </a:solidFill>
                          <a:latin typeface="Helvetica Neue"/>
                          <a:ea typeface="Helvetica Neue"/>
                          <a:cs typeface="Helvetica Neue"/>
                        </a:rPr>
                        <a:t>All attempts</a:t>
                      </a:r>
                    </a:p>
                  </a:txBody>
                  <a:tcPr marL="152400" marR="114300" marT="123825" marB="114300" anchor="ctr">
                    <a:solidFill>
                      <a:srgbClr val="EFF2F6"/>
                    </a:solidFill>
                  </a:tcPr>
                </a:tc>
                <a:tc>
                  <a:txBody>
                    <a:bodyPr>
                      <a:noAutofit/>
                    </a:bodyPr>
                    <a:lstStyle/>
                    <a:p>
                      <a:pPr algn="l"/>
                      <a:r>
                        <a:rPr sz="2175" b="0">
                          <a:solidFill>
                            <a:srgbClr val="17283D"/>
                          </a:solidFill>
                          <a:latin typeface="Helvetica Neue"/>
                          <a:ea typeface="Helvetica Neue"/>
                          <a:cs typeface="Helvetica Neue"/>
                        </a:rPr>
                        <a:t>$0.0271</a:t>
                      </a:r>
                    </a:p>
                  </a:txBody>
                  <a:tcPr marL="152400" marR="114300" marT="123825" marB="114300" anchor="ctr">
                    <a:solidFill>
                      <a:srgbClr val="EFF2F6"/>
                    </a:solidFill>
                  </a:tcPr>
                </a:tc>
                <a:tc>
                  <a:txBody>
                    <a:bodyPr>
                      <a:noAutofit/>
                    </a:bodyPr>
                    <a:lstStyle/>
                    <a:p>
                      <a:pPr algn="l"/>
                      <a:r>
                        <a:rPr sz="2175" b="0">
                          <a:solidFill>
                            <a:srgbClr val="17283D"/>
                          </a:solidFill>
                          <a:latin typeface="Helvetica Neue"/>
                          <a:ea typeface="Helvetica Neue"/>
                          <a:cs typeface="Helvetica Neue"/>
                        </a:rPr>
                        <a:t>$0.0326</a:t>
                      </a:r>
                    </a:p>
                  </a:txBody>
                  <a:tcPr marL="152400" marR="114300" marT="123825" marB="114300"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640FF340-D55C-419B-832A-3E4CBB2345E9}"/>
              </a:ext>
            </a:extLst>
          </p:cNvPr>
          <p:cNvSpPr>
            <a:spLocks xmlns:a="http://schemas.openxmlformats.org/drawingml/2006/main" noGrp="1"/>
          </p:cNvSpPr>
          <p:nvPr/>
        </p:nvSpPr>
        <p:spPr>
          <a:xfrm xmlns:a="http://schemas.openxmlformats.org/drawingml/2006/main">
            <a:off x="685800" y="56864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468C9"/>
                </a:solidFill>
                <a:latin typeface="Helvetica Neue"/>
                <a:ea typeface="Helvetica Neue"/>
                <a:cs typeface="Helvetica Neue"/>
              </a:defRPr>
            </a:pPr>
            <a:r>
              <a:rPr sz="2175" b="1">
                <a:solidFill>
                  <a:srgbClr val="2468C9"/>
                </a:solidFill>
                <a:latin typeface="Helvetica Neue"/>
                <a:ea typeface="Helvetica Neue"/>
                <a:cs typeface="Helvetica Neue"/>
              </a:rPr>
              <a:t>Total billed: single $0.7846, graph $1.0437.</a:t>
            </a:r>
          </a:p>
        </p:txBody>
      </p:sp>
      <p:sp>
        <p:nvSpPr>
          <p:cNvPr id="6" name="text-4">
            <a:extLst xmlns:a="http://schemas.openxmlformats.org/drawingml/2006/main">
              <a:ext uri="{FF2B5EF4-FFF2-40B4-BE49-F238E27FC236}">
                <a16:creationId xmlns:a16="http://schemas.microsoft.com/office/drawing/2014/main" id="{959797A4-8C2D-4D01-888F-D9ADF5F75E53}"/>
              </a:ext>
            </a:extLst>
          </p:cNvPr>
          <p:cNvSpPr>
            <a:spLocks xmlns:a="http://schemas.openxmlformats.org/drawingml/2006/main" noGrp="1"/>
          </p:cNvSpPr>
          <p:nvPr/>
        </p:nvSpPr>
        <p:spPr>
          <a:xfrm xmlns:a="http://schemas.openxmlformats.org/drawingml/2006/main">
            <a:off x="685800" y="61722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174"/>
                </a:solidFill>
                <a:latin typeface="Helvetica Neue"/>
                <a:ea typeface="Helvetica Neue"/>
                <a:cs typeface="Helvetica Neue"/>
              </a:defRPr>
            </a:pPr>
            <a:r>
              <a:rPr sz="1725" b="0">
                <a:solidFill>
                  <a:srgbClr val="516174"/>
                </a:solidFill>
                <a:latin typeface="Helvetica Neue"/>
                <a:ea typeface="Helvetica Neue"/>
                <a:cs typeface="Helvetica Neue"/>
              </a:rPr>
              <a:t>Both architectures solved the same 11 distinct tasks at least once.</a:t>
            </a:r>
          </a:p>
        </p:txBody>
      </p:sp>
    </p:spTree>
    <p:extLst>
      <p:ext uri="{BB962C8B-B14F-4D97-AF65-F5344CB8AC3E}">
        <p14:creationId xmlns:p14="http://schemas.microsoft.com/office/powerpoint/2010/main" val="80118011"/>
      </p:ext>
    </p:extLst>
  </p:cSld>
</p:sld>
</file>

<file path=ppt/slides/slide2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C6ADB7C5-9C2F-48AA-A357-CC7EBD07F59D}"/>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Repeated-run quality and agent metrics</a:t>
            </a:r>
          </a:p>
        </p:txBody>
      </p:sp>
      <p:sp>
        <p:nvSpPr>
          <p:cNvPr id="2" name="slide-number">
            <a:extLst xmlns:a="http://schemas.openxmlformats.org/drawingml/2006/main">
              <a:ext uri="{FF2B5EF4-FFF2-40B4-BE49-F238E27FC236}">
                <a16:creationId xmlns:a16="http://schemas.microsoft.com/office/drawing/2014/main" id="{156BFDE4-06F7-48FE-8172-984494754D5B}"/>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20</a:t>
            </a:r>
          </a:p>
        </p:txBody>
      </p:sp>
      <p:sp>
        <p:nvSpPr>
          <p:cNvPr id="3" name="text-2">
            <a:extLst xmlns:a="http://schemas.openxmlformats.org/drawingml/2006/main">
              <a:ext uri="{FF2B5EF4-FFF2-40B4-BE49-F238E27FC236}">
                <a16:creationId xmlns:a16="http://schemas.microsoft.com/office/drawing/2014/main" id="{39909F86-0FBA-4115-AABD-02ED67807CFC}"/>
              </a:ext>
            </a:extLst>
          </p:cNvPr>
          <p:cNvSpPr>
            <a:spLocks xmlns:a="http://schemas.openxmlformats.org/drawingml/2006/main" noGrp="1"/>
          </p:cNvSpPr>
          <p:nvPr/>
        </p:nvSpPr>
        <p:spPr>
          <a:xfrm xmlns:a="http://schemas.openxmlformats.org/drawingml/2006/main">
            <a:off x="685800" y="14192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Original plus two repeats: 36 attempts per architecture, 12 tasks.</a:t>
            </a:r>
          </a:p>
        </p:txBody>
      </p:sp>
      <p:graphicFrame>
        <p:nvGraphicFramePr>
          <p:cNvPr id="9" name=""/>
          <p:cNvGraphicFramePr/>
          <p:nvPr/>
        </p:nvGraphicFramePr>
        <p:xfrm>
          <a:off xmlns:a="http://schemas.openxmlformats.org/drawingml/2006/main" x="685800" y="1933575"/>
          <a:ext xmlns:a="http://schemas.openxmlformats.org/drawingml/2006/main" cx="10820400" cy="4057650"/>
        </p:xfrm>
        <a:graphic xmlns:a="http://schemas.openxmlformats.org/drawingml/2006/main">
          <a:graphicData uri="http://schemas.openxmlformats.org/drawingml/2006/table">
            <a:tbl>
              <a:tblPr firstRow="0" bandRow="0"/>
              <a:tblGrid>
                <a:gridCol w="5314950"/>
                <a:gridCol w="2752725"/>
                <a:gridCol w="2752725"/>
              </a:tblGrid>
              <a:tr h="476250">
                <a:tc>
                  <a:txBody>
                    <a:bodyPr>
                      <a:noAutofit/>
                    </a:bodyPr>
                    <a:lstStyle/>
                    <a:p>
                      <a:pPr algn="l"/>
                      <a:r>
                        <a:rPr sz="1650" b="1">
                          <a:solidFill>
                            <a:srgbClr val="FFFFFF"/>
                          </a:solidFill>
                          <a:latin typeface="Helvetica Neue"/>
                          <a:ea typeface="Helvetica Neue"/>
                          <a:cs typeface="Helvetica Neue"/>
                        </a:rPr>
                        <a:t>Metric</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66675" marB="66675" anchor="ctr">
                    <a:solidFill>
                      <a:srgbClr val="17283D"/>
                    </a:solidFill>
                  </a:tcPr>
                </a:tc>
              </a:tr>
              <a:tr h="447675">
                <a:tc>
                  <a:txBody>
                    <a:bodyPr>
                      <a:noAutofit/>
                    </a:bodyPr>
                    <a:lstStyle/>
                    <a:p>
                      <a:pPr algn="l"/>
                      <a:r>
                        <a:rPr sz="1725" b="0">
                          <a:solidFill>
                            <a:srgbClr val="17283D"/>
                          </a:solidFill>
                          <a:latin typeface="Helvetica Neue"/>
                          <a:ea typeface="Helvetica Neue"/>
                          <a:cs typeface="Helvetica Neue"/>
                        </a:rPr>
                        <a:t>Required hidden suite pass</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80.6% (29/36)</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88.9% (32/36)</a:t>
                      </a:r>
                    </a:p>
                  </a:txBody>
                  <a:tcPr marL="152400" marR="114300" marT="66675" marB="66675" anchor="ctr">
                    <a:solidFill>
                      <a:srgbClr val="FFFFFF"/>
                    </a:solidFill>
                  </a:tcPr>
                </a:tc>
              </a:tr>
              <a:tr h="447675">
                <a:tc>
                  <a:txBody>
                    <a:bodyPr>
                      <a:noAutofit/>
                    </a:bodyPr>
                    <a:lstStyle/>
                    <a:p>
                      <a:pPr algn="l"/>
                      <a:r>
                        <a:rPr sz="1725" b="0">
                          <a:solidFill>
                            <a:srgbClr val="17283D"/>
                          </a:solidFill>
                          <a:latin typeface="Helvetica Neue"/>
                          <a:ea typeface="Helvetica Neue"/>
                          <a:cs typeface="Helvetica Neue"/>
                        </a:rPr>
                        <a:t>Visible suite pass</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100.0% (36/36)</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100.0% (36/36)</a:t>
                      </a:r>
                    </a:p>
                  </a:txBody>
                  <a:tcPr marL="152400" marR="114300" marT="66675" marB="66675" anchor="ctr">
                    <a:solidFill>
                      <a:srgbClr val="EFF2F6"/>
                    </a:solidFill>
                  </a:tcPr>
                </a:tc>
              </a:tr>
              <a:tr h="447675">
                <a:tc>
                  <a:txBody>
                    <a:bodyPr>
                      <a:noAutofit/>
                    </a:bodyPr>
                    <a:lstStyle/>
                    <a:p>
                      <a:pPr algn="l"/>
                      <a:r>
                        <a:rPr sz="1725" b="0">
                          <a:solidFill>
                            <a:srgbClr val="17283D"/>
                          </a:solidFill>
                          <a:latin typeface="Helvetica Neue"/>
                          <a:ea typeface="Helvetica Neue"/>
                          <a:cs typeface="Helvetica Neue"/>
                        </a:rPr>
                        <a:t>Runs with regressions</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0.0% (0/36)</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0.0% (0/36)</a:t>
                      </a:r>
                    </a:p>
                  </a:txBody>
                  <a:tcPr marL="152400" marR="114300" marT="66675" marB="66675" anchor="ctr">
                    <a:solidFill>
                      <a:srgbClr val="FFFFFF"/>
                    </a:solidFill>
                  </a:tcPr>
                </a:tc>
              </a:tr>
              <a:tr h="447675">
                <a:tc>
                  <a:txBody>
                    <a:bodyPr>
                      <a:noAutofit/>
                    </a:bodyPr>
                    <a:lstStyle/>
                    <a:p>
                      <a:pPr algn="l"/>
                      <a:r>
                        <a:rPr sz="1725" b="0">
                          <a:solidFill>
                            <a:srgbClr val="17283D"/>
                          </a:solidFill>
                          <a:latin typeface="Helvetica Neue"/>
                          <a:ea typeface="Helvetica Neue"/>
                          <a:cs typeface="Helvetica Neue"/>
                        </a:rPr>
                        <a:t>Patch presence*</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86.1% (31/36)</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100.0% (36/36)</a:t>
                      </a:r>
                    </a:p>
                  </a:txBody>
                  <a:tcPr marL="152400" marR="114300" marT="66675" marB="66675" anchor="ctr">
                    <a:solidFill>
                      <a:srgbClr val="EFF2F6"/>
                    </a:solidFill>
                  </a:tcPr>
                </a:tc>
              </a:tr>
              <a:tr h="447675">
                <a:tc>
                  <a:txBody>
                    <a:bodyPr>
                      <a:noAutofit/>
                    </a:bodyPr>
                    <a:lstStyle/>
                    <a:p>
                      <a:pPr algn="l"/>
                      <a:r>
                        <a:rPr sz="1725" b="0">
                          <a:solidFill>
                            <a:srgbClr val="17283D"/>
                          </a:solidFill>
                          <a:latin typeface="Helvetica Neue"/>
                          <a:ea typeface="Helvetica Neue"/>
                          <a:cs typeface="Helvetica Neue"/>
                        </a:rPr>
                        <a:t>Tool-use validity*</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97.0% (1002/1033)</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97.0% (1342/1384)</a:t>
                      </a:r>
                    </a:p>
                  </a:txBody>
                  <a:tcPr marL="152400" marR="114300" marT="66675" marB="66675" anchor="ctr">
                    <a:solidFill>
                      <a:srgbClr val="FFFFFF"/>
                    </a:solidFill>
                  </a:tcPr>
                </a:tc>
              </a:tr>
              <a:tr h="447675">
                <a:tc>
                  <a:txBody>
                    <a:bodyPr>
                      <a:noAutofit/>
                    </a:bodyPr>
                    <a:lstStyle/>
                    <a:p>
                      <a:pPr algn="l"/>
                      <a:r>
                        <a:rPr sz="1725" b="0">
                          <a:solidFill>
                            <a:srgbClr val="17283D"/>
                          </a:solidFill>
                          <a:latin typeface="Helvetica Neue"/>
                          <a:ea typeface="Helvetica Neue"/>
                          <a:cs typeface="Helvetica Neue"/>
                        </a:rPr>
                        <a:t>Hallucinated refs / attempt*</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0.83</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0.86</a:t>
                      </a:r>
                    </a:p>
                  </a:txBody>
                  <a:tcPr marL="152400" marR="114300" marT="66675" marB="66675" anchor="ctr">
                    <a:solidFill>
                      <a:srgbClr val="EFF2F6"/>
                    </a:solidFill>
                  </a:tcPr>
                </a:tc>
              </a:tr>
              <a:tr h="447675">
                <a:tc>
                  <a:txBody>
                    <a:bodyPr>
                      <a:noAutofit/>
                    </a:bodyPr>
                    <a:lstStyle/>
                    <a:p>
                      <a:pPr algn="l"/>
                      <a:r>
                        <a:rPr sz="1725" b="0">
                          <a:solidFill>
                            <a:srgbClr val="17283D"/>
                          </a:solidFill>
                          <a:latin typeface="Helvetica Neue"/>
                          <a:ea typeface="Helvetica Neue"/>
                          <a:cs typeface="Helvetica Neue"/>
                        </a:rPr>
                        <a:t>Repair success*</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100.0% (23/23)</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100.0% (29/29)</a:t>
                      </a:r>
                    </a:p>
                  </a:txBody>
                  <a:tcPr marL="152400" marR="114300" marT="66675" marB="66675" anchor="ctr">
                    <a:solidFill>
                      <a:srgbClr val="FFFFFF"/>
                    </a:solidFill>
                  </a:tcPr>
                </a:tc>
              </a:tr>
              <a:tr h="447675">
                <a:tc>
                  <a:txBody>
                    <a:bodyPr>
                      <a:noAutofit/>
                    </a:bodyPr>
                    <a:lstStyle/>
                    <a:p>
                      <a:pPr algn="l"/>
                      <a:r>
                        <a:rPr sz="1725" b="0">
                          <a:solidFill>
                            <a:srgbClr val="17283D"/>
                          </a:solidFill>
                          <a:latin typeface="Helvetica Neue"/>
                          <a:ea typeface="Helvetica Neue"/>
                          <a:cs typeface="Helvetica Neue"/>
                        </a:rPr>
                        <a:t>Visible / final gap*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19.4% (7/36)</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11.1% (4/36)</a:t>
                      </a:r>
                    </a:p>
                  </a:txBody>
                  <a:tcPr marL="152400" marR="114300" marT="66675" marB="66675"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2E3BB617-3D09-4C49-8DAD-758801C36090}"/>
              </a:ext>
            </a:extLst>
          </p:cNvPr>
          <p:cNvSpPr>
            <a:spLocks xmlns:a="http://schemas.openxmlformats.org/drawingml/2006/main" noGrp="1"/>
          </p:cNvSpPr>
          <p:nvPr/>
        </p:nvSpPr>
        <p:spPr>
          <a:xfrm xmlns:a="http://schemas.openxmlformats.org/drawingml/2006/main">
            <a:off x="685800" y="6200775"/>
            <a:ext cx="10525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468C9"/>
                </a:solidFill>
                <a:latin typeface="Helvetica Neue"/>
                <a:ea typeface="Helvetica Neue"/>
                <a:cs typeface="Helvetica Neue"/>
              </a:defRPr>
            </a:pPr>
            <a:r>
              <a:rPr sz="1650" b="1">
                <a:solidFill>
                  <a:srgbClr val="2468C9"/>
                </a:solidFill>
                <a:latin typeface="Helvetica Neue"/>
                <a:ea typeface="Helvetica Neue"/>
                <a:cs typeface="Helvetica Neue"/>
              </a:rPr>
              <a:t>*Operational proxies. Rubric quality scores: N/A for all 72 attempts.</a:t>
            </a:r>
          </a:p>
        </p:txBody>
      </p:sp>
    </p:spTree>
    <p:extLst>
      <p:ext uri="{BB962C8B-B14F-4D97-AF65-F5344CB8AC3E}">
        <p14:creationId xmlns:p14="http://schemas.microsoft.com/office/powerpoint/2010/main" val="97054736"/>
      </p:ext>
    </p:extLst>
  </p:cSld>
</p:sld>
</file>

<file path=ppt/slides/slide2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8FA"/>
        </a:solidFill>
      </p:bgPr>
    </p:bg>
    <p:spTree>
      <p:nvGrpSpPr>
        <p:cNvPr id="1" name=""/>
        <p:cNvGrpSpPr/>
        <p:nvPr/>
      </p:nvGrpSpPr>
      <p:grpSpPr>
        <a:xfrm/>
      </p:grpSpPr>
      <p:sp>
        <p:nvSpPr>
          <p:cNvPr id="9" name="slide-title">
            <a:extLst>
              <a:ext uri="{FF2B5EF4-FFF2-40B4-BE49-F238E27FC236}">
                <ns2:creationId id="{3E4286D4-9A7D-42A6-AB48-6425F93AD894}"/>
              </a:ext>
            </a:extLst>
          </p:cNvPr>
          <p:cNvSpPr>
            <a:spLocks noGrp="1"/>
          </p:cNvSpPr>
          <p:nvPr/>
        </p:nvSpPr>
        <p:spPr>
          <a:xfrm>
            <a:off x="685800" y="476250"/>
            <a:ext cx="10715625" cy="952500"/>
          </a:xfrm>
          <a:prstGeom prst="rect">
            <a:avLst/>
          </a:prstGeom>
          <a:noFill/>
          <a:ln w="0">
            <a:noFill/>
          </a:ln>
        </p:spPr>
        <p:txBody>
          <a:bodyPr wrap="square" lIns="0" tIns="0" rIns="0" bIns="0" anchor="t">
            <a:noAutofit/>
          </a:bodyPr>
          <a:lstStyle/>
          <a:p>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Comparison with Xu et al.</a:t>
            </a:r>
          </a:p>
        </p:txBody>
      </p:sp>
      <p:sp>
        <p:nvSpPr>
          <p:cNvPr id="2" name="slide-number">
            <a:extLst>
              <a:ext uri="{FF2B5EF4-FFF2-40B4-BE49-F238E27FC236}">
                <ns2:creationId id="{DEED7E08-EEB5-46E9-A0D9-CCE32118855E}"/>
              </a:ext>
            </a:extLst>
          </p:cNvPr>
          <p:cNvSpPr>
            <a:spLocks noGrp="1"/>
          </p:cNvSpPr>
          <p:nvPr/>
        </p:nvSpPr>
        <p:spPr>
          <a:xfrm>
            <a:off x="11239500" y="6381750"/>
            <a:ext cx="381000" cy="228600"/>
          </a:xfrm>
          <a:prstGeom prst="rect">
            <a:avLst/>
          </a:prstGeom>
          <a:noFill/>
          <a:ln w="0">
            <a:noFill/>
          </a:ln>
        </p:spPr>
        <p:txBody>
          <a:bodyPr wrap="square" lIns="0" tIns="0" rIns="0" bIns="0" anchor="t">
            <a:noAutofit/>
          </a:bodyPr>
          <a:lstStyle/>
          <a:p>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21</a:t>
            </a:r>
          </a:p>
        </p:txBody>
      </p:sp>
      <p:sp>
        <p:nvSpPr>
          <p:cNvPr id="3" name="text-2">
            <a:extLst>
              <a:ext uri="{FF2B5EF4-FFF2-40B4-BE49-F238E27FC236}">
                <ns2:creationId id="{8D304C31-8B95-47BB-9C0D-166C3786F5EC}"/>
              </a:ext>
            </a:extLst>
          </p:cNvPr>
          <p:cNvSpPr>
            <a:spLocks noGrp="1"/>
          </p:cNvSpPr>
          <p:nvPr/>
        </p:nvSpPr>
        <p:spPr>
          <a:xfrm>
            <a:off x="685800" y="1419225"/>
            <a:ext cx="10763250" cy="419100"/>
          </a:xfrm>
          <a:prstGeom prst="rect">
            <a:avLst/>
          </a:prstGeom>
          <a:noFill/>
          <a:ln w="0">
            <a:noFill/>
          </a:ln>
        </p:spPr>
        <p:txBody>
          <a:bodyPr wrap="square" lIns="0" tIns="0" rIns="0" bIns="0" anchor="t">
            <a:noAutofit/>
          </a:bodyPr>
          <a:lstStyle/>
          <a:p>
            <a:pPr algn="l">
              <a:defRPr sz="2100" b="0">
                <a:solidFill>
                  <a:srgbClr val="516174"/>
                </a:solidFill>
                <a:latin typeface="Helvetica Neue"/>
                <a:ea typeface="Helvetica Neue"/>
                <a:cs typeface="Helvetica Neue"/>
              </a:defRPr>
            </a:pPr>
            <a:r>
              <a:rPr sz="2100" b="0">
                <a:solidFill>
                  <a:srgbClr val="516174"/>
                </a:solidFill>
                <a:latin typeface="Helvetica Neue"/>
                <a:ea typeface="Helvetica Neue"/>
                <a:cs typeface="Helvetica Neue"/>
              </a:rPr>
              <a:t>OneFlow with GPT-4o mini. Three runs, mean pass@1 ± SD.</a:t>
            </a:r>
          </a:p>
        </p:txBody>
      </p:sp>
      <p:graphicFrame>
        <p:nvGraphicFramePr>
          <p:cNvPr id="12" name=""/>
          <p:cNvGraphicFramePr/>
          <p:nvPr/>
        </p:nvGraphicFramePr>
        <p:xfrm>
          <a:off x="685800" y="2028825"/>
          <a:ext cx="10820400" cy="1828800"/>
        </p:xfrm>
        <a:graphic>
          <a:graphicData uri="http://schemas.openxmlformats.org/drawingml/2006/table">
            <a:tbl>
              <a:tblPr firstRow="0" bandRow="0"/>
              <a:tblGrid>
                <a:gridCol w="4857750"/>
                <a:gridCol w="2981325"/>
                <a:gridCol w="2981325"/>
              </a:tblGrid>
              <a:tr h="609600">
                <a:tc>
                  <a:txBody>
                    <a:bodyPr>
                      <a:noAutofit/>
                    </a:bodyPr>
                    <a:lstStyle/>
                    <a:p>
                      <a:pPr algn="l"/>
                      <a:r>
                        <a:rPr sz="1875" b="1">
                          <a:solidFill>
                            <a:srgbClr val="FFFFFF"/>
                          </a:solidFill>
                          <a:latin typeface="Helvetica Neue"/>
                          <a:ea typeface="Helvetica Neue"/>
                          <a:cs typeface="Helvetica Neue"/>
                        </a:rPr>
                        <a:t>Benchmark</a:t>
                      </a:r>
                    </a:p>
                  </a:txBody>
                  <a:tcPr marL="152400" marR="114300" marT="95250" marB="95250" anchor="ctr">
                    <a:solidFill>
                      <a:srgbClr val="17283D"/>
                    </a:solidFill>
                  </a:tcPr>
                </a:tc>
                <a:tc>
                  <a:txBody>
                    <a:bodyPr>
                      <a:noAutofit/>
                    </a:bodyPr>
                    <a:lstStyle/>
                    <a:p>
                      <a:pPr algn="l"/>
                      <a:r>
                        <a:rPr sz="1875" b="1">
                          <a:solidFill>
                            <a:srgbClr val="FFFFFF"/>
                          </a:solidFill>
                          <a:latin typeface="Helvetica Neue"/>
                          <a:ea typeface="Helvetica Neue"/>
                          <a:cs typeface="Helvetica Neue"/>
                        </a:rPr>
                        <a:t>Multi-agent</a:t>
                      </a:r>
                    </a:p>
                  </a:txBody>
                  <a:tcPr marL="152400" marR="114300" marT="95250" marB="95250" anchor="ctr">
                    <a:solidFill>
                      <a:srgbClr val="17283D"/>
                    </a:solidFill>
                  </a:tcPr>
                </a:tc>
                <a:tc>
                  <a:txBody>
                    <a:bodyPr>
                      <a:noAutofit/>
                    </a:bodyPr>
                    <a:lstStyle/>
                    <a:p>
                      <a:pPr algn="l"/>
                      <a:r>
                        <a:rPr sz="1875" b="1">
                          <a:solidFill>
                            <a:srgbClr val="FFFFFF"/>
                          </a:solidFill>
                          <a:latin typeface="Helvetica Neue"/>
                          <a:ea typeface="Helvetica Neue"/>
                          <a:cs typeface="Helvetica Neue"/>
                        </a:rPr>
                        <a:t>Single execution</a:t>
                      </a:r>
                    </a:p>
                  </a:txBody>
                  <a:tcPr marL="152400" marR="114300" marT="95250" marB="95250" anchor="ctr">
                    <a:solidFill>
                      <a:srgbClr val="17283D"/>
                    </a:solidFill>
                  </a:tcPr>
                </a:tc>
              </a:tr>
              <a:tr h="609600">
                <a:tc>
                  <a:txBody>
                    <a:bodyPr>
                      <a:noAutofit/>
                    </a:bodyPr>
                    <a:lstStyle/>
                    <a:p>
                      <a:pPr algn="l"/>
                      <a:r>
                        <a:rPr sz="1950" b="0">
                          <a:solidFill>
                            <a:srgbClr val="17283D"/>
                          </a:solidFill>
                          <a:latin typeface="Helvetica Neue"/>
                          <a:ea typeface="Helvetica Neue"/>
                          <a:cs typeface="Helvetica Neue"/>
                        </a:rPr>
                        <a:t>HumanEval</a:t>
                      </a:r>
                    </a:p>
                  </a:txBody>
                  <a:tcPr marL="152400" marR="114300" marT="95250" marB="95250" anchor="ctr">
                    <a:solidFill>
                      <a:srgbClr val="FFFFFF"/>
                    </a:solidFill>
                  </a:tcPr>
                </a:tc>
                <a:tc>
                  <a:txBody>
                    <a:bodyPr>
                      <a:noAutofit/>
                    </a:bodyPr>
                    <a:lstStyle/>
                    <a:p>
                      <a:pPr algn="l"/>
                      <a:r>
                        <a:rPr sz="1950" b="0">
                          <a:solidFill>
                            <a:srgbClr val="17283D"/>
                          </a:solidFill>
                          <a:latin typeface="Helvetica Neue"/>
                          <a:ea typeface="Helvetica Neue"/>
                          <a:cs typeface="Helvetica Neue"/>
                        </a:rPr>
                        <a:t>91.6% ± 0.8</a:t>
                      </a:r>
                    </a:p>
                  </a:txBody>
                  <a:tcPr marL="152400" marR="114300" marT="95250" marB="95250" anchor="ctr">
                    <a:solidFill>
                      <a:srgbClr val="FFFFFF"/>
                    </a:solidFill>
                  </a:tcPr>
                </a:tc>
                <a:tc>
                  <a:txBody>
                    <a:bodyPr>
                      <a:noAutofit/>
                    </a:bodyPr>
                    <a:lstStyle/>
                    <a:p>
                      <a:pPr algn="l"/>
                      <a:r>
                        <a:rPr sz="1950" b="0">
                          <a:solidFill>
                            <a:srgbClr val="17283D"/>
                          </a:solidFill>
                          <a:latin typeface="Helvetica Neue"/>
                          <a:ea typeface="Helvetica Neue"/>
                          <a:cs typeface="Helvetica Neue"/>
                        </a:rPr>
                        <a:t>92.1% ± 0.4</a:t>
                      </a:r>
                    </a:p>
                  </a:txBody>
                  <a:tcPr marL="152400" marR="114300" marT="95250" marB="95250" anchor="ctr">
                    <a:solidFill>
                      <a:srgbClr val="FFFFFF"/>
                    </a:solidFill>
                  </a:tcPr>
                </a:tc>
              </a:tr>
              <a:tr h="609600">
                <a:tc>
                  <a:txBody>
                    <a:bodyPr>
                      <a:noAutofit/>
                    </a:bodyPr>
                    <a:lstStyle/>
                    <a:p>
                      <a:pPr algn="l"/>
                      <a:r>
                        <a:rPr sz="1950" b="0">
                          <a:solidFill>
                            <a:srgbClr val="17283D"/>
                          </a:solidFill>
                          <a:latin typeface="Helvetica Neue"/>
                          <a:ea typeface="Helvetica Neue"/>
                          <a:cs typeface="Helvetica Neue"/>
                        </a:rPr>
                        <a:t>MBPP</a:t>
                      </a:r>
                    </a:p>
                  </a:txBody>
                  <a:tcPr marL="152400" marR="114300" marT="95250" marB="95250" anchor="ctr">
                    <a:solidFill>
                      <a:srgbClr val="EFF2F6"/>
                    </a:solidFill>
                  </a:tcPr>
                </a:tc>
                <a:tc>
                  <a:txBody>
                    <a:bodyPr>
                      <a:noAutofit/>
                    </a:bodyPr>
                    <a:lstStyle/>
                    <a:p>
                      <a:pPr algn="l"/>
                      <a:r>
                        <a:rPr sz="1950" b="0">
                          <a:solidFill>
                            <a:srgbClr val="17283D"/>
                          </a:solidFill>
                          <a:latin typeface="Helvetica Neue"/>
                          <a:ea typeface="Helvetica Neue"/>
                          <a:cs typeface="Helvetica Neue"/>
                        </a:rPr>
                        <a:t>81.1% ± 0.4</a:t>
                      </a:r>
                    </a:p>
                  </a:txBody>
                  <a:tcPr marL="152400" marR="114300" marT="95250" marB="95250" anchor="ctr">
                    <a:solidFill>
                      <a:srgbClr val="EFF2F6"/>
                    </a:solidFill>
                  </a:tcPr>
                </a:tc>
                <a:tc>
                  <a:txBody>
                    <a:bodyPr>
                      <a:noAutofit/>
                    </a:bodyPr>
                    <a:lstStyle/>
                    <a:p>
                      <a:pPr algn="l"/>
                      <a:r>
                        <a:rPr sz="1950" b="0">
                          <a:solidFill>
                            <a:srgbClr val="17283D"/>
                          </a:solidFill>
                          <a:latin typeface="Helvetica Neue"/>
                          <a:ea typeface="Helvetica Neue"/>
                          <a:cs typeface="Helvetica Neue"/>
                        </a:rPr>
                        <a:t>81.4% ± 0.6</a:t>
                      </a:r>
                    </a:p>
                  </a:txBody>
                  <a:tcPr marL="152400" marR="114300" marT="95250" marB="95250" anchor="ctr">
                    <a:solidFill>
                      <a:srgbClr val="EFF2F6"/>
                    </a:solidFill>
                  </a:tcPr>
                </a:tc>
              </a:tr>
            </a:tbl>
          </a:graphicData>
        </a:graphic>
      </p:graphicFrame>
      <p:sp>
        <p:nvSpPr>
          <p:cNvPr id="5" name="text-3">
            <a:extLst>
              <a:ext uri="{FF2B5EF4-FFF2-40B4-BE49-F238E27FC236}">
                <ns2:creationId id="{88A44D5E-1518-438D-9984-3341CB34DEEC}"/>
              </a:ext>
            </a:extLst>
          </p:cNvPr>
          <p:cNvSpPr>
            <a:spLocks noGrp="1"/>
          </p:cNvSpPr>
          <p:nvPr/>
        </p:nvSpPr>
        <p:spPr>
          <a:xfrm>
            <a:off x="685800" y="4200525"/>
            <a:ext cx="10763250" cy="381000"/>
          </a:xfrm>
          <a:prstGeom prst="rect">
            <a:avLst/>
          </a:prstGeom>
          <a:noFill/>
          <a:ln w="0">
            <a:noFill/>
          </a:ln>
        </p:spPr>
        <p:txBody>
          <a:bodyPr wrap="square" lIns="0" tIns="0" rIns="0" bIns="0" anchor="t">
            <a:noAutofit/>
          </a:bodyPr>
          <a:lstStyle/>
          <a:p>
            <a:pPr algn="l">
              <a:defRPr sz="2100" b="1">
                <a:solidFill>
                  <a:srgbClr val="2468C9"/>
                </a:solidFill>
                <a:latin typeface="Helvetica Neue"/>
                <a:ea typeface="Helvetica Neue"/>
                <a:cs typeface="Helvetica Neue"/>
              </a:defRPr>
            </a:pPr>
            <a:r>
              <a:rPr sz="2100" b="1">
                <a:solidFill>
                  <a:srgbClr val="2468C9"/>
                </a:solidFill>
                <a:latin typeface="Helvetica Neue"/>
                <a:ea typeface="Helvetica Neue"/>
                <a:cs typeface="Helvetica Neue"/>
              </a:rPr>
              <a:t>Master core-small: the same success at lower single-agent cost</a:t>
            </a:r>
          </a:p>
        </p:txBody>
      </p:sp>
      <p:sp>
        <p:nvSpPr>
          <p:cNvPr id="6" name="text-4">
            <a:extLst>
              <a:ext uri="{FF2B5EF4-FFF2-40B4-BE49-F238E27FC236}">
                <ns2:creationId id="{3B4CB4A4-5B28-4E20-9840-31395BC43F2B}"/>
              </a:ext>
            </a:extLst>
          </p:cNvPr>
          <p:cNvSpPr>
            <a:spLocks noGrp="1"/>
          </p:cNvSpPr>
          <p:nvPr/>
        </p:nvSpPr>
        <p:spPr>
          <a:xfrm>
            <a:off x="685800" y="4648200"/>
            <a:ext cx="10763250" cy="381000"/>
          </a:xfrm>
          <a:prstGeom prst="rect">
            <a:avLst/>
          </a:prstGeom>
          <a:noFill/>
          <a:ln w="0">
            <a:noFill/>
          </a:ln>
        </p:spPr>
        <p:txBody>
          <a:bodyPr wrap="square" lIns="0" tIns="0" rIns="0" bIns="0" anchor="t">
            <a:noAutofit/>
          </a:bodyPr>
          <a:lstStyle/>
          <a:p>
            <a:pPr algn="l">
              <a:defRPr sz="2025" b="0">
                <a:solidFill>
                  <a:srgbClr val="17283D"/>
                </a:solidFill>
                <a:latin typeface="Helvetica Neue"/>
                <a:ea typeface="Helvetica Neue"/>
                <a:cs typeface="Helvetica Neue"/>
              </a:defRPr>
            </a:pPr>
            <a:r>
              <a:rPr sz="2025" b="0">
                <a:solidFill>
                  <a:srgbClr val="17283D"/>
                </a:solidFill>
                <a:latin typeface="Helvetica Neue"/>
                <a:ea typeface="Helvetica Neue"/>
                <a:cs typeface="Helvetica Neue"/>
              </a:rPr>
              <a:t>All systems solve 11/12. Graph costs 2.03× as much as single.</a:t>
            </a:r>
          </a:p>
        </p:txBody>
      </p:sp>
      <p:sp>
        <p:nvSpPr>
          <p:cNvPr id="7" name="text-5">
            <a:extLst>
              <a:ext uri="{FF2B5EF4-FFF2-40B4-BE49-F238E27FC236}">
                <ns2:creationId id="{86122E11-1379-4A92-81C0-793A57CD0300}"/>
              </a:ext>
            </a:extLst>
          </p:cNvPr>
          <p:cNvSpPr>
            <a:spLocks noGrp="1"/>
          </p:cNvSpPr>
          <p:nvPr/>
        </p:nvSpPr>
        <p:spPr>
          <a:xfrm>
            <a:off x="685800" y="5229225"/>
            <a:ext cx="10763250" cy="409575"/>
          </a:xfrm>
          <a:prstGeom prst="rect">
            <a:avLst/>
          </a:prstGeom>
          <a:noFill/>
          <a:ln w="0">
            <a:noFill/>
          </a:ln>
        </p:spPr>
        <p:txBody>
          <a:bodyPr wrap="square" lIns="0" tIns="0" rIns="0" bIns="0" anchor="t">
            <a:noAutofit/>
          </a:bodyPr>
          <a:lstStyle/>
          <a:p>
            <a:pPr algn="l">
              <a:defRPr sz="2025" b="1">
                <a:solidFill>
                  <a:srgbClr val="17283D"/>
                </a:solidFill>
                <a:latin typeface="Helvetica Neue"/>
                <a:ea typeface="Helvetica Neue"/>
                <a:cs typeface="Helvetica Neue"/>
              </a:defRPr>
            </a:pPr>
            <a:r>
              <a:rPr sz="2025" b="1">
                <a:solidFill>
                  <a:srgbClr val="17283D"/>
                </a:solidFill>
                <a:latin typeface="Helvetica Neue"/>
                <a:ea typeface="Helvetica Neue"/>
                <a:cs typeface="Helvetica Neue"/>
              </a:rPr>
              <a:t>DeepSeek repeats: graph improves consistency at a higher cost.</a:t>
            </a:r>
          </a:p>
        </p:txBody>
      </p:sp>
      <p:sp>
        <p:nvSpPr>
          <p:cNvPr id="8" name="citation-1">
            <a:extLst>
              <a:ext uri="{FF2B5EF4-FFF2-40B4-BE49-F238E27FC236}">
                <ns2:creationId id="{DC2D2412-8982-4FB6-89BD-520F214C0BB5}"/>
              </a:ext>
            </a:extLst>
            <a:hlinkClick r:id="rIdCitation1" tooltip="Open the cited paper"/>
          </p:cNvPr>
          <p:cNvSpPr>
            <a:spLocks noGrp="1"/>
          </p:cNvSpPr>
          <p:nvPr/>
        </p:nvSpPr>
        <p:spPr>
          <a:xfrm>
            <a:off x="685800" y="6010275"/>
            <a:ext cx="10820400" cy="285750"/>
          </a:xfrm>
          <a:prstGeom prst="rect">
            <a:avLst/>
          </a:prstGeom>
          <a:noFill/>
          <a:ln w="0">
            <a:noFill/>
          </a:ln>
        </p:spPr>
        <p:txBody>
          <a:bodyPr wrap="square" lIns="0" tIns="0" rIns="0" bIns="0" anchor="t">
            <a:noAutofit/>
          </a:bodyPr>
          <a:lstStyle/>
          <a:p>
            <a:pPr algn="l">
              <a:defRPr sz="1575" b="0">
                <a:solidFill>
                  <a:srgbClr val="2468C9"/>
                </a:solidFill>
                <a:latin typeface="Helvetica Neue"/>
                <a:ea typeface="Helvetica Neue"/>
                <a:cs typeface="Helvetica Neue"/>
              </a:defRPr>
            </a:pPr>
            <a:r>
              <a:rPr sz="1575" b="0">
                <a:solidFill>
                  <a:srgbClr val="2468C9"/>
                </a:solidFill>
                <a:latin typeface="Helvetica Neue"/>
                <a:ea typeface="Helvetica Neue"/>
                <a:cs typeface="Helvetica Neue"/>
              </a:rPr>
              <a:t>Xu et al. (2026), Table 1 and §6. arxiv.org/abs/2601.12307</a:t>
            </a:r>
          </a:p>
        </p:txBody>
      </p:sp>
    </p:spTree>
    <p:extLst>
      <p:ext uri="{BB962C8B-B14F-4D97-AF65-F5344CB8AC3E}">
        <ns4:creationId val="1698402247"/>
      </p:ext>
    </p:extLst>
  </p:cSld>
</p:sld>
</file>

<file path=ppt/slides/slide2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8FA"/>
        </a:solidFill>
      </p:bgPr>
    </p:bg>
    <p:spTree>
      <p:nvGrpSpPr>
        <p:cNvPr id="1" name=""/>
        <p:cNvGrpSpPr/>
        <p:nvPr/>
      </p:nvGrpSpPr>
      <p:grpSpPr>
        <a:xfrm/>
      </p:grpSpPr>
      <p:sp>
        <p:nvSpPr>
          <p:cNvPr id="6" name="slide-title">
            <a:extLst>
              <a:ext uri="{FF2B5EF4-FFF2-40B4-BE49-F238E27FC236}">
                <ns2:creationId id="{553B67FA-E9A5-4FAF-940B-F6D6107F2EA4}"/>
              </a:ext>
            </a:extLst>
          </p:cNvPr>
          <p:cNvSpPr>
            <a:spLocks noGrp="1"/>
          </p:cNvSpPr>
          <p:nvPr/>
        </p:nvSpPr>
        <p:spPr>
          <a:xfrm>
            <a:off x="685800" y="476250"/>
            <a:ext cx="10715625" cy="952500"/>
          </a:xfrm>
          <a:prstGeom prst="rect">
            <a:avLst/>
          </a:prstGeom>
          <a:noFill/>
          <a:ln w="0">
            <a:noFill/>
          </a:ln>
        </p:spPr>
        <p:txBody>
          <a:bodyPr wrap="square" lIns="0" tIns="0" rIns="0" bIns="0" anchor="t">
            <a:noAutofit/>
          </a:bodyPr>
          <a:lstStyle/>
          <a:p>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Limits of the comparison</a:t>
            </a:r>
          </a:p>
        </p:txBody>
      </p:sp>
      <p:sp>
        <p:nvSpPr>
          <p:cNvPr id="2" name="slide-number">
            <a:extLst>
              <a:ext uri="{FF2B5EF4-FFF2-40B4-BE49-F238E27FC236}">
                <ns2:creationId id="{8339EF32-448A-4128-BCA1-E8D2B0EB9F60}"/>
              </a:ext>
            </a:extLst>
          </p:cNvPr>
          <p:cNvSpPr>
            <a:spLocks noGrp="1"/>
          </p:cNvSpPr>
          <p:nvPr/>
        </p:nvSpPr>
        <p:spPr>
          <a:xfrm>
            <a:off x="11239500" y="6381750"/>
            <a:ext cx="381000" cy="228600"/>
          </a:xfrm>
          <a:prstGeom prst="rect">
            <a:avLst/>
          </a:prstGeom>
          <a:noFill/>
          <a:ln w="0">
            <a:noFill/>
          </a:ln>
        </p:spPr>
        <p:txBody>
          <a:bodyPr wrap="square" lIns="0" tIns="0" rIns="0" bIns="0" anchor="t">
            <a:noAutofit/>
          </a:bodyPr>
          <a:lstStyle/>
          <a:p>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22</a:t>
            </a:r>
          </a:p>
        </p:txBody>
      </p:sp>
      <p:sp>
        <p:nvSpPr>
          <p:cNvPr id="3" name="text-2">
            <a:extLst>
              <a:ext uri="{FF2B5EF4-FFF2-40B4-BE49-F238E27FC236}">
                <ns2:creationId id="{C1F2675D-E550-4D86-B0E6-9B65E212A30B}"/>
              </a:ext>
            </a:extLst>
          </p:cNvPr>
          <p:cNvSpPr>
            <a:spLocks noGrp="1"/>
          </p:cNvSpPr>
          <p:nvPr/>
        </p:nvSpPr>
        <p:spPr>
          <a:xfrm>
            <a:off x="685800" y="1400175"/>
            <a:ext cx="10763250" cy="400050"/>
          </a:xfrm>
          <a:prstGeom prst="rect">
            <a:avLst/>
          </a:prstGeom>
          <a:noFill/>
          <a:ln w="0">
            <a:noFill/>
          </a:ln>
        </p:spPr>
        <p:txBody>
          <a:bodyPr wrap="square" lIns="0" tIns="0" rIns="0" bIns="0" anchor="t">
            <a:noAutofit/>
          </a:bodyPr>
          <a:lstStyle/>
          <a:p>
            <a:pPr algn="l">
              <a:defRPr sz="2100" b="1">
                <a:solidFill>
                  <a:srgbClr val="2468C9"/>
                </a:solidFill>
                <a:latin typeface="Helvetica Neue"/>
                <a:ea typeface="Helvetica Neue"/>
                <a:cs typeface="Helvetica Neue"/>
              </a:defRPr>
            </a:pPr>
            <a:r>
              <a:rPr sz="2100" b="1">
                <a:solidFill>
                  <a:srgbClr val="2468C9"/>
                </a:solidFill>
                <a:latin typeface="Helvetica Neue"/>
                <a:ea typeface="Helvetica Neue"/>
                <a:cs typeface="Helvetica Neue"/>
              </a:rPr>
              <a:t>Both studies use engineered workflows with roles and tools.</a:t>
            </a:r>
          </a:p>
        </p:txBody>
      </p:sp>
      <p:graphicFrame>
        <p:nvGraphicFramePr>
          <p:cNvPr id="9" name=""/>
          <p:cNvGraphicFramePr/>
          <p:nvPr/>
        </p:nvGraphicFramePr>
        <p:xfrm>
          <a:off x="685800" y="2019300"/>
          <a:ext cx="10820400" cy="3695700"/>
        </p:xfrm>
        <a:graphic>
          <a:graphicData uri="http://schemas.openxmlformats.org/drawingml/2006/table">
            <a:tbl>
              <a:tblPr firstRow="0" bandRow="0"/>
              <a:tblGrid>
                <a:gridCol w="2343150"/>
                <a:gridCol w="4238625"/>
                <a:gridCol w="4238625"/>
              </a:tblGrid>
              <a:tr h="571500">
                <a:tc>
                  <a:txBody>
                    <a:bodyPr>
                      <a:noAutofit/>
                    </a:bodyPr>
                    <a:lstStyle/>
                    <a:p>
                      <a:pPr algn="l"/>
                      <a:r>
                        <a:rPr sz="1725" b="1">
                          <a:solidFill>
                            <a:srgbClr val="FFFFFF"/>
                          </a:solidFill>
                          <a:latin typeface="Helvetica Neue"/>
                          <a:ea typeface="Helvetica Neue"/>
                          <a:cs typeface="Helvetica Neue"/>
                        </a:rPr>
                        <a:t>Aspect</a:t>
                      </a:r>
                    </a:p>
                  </a:txBody>
                  <a:tcPr marL="152400" marR="114300" marT="66675" marB="66675" anchor="ctr">
                    <a:solidFill>
                      <a:srgbClr val="17283D"/>
                    </a:solidFill>
                  </a:tcPr>
                </a:tc>
                <a:tc>
                  <a:txBody>
                    <a:bodyPr>
                      <a:noAutofit/>
                    </a:bodyPr>
                    <a:lstStyle/>
                    <a:p>
                      <a:pPr algn="l"/>
                      <a:r>
                        <a:rPr sz="1725" b="1">
                          <a:solidFill>
                            <a:srgbClr val="FFFFFF"/>
                          </a:solidFill>
                          <a:latin typeface="Helvetica Neue"/>
                          <a:ea typeface="Helvetica Neue"/>
                          <a:cs typeface="Helvetica Neue"/>
                        </a:rPr>
                        <a:t>Xu et al.</a:t>
                      </a:r>
                    </a:p>
                  </a:txBody>
                  <a:tcPr marL="152400" marR="114300" marT="66675" marB="66675" anchor="ctr">
                    <a:solidFill>
                      <a:srgbClr val="17283D"/>
                    </a:solidFill>
                  </a:tcPr>
                </a:tc>
                <a:tc>
                  <a:txBody>
                    <a:bodyPr>
                      <a:noAutofit/>
                    </a:bodyPr>
                    <a:lstStyle/>
                    <a:p>
                      <a:pPr algn="l"/>
                      <a:r>
                        <a:rPr sz="1725" b="1">
                          <a:solidFill>
                            <a:srgbClr val="FFFFFF"/>
                          </a:solidFill>
                          <a:latin typeface="Helvetica Neue"/>
                          <a:ea typeface="Helvetica Neue"/>
                          <a:cs typeface="Helvetica Neue"/>
                        </a:rPr>
                        <a:t>This project</a:t>
                      </a:r>
                    </a:p>
                  </a:txBody>
                  <a:tcPr marL="152400" marR="114300" marT="66675" marB="66675" anchor="ctr">
                    <a:solidFill>
                      <a:srgbClr val="17283D"/>
                    </a:solidFill>
                  </a:tcPr>
                </a:tc>
              </a:tr>
              <a:tr h="781050">
                <a:tc>
                  <a:txBody>
                    <a:bodyPr>
                      <a:noAutofit/>
                    </a:bodyPr>
                    <a:lstStyle/>
                    <a:p>
                      <a:pPr algn="l"/>
                      <a:r>
                        <a:rPr sz="1800" b="0">
                          <a:solidFill>
                            <a:srgbClr val="17283D"/>
                          </a:solidFill>
                          <a:latin typeface="Helvetica Neue"/>
                          <a:ea typeface="Helvetica Neue"/>
                          <a:cs typeface="Helvetica Neue"/>
                        </a:rPr>
                        <a:t>Execution</a:t>
                      </a:r>
                    </a:p>
                  </a:txBody>
                  <a:tcPr marL="152400" marR="114300" marT="66675" marB="66675" anchor="ctr">
                    <a:solidFill>
                      <a:srgbClr val="FFFFFF"/>
                    </a:solidFill>
                  </a:tcPr>
                </a:tc>
                <a:tc>
                  <a:txBody>
                    <a:bodyPr>
                      <a:noAutofit/>
                    </a:bodyPr>
                    <a:lstStyle/>
                    <a:p>
                      <a:pPr algn="l"/>
                      <a:r>
                        <a:rPr sz="1800" b="0">
                          <a:solidFill>
                            <a:srgbClr val="17283D"/>
                          </a:solidFill>
                          <a:latin typeface="Helvetica Neue"/>
                          <a:ea typeface="Helvetica Neue"/>
                          <a:cs typeface="Helvetica Neue"/>
                        </a:rPr>
                        <a:t>Single simulates the same</a:t>
                      </a:r>
                    </a:p>
                    <a:p>
                      <a:pPr algn="l"/>
                      <a:r>
                        <a:rPr sz="1800" b="0">
                          <a:solidFill>
                            <a:srgbClr val="17283D"/>
                          </a:solidFill>
                          <a:latin typeface="Helvetica Neue"/>
                          <a:ea typeface="Helvetica Neue"/>
                          <a:cs typeface="Helvetica Neue"/>
                        </a:rPr>
                        <a:t>workflow across roles</a:t>
                      </a:r>
                    </a:p>
                  </a:txBody>
                  <a:tcPr marL="152400" marR="114300" marT="66675" marB="66675" anchor="ctr">
                    <a:solidFill>
                      <a:srgbClr val="FFFFFF"/>
                    </a:solidFill>
                  </a:tcPr>
                </a:tc>
                <a:tc>
                  <a:txBody>
                    <a:bodyPr>
                      <a:noAutofit/>
                    </a:bodyPr>
                    <a:lstStyle/>
                    <a:p>
                      <a:pPr algn="l"/>
                      <a:r>
                        <a:rPr sz="1800" b="0">
                          <a:solidFill>
                            <a:srgbClr val="17283D"/>
                          </a:solidFill>
                          <a:latin typeface="Helvetica Neue"/>
                          <a:ea typeface="Helvetica Neue"/>
                          <a:cs typeface="Helvetica Neue"/>
                        </a:rPr>
                        <a:t>Separate single and multi</a:t>
                      </a:r>
                    </a:p>
                    <a:p>
                      <a:pPr algn="l"/>
                      <a:r>
                        <a:rPr sz="1800" b="0">
                          <a:solidFill>
                            <a:srgbClr val="17283D"/>
                          </a:solidFill>
                          <a:latin typeface="Helvetica Neue"/>
                          <a:ea typeface="Helvetica Neue"/>
                          <a:cs typeface="Helvetica Neue"/>
                        </a:rPr>
                        <a:t>workflow implementations</a:t>
                      </a:r>
                    </a:p>
                  </a:txBody>
                  <a:tcPr marL="152400" marR="114300" marT="66675" marB="66675" anchor="ctr">
                    <a:solidFill>
                      <a:srgbClr val="FFFFFF"/>
                    </a:solidFill>
                  </a:tcPr>
                </a:tc>
              </a:tr>
              <a:tr h="781050">
                <a:tc>
                  <a:txBody>
                    <a:bodyPr>
                      <a:noAutofit/>
                    </a:bodyPr>
                    <a:lstStyle/>
                    <a:p>
                      <a:pPr algn="l"/>
                      <a:r>
                        <a:rPr sz="1800" b="0">
                          <a:solidFill>
                            <a:srgbClr val="17283D"/>
                          </a:solidFill>
                          <a:latin typeface="Helvetica Neue"/>
                          <a:ea typeface="Helvetica Neue"/>
                          <a:cs typeface="Helvetica Neue"/>
                        </a:rPr>
                        <a:t>Coding tasks</a:t>
                      </a:r>
                    </a:p>
                  </a:txBody>
                  <a:tcPr marL="152400" marR="114300" marT="66675" marB="66675" anchor="ctr">
                    <a:solidFill>
                      <a:srgbClr val="EFF2F6"/>
                    </a:solidFill>
                  </a:tcPr>
                </a:tc>
                <a:tc>
                  <a:txBody>
                    <a:bodyPr>
                      <a:noAutofit/>
                    </a:bodyPr>
                    <a:lstStyle/>
                    <a:p>
                      <a:pPr algn="l"/>
                      <a:r>
                        <a:rPr sz="1800" b="0">
                          <a:solidFill>
                            <a:srgbClr val="17283D"/>
                          </a:solidFill>
                          <a:latin typeface="Helvetica Neue"/>
                          <a:ea typeface="Helvetica Neue"/>
                          <a:cs typeface="Helvetica Neue"/>
                        </a:rPr>
                        <a:t>HumanEval and MBPP</a:t>
                      </a:r>
                    </a:p>
                  </a:txBody>
                  <a:tcPr marL="152400" marR="114300" marT="66675" marB="66675" anchor="ctr">
                    <a:solidFill>
                      <a:srgbClr val="EFF2F6"/>
                    </a:solidFill>
                  </a:tcPr>
                </a:tc>
                <a:tc>
                  <a:txBody>
                    <a:bodyPr>
                      <a:noAutofit/>
                    </a:bodyPr>
                    <a:lstStyle/>
                    <a:p>
                      <a:pPr algn="l"/>
                      <a:r>
                        <a:rPr sz="1800" b="0">
                          <a:solidFill>
                            <a:srgbClr val="17283D"/>
                          </a:solidFill>
                          <a:latin typeface="Helvetica Neue"/>
                          <a:ea typeface="Helvetica Neue"/>
                          <a:cs typeface="Helvetica Neue"/>
                        </a:rPr>
                        <a:t>Repository edits with</a:t>
                      </a:r>
                    </a:p>
                    <a:p>
                      <a:pPr algn="l"/>
                      <a:r>
                        <a:rPr sz="1800" b="0">
                          <a:solidFill>
                            <a:srgbClr val="17283D"/>
                          </a:solidFill>
                          <a:latin typeface="Helvetica Neue"/>
                          <a:ea typeface="Helvetica Neue"/>
                          <a:cs typeface="Helvetica Neue"/>
                        </a:rPr>
                        <a:t>visible and withheld tests</a:t>
                      </a:r>
                    </a:p>
                  </a:txBody>
                  <a:tcPr marL="152400" marR="114300" marT="66675" marB="66675" anchor="ctr">
                    <a:solidFill>
                      <a:srgbClr val="EFF2F6"/>
                    </a:solidFill>
                  </a:tcPr>
                </a:tc>
              </a:tr>
              <a:tr h="781050">
                <a:tc>
                  <a:txBody>
                    <a:bodyPr>
                      <a:noAutofit/>
                    </a:bodyPr>
                    <a:lstStyle/>
                    <a:p>
                      <a:pPr algn="l"/>
                      <a:r>
                        <a:rPr sz="1800" b="0">
                          <a:solidFill>
                            <a:srgbClr val="17283D"/>
                          </a:solidFill>
                          <a:latin typeface="Helvetica Neue"/>
                          <a:ea typeface="Helvetica Neue"/>
                          <a:cs typeface="Helvetica Neue"/>
                        </a:rPr>
                        <a:t>Cost evidence</a:t>
                      </a:r>
                    </a:p>
                  </a:txBody>
                  <a:tcPr marL="152400" marR="114300" marT="66675" marB="66675" anchor="ctr">
                    <a:solidFill>
                      <a:srgbClr val="FFFFFF"/>
                    </a:solidFill>
                  </a:tcPr>
                </a:tc>
                <a:tc>
                  <a:txBody>
                    <a:bodyPr>
                      <a:noAutofit/>
                    </a:bodyPr>
                    <a:lstStyle/>
                    <a:p>
                      <a:pPr algn="l"/>
                      <a:r>
                        <a:rPr sz="1800" b="0">
                          <a:solidFill>
                            <a:srgbClr val="17283D"/>
                          </a:solidFill>
                          <a:latin typeface="Helvetica Neue"/>
                          <a:ea typeface="Helvetica Neue"/>
                          <a:cs typeface="Helvetica Neue"/>
                        </a:rPr>
                        <a:t>Ideal KV-cache API estimate.</a:t>
                      </a:r>
                    </a:p>
                    <a:p>
                      <a:pPr algn="l"/>
                      <a:r>
                        <a:rPr sz="1800" b="0">
                          <a:solidFill>
                            <a:srgbClr val="17283D"/>
                          </a:solidFill>
                          <a:latin typeface="Helvetica Neue"/>
                          <a:ea typeface="Helvetica Neue"/>
                          <a:cs typeface="Helvetica Neue"/>
                        </a:rPr>
                        <a:t>Qwen latency measured.</a:t>
                      </a:r>
                    </a:p>
                  </a:txBody>
                  <a:tcPr marL="152400" marR="114300" marT="66675" marB="66675" anchor="ctr">
                    <a:solidFill>
                      <a:srgbClr val="FFFFFF"/>
                    </a:solidFill>
                  </a:tcPr>
                </a:tc>
                <a:tc>
                  <a:txBody>
                    <a:bodyPr>
                      <a:noAutofit/>
                    </a:bodyPr>
                    <a:lstStyle/>
                    <a:p>
                      <a:pPr algn="l"/>
                      <a:r>
                        <a:rPr sz="1800" b="0">
                          <a:solidFill>
                            <a:srgbClr val="17283D"/>
                          </a:solidFill>
                          <a:latin typeface="Helvetica Neue"/>
                          <a:ea typeface="Helvetica Neue"/>
                          <a:cs typeface="Helvetica Neue"/>
                        </a:rPr>
                        <a:t>Actual DeepSeek billing.</a:t>
                      </a:r>
                    </a:p>
                    <a:p>
                      <a:pPr algn="l"/>
                      <a:r>
                        <a:rPr sz="1800" b="0">
                          <a:solidFill>
                            <a:srgbClr val="17283D"/>
                          </a:solidFill>
                          <a:latin typeface="Helvetica Neue"/>
                          <a:ea typeface="Helvetica Neue"/>
                          <a:cs typeface="Helvetica Neue"/>
                        </a:rPr>
                        <a:t>No cache-control ablation.</a:t>
                      </a:r>
                    </a:p>
                  </a:txBody>
                  <a:tcPr marL="152400" marR="114300" marT="66675" marB="66675" anchor="ctr">
                    <a:solidFill>
                      <a:srgbClr val="FFFFFF"/>
                    </a:solidFill>
                  </a:tcPr>
                </a:tc>
              </a:tr>
              <a:tr h="781050">
                <a:tc>
                  <a:txBody>
                    <a:bodyPr>
                      <a:noAutofit/>
                    </a:bodyPr>
                    <a:lstStyle/>
                    <a:p>
                      <a:pPr algn="l"/>
                      <a:r>
                        <a:rPr sz="1800" b="0">
                          <a:solidFill>
                            <a:srgbClr val="17283D"/>
                          </a:solidFill>
                          <a:latin typeface="Helvetica Neue"/>
                          <a:ea typeface="Helvetica Neue"/>
                          <a:cs typeface="Helvetica Neue"/>
                        </a:rPr>
                        <a:t>Budget control</a:t>
                      </a:r>
                    </a:p>
                  </a:txBody>
                  <a:tcPr marL="152400" marR="114300" marT="66675" marB="66675" anchor="ctr">
                    <a:solidFill>
                      <a:srgbClr val="EFF2F6"/>
                    </a:solidFill>
                  </a:tcPr>
                </a:tc>
                <a:tc>
                  <a:txBody>
                    <a:bodyPr>
                      <a:noAutofit/>
                    </a:bodyPr>
                    <a:lstStyle/>
                    <a:p>
                      <a:pPr algn="l"/>
                      <a:r>
                        <a:rPr sz="1800" b="0">
                          <a:solidFill>
                            <a:srgbClr val="17283D"/>
                          </a:solidFill>
                          <a:latin typeface="Helvetica Neue"/>
                          <a:ea typeface="Helvetica Neue"/>
                          <a:cs typeface="Helvetica Neue"/>
                        </a:rPr>
                        <a:t>Workflow-specific usage</a:t>
                      </a:r>
                    </a:p>
                  </a:txBody>
                  <a:tcPr marL="152400" marR="114300" marT="66675" marB="66675" anchor="ctr">
                    <a:solidFill>
                      <a:srgbClr val="EFF2F6"/>
                    </a:solidFill>
                  </a:tcPr>
                </a:tc>
                <a:tc>
                  <a:txBody>
                    <a:bodyPr>
                      <a:noAutofit/>
                    </a:bodyPr>
                    <a:lstStyle/>
                    <a:p>
                      <a:pPr algn="l"/>
                      <a:r>
                        <a:rPr sz="1800" b="0">
                          <a:solidFill>
                            <a:srgbClr val="17283D"/>
                          </a:solidFill>
                          <a:latin typeface="Helvetica Neue"/>
                          <a:ea typeface="Helvetica Neue"/>
                          <a:cs typeface="Helvetica Neue"/>
                        </a:rPr>
                        <a:t>Step caps and cost guards.</a:t>
                      </a:r>
                    </a:p>
                    <a:p>
                      <a:pPr algn="l"/>
                      <a:r>
                        <a:rPr sz="1800" b="0">
                          <a:solidFill>
                            <a:srgbClr val="17283D"/>
                          </a:solidFill>
                          <a:latin typeface="Helvetica Neue"/>
                          <a:ea typeface="Helvetica Neue"/>
                          <a:cs typeface="Helvetica Neue"/>
                        </a:rPr>
                        <a:t>Actual compute differs.</a:t>
                      </a:r>
                    </a:p>
                  </a:txBody>
                  <a:tcPr marL="152400" marR="114300" marT="66675" marB="66675" anchor="ctr">
                    <a:solidFill>
                      <a:srgbClr val="EFF2F6"/>
                    </a:solidFill>
                  </a:tcPr>
                </a:tc>
              </a:tr>
            </a:tbl>
          </a:graphicData>
        </a:graphic>
      </p:graphicFrame>
      <p:sp>
        <p:nvSpPr>
          <p:cNvPr id="5" name="citation-2">
            <a:extLst>
              <a:ext uri="{FF2B5EF4-FFF2-40B4-BE49-F238E27FC236}">
                <ns2:creationId id="{C0D6B770-4F20-4CE6-A398-64FEF01B5D59}"/>
              </a:ext>
            </a:extLst>
            <a:hlinkClick r:id="rIdCitation1" tooltip="Open the cited paper"/>
          </p:cNvPr>
          <p:cNvSpPr>
            <a:spLocks noGrp="1"/>
          </p:cNvSpPr>
          <p:nvPr/>
        </p:nvSpPr>
        <p:spPr>
          <a:xfrm>
            <a:off x="685800" y="6048375"/>
            <a:ext cx="10820400" cy="285750"/>
          </a:xfrm>
          <a:prstGeom prst="rect">
            <a:avLst/>
          </a:prstGeom>
          <a:noFill/>
          <a:ln w="0">
            <a:noFill/>
          </a:ln>
        </p:spPr>
        <p:txBody>
          <a:bodyPr wrap="square" lIns="0" tIns="0" rIns="0" bIns="0" anchor="t">
            <a:noAutofit/>
          </a:bodyPr>
          <a:lstStyle/>
          <a:p>
            <a:pPr algn="l">
              <a:defRPr sz="1575" b="0">
                <a:solidFill>
                  <a:srgbClr val="2468C9"/>
                </a:solidFill>
                <a:latin typeface="Helvetica Neue"/>
                <a:ea typeface="Helvetica Neue"/>
                <a:cs typeface="Helvetica Neue"/>
              </a:defRPr>
            </a:pPr>
            <a:r>
              <a:rPr sz="1575" b="0">
                <a:solidFill>
                  <a:srgbClr val="2468C9"/>
                </a:solidFill>
                <a:latin typeface="Helvetica Neue"/>
                <a:ea typeface="Helvetica Neue"/>
                <a:cs typeface="Helvetica Neue"/>
              </a:rPr>
              <a:t>Xu et al. (2026), §§3.2 and 4.1. arxiv.org/abs/2601.12307</a:t>
            </a:r>
          </a:p>
        </p:txBody>
      </p:sp>
    </p:spTree>
    <p:extLst>
      <p:ext uri="{BB962C8B-B14F-4D97-AF65-F5344CB8AC3E}">
        <ns4:creationId val="1534441846"/>
      </p:ext>
    </p:extLst>
  </p:cSld>
</p:sld>
</file>

<file path=ppt/slides/slide23.xml><?xml version="1.0" encoding="utf-8"?>
<p:sld xmlns:p="http://schemas.openxmlformats.org/presentationml/2006/main">
  <p:cSld>
    <p:bg>
      <p:bgPr>
        <a:solidFill xmlns:a="http://schemas.openxmlformats.org/drawingml/2006/main">
          <a:srgbClr val="14243A"/>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D24CCA34-694B-41CE-B2ED-44BC16E2AB45}"/>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Hypotheses and conclusions</a:t>
            </a:r>
          </a:p>
        </p:txBody>
      </p:sp>
      <p:sp>
        <p:nvSpPr>
          <p:cNvPr id="2" name="slide-number">
            <a:extLst xmlns:a="http://schemas.openxmlformats.org/drawingml/2006/main">
              <a:ext uri="{FF2B5EF4-FFF2-40B4-BE49-F238E27FC236}">
                <a16:creationId xmlns:a16="http://schemas.microsoft.com/office/drawing/2014/main" id="{C158C60A-676F-4FFD-81AC-CFF688390A56}"/>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9D6FC"/>
                </a:solidFill>
                <a:latin typeface="Helvetica Neue"/>
                <a:ea typeface="Helvetica Neue"/>
                <a:cs typeface="Helvetica Neue"/>
              </a:defRPr>
            </a:pPr>
            <a:r>
              <a:rPr sz="1275" b="0">
                <a:solidFill>
                  <a:srgbClr val="B9D6FC"/>
                </a:solidFill>
                <a:latin typeface="Helvetica Neue"/>
                <a:ea typeface="Helvetica Neue"/>
                <a:cs typeface="Helvetica Neue"/>
              </a:rPr>
              <a:t>23</a:t>
            </a:r>
          </a:p>
        </p:txBody>
      </p:sp>
      <p:sp>
        <p:nvSpPr>
          <p:cNvPr id="3" name="text-2">
            <a:extLst xmlns:a="http://schemas.openxmlformats.org/drawingml/2006/main">
              <a:ext uri="{FF2B5EF4-FFF2-40B4-BE49-F238E27FC236}">
                <a16:creationId xmlns:a16="http://schemas.microsoft.com/office/drawing/2014/main" id="{778C57BE-5426-4E98-908F-C5A11B5592B7}"/>
              </a:ext>
            </a:extLst>
          </p:cNvPr>
          <p:cNvSpPr>
            <a:spLocks xmlns:a="http://schemas.openxmlformats.org/drawingml/2006/main" noGrp="1"/>
          </p:cNvSpPr>
          <p:nvPr/>
        </p:nvSpPr>
        <p:spPr>
          <a:xfrm xmlns:a="http://schemas.openxmlformats.org/drawingml/2006/main">
            <a:off x="685800" y="15335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H1. Single is more cost-effective on simple tasks</a:t>
            </a:r>
          </a:p>
        </p:txBody>
      </p:sp>
      <p:sp>
        <p:nvSpPr>
          <p:cNvPr id="4" name="text-3">
            <a:extLst xmlns:a="http://schemas.openxmlformats.org/drawingml/2006/main">
              <a:ext uri="{FF2B5EF4-FFF2-40B4-BE49-F238E27FC236}">
                <a16:creationId xmlns:a16="http://schemas.microsoft.com/office/drawing/2014/main" id="{B7F4214F-5C5E-4E46-8FE1-849C174DC358}"/>
              </a:ext>
            </a:extLst>
          </p:cNvPr>
          <p:cNvSpPr>
            <a:spLocks xmlns:a="http://schemas.openxmlformats.org/drawingml/2006/main" noGrp="1"/>
          </p:cNvSpPr>
          <p:nvPr/>
        </p:nvSpPr>
        <p:spPr>
          <a:xfrm xmlns:a="http://schemas.openxmlformats.org/drawingml/2006/main">
            <a:off x="685800" y="20097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B9D6FC"/>
                </a:solidFill>
                <a:latin typeface="Helvetica Neue"/>
                <a:ea typeface="Helvetica Neue"/>
                <a:cs typeface="Helvetica Neue"/>
              </a:defRPr>
            </a:pPr>
            <a:r>
              <a:rPr sz="2100" b="1">
                <a:solidFill>
                  <a:srgbClr val="B9D6FC"/>
                </a:solidFill>
                <a:latin typeface="Helvetica Neue"/>
                <a:ea typeface="Helvetica Neue"/>
                <a:cs typeface="Helvetica Neue"/>
              </a:rPr>
              <a:t>Supported in master: all systems solve 11/12.</a:t>
            </a:r>
          </a:p>
        </p:txBody>
      </p:sp>
      <p:sp>
        <p:nvSpPr>
          <p:cNvPr id="5" name="text-4">
            <a:extLst xmlns:a="http://schemas.openxmlformats.org/drawingml/2006/main">
              <a:ext uri="{FF2B5EF4-FFF2-40B4-BE49-F238E27FC236}">
                <a16:creationId xmlns:a16="http://schemas.microsoft.com/office/drawing/2014/main" id="{B479CFB5-4160-40F2-8413-61506325E098}"/>
              </a:ext>
            </a:extLst>
          </p:cNvPr>
          <p:cNvSpPr>
            <a:spLocks xmlns:a="http://schemas.openxmlformats.org/drawingml/2006/main" noGrp="1"/>
          </p:cNvSpPr>
          <p:nvPr/>
        </p:nvSpPr>
        <p:spPr>
          <a:xfrm xmlns:a="http://schemas.openxmlformats.org/drawingml/2006/main">
            <a:off x="685800" y="24193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Graph costs 2.03× single. Guarded costs 2.58×.</a:t>
            </a:r>
          </a:p>
        </p:txBody>
      </p:sp>
      <p:sp>
        <p:nvSpPr>
          <p:cNvPr id="6" name="text-5">
            <a:extLst xmlns:a="http://schemas.openxmlformats.org/drawingml/2006/main">
              <a:ext uri="{FF2B5EF4-FFF2-40B4-BE49-F238E27FC236}">
                <a16:creationId xmlns:a16="http://schemas.microsoft.com/office/drawing/2014/main" id="{209663F2-07FC-4ABB-8796-350435A314D3}"/>
              </a:ext>
            </a:extLst>
          </p:cNvPr>
          <p:cNvSpPr>
            <a:spLocks xmlns:a="http://schemas.openxmlformats.org/drawingml/2006/main" noGrp="1"/>
          </p:cNvSpPr>
          <p:nvPr/>
        </p:nvSpPr>
        <p:spPr>
          <a:xfrm xmlns:a="http://schemas.openxmlformats.org/drawingml/2006/main">
            <a:off x="685800" y="31146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H2. Multi-agent benefits increase with complexity</a:t>
            </a:r>
          </a:p>
        </p:txBody>
      </p:sp>
      <p:sp>
        <p:nvSpPr>
          <p:cNvPr id="7" name="text-6">
            <a:extLst xmlns:a="http://schemas.openxmlformats.org/drawingml/2006/main">
              <a:ext uri="{FF2B5EF4-FFF2-40B4-BE49-F238E27FC236}">
                <a16:creationId xmlns:a16="http://schemas.microsoft.com/office/drawing/2014/main" id="{A074EBE7-7858-424D-B53A-29E67DD183AC}"/>
              </a:ext>
            </a:extLst>
          </p:cNvPr>
          <p:cNvSpPr>
            <a:spLocks xmlns:a="http://schemas.openxmlformats.org/drawingml/2006/main" noGrp="1"/>
          </p:cNvSpPr>
          <p:nvPr/>
        </p:nvSpPr>
        <p:spPr>
          <a:xfrm xmlns:a="http://schemas.openxmlformats.org/drawingml/2006/main">
            <a:off x="685800" y="36004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B9D6FC"/>
                </a:solidFill>
                <a:latin typeface="Helvetica Neue"/>
                <a:ea typeface="Helvetica Neue"/>
                <a:cs typeface="Helvetica Neue"/>
              </a:defRPr>
            </a:pPr>
            <a:r>
              <a:rPr sz="2025" b="1">
                <a:solidFill>
                  <a:srgbClr val="B9D6FC"/>
                </a:solidFill>
                <a:latin typeface="Helvetica Neue"/>
                <a:ea typeface="Helvetica Neue"/>
                <a:cs typeface="Helvetica Neue"/>
              </a:rPr>
              <a:t>Not supported: medium single 11/12, multi 10/12.</a:t>
            </a:r>
          </a:p>
        </p:txBody>
      </p:sp>
      <p:sp>
        <p:nvSpPr>
          <p:cNvPr id="8" name="text-7">
            <a:extLst xmlns:a="http://schemas.openxmlformats.org/drawingml/2006/main">
              <a:ext uri="{FF2B5EF4-FFF2-40B4-BE49-F238E27FC236}">
                <a16:creationId xmlns:a16="http://schemas.microsoft.com/office/drawing/2014/main" id="{800B1C46-06AF-412C-8D93-B4CE94916591}"/>
              </a:ext>
            </a:extLst>
          </p:cNvPr>
          <p:cNvSpPr>
            <a:spLocks xmlns:a="http://schemas.openxmlformats.org/drawingml/2006/main" noGrp="1"/>
          </p:cNvSpPr>
          <p:nvPr/>
        </p:nvSpPr>
        <p:spPr>
          <a:xfrm xmlns:a="http://schemas.openxmlformats.org/drawingml/2006/main">
            <a:off x="685800" y="39719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SWE Pro: single and graph both solve 9/15.</a:t>
            </a:r>
          </a:p>
        </p:txBody>
      </p:sp>
      <p:sp>
        <p:nvSpPr>
          <p:cNvPr id="9" name="text-8">
            <a:extLst xmlns:a="http://schemas.openxmlformats.org/drawingml/2006/main">
              <a:ext uri="{FF2B5EF4-FFF2-40B4-BE49-F238E27FC236}">
                <a16:creationId xmlns:a16="http://schemas.microsoft.com/office/drawing/2014/main" id="{0A65372C-0355-461F-9C13-80AA625D5133}"/>
              </a:ext>
            </a:extLst>
          </p:cNvPr>
          <p:cNvSpPr>
            <a:spLocks xmlns:a="http://schemas.openxmlformats.org/drawingml/2006/main" noGrp="1"/>
          </p:cNvSpPr>
          <p:nvPr/>
        </p:nvSpPr>
        <p:spPr>
          <a:xfrm xmlns:a="http://schemas.openxmlformats.org/drawingml/2006/main">
            <a:off x="685800" y="44291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DeepSeek: more consistent graph results at higher cost</a:t>
            </a:r>
          </a:p>
        </p:txBody>
      </p:sp>
      <p:sp>
        <p:nvSpPr>
          <p:cNvPr id="10" name="text-9">
            <a:extLst xmlns:a="http://schemas.openxmlformats.org/drawingml/2006/main">
              <a:ext uri="{FF2B5EF4-FFF2-40B4-BE49-F238E27FC236}">
                <a16:creationId xmlns:a16="http://schemas.microsoft.com/office/drawing/2014/main" id="{9E9B08D6-40A4-4FD3-BE2A-B33C76818C90}"/>
              </a:ext>
            </a:extLst>
          </p:cNvPr>
          <p:cNvSpPr>
            <a:spLocks xmlns:a="http://schemas.openxmlformats.org/drawingml/2006/main" noGrp="1"/>
          </p:cNvSpPr>
          <p:nvPr/>
        </p:nvSpPr>
        <p:spPr>
          <a:xfrm xmlns:a="http://schemas.openxmlformats.org/drawingml/2006/main">
            <a:off x="685800" y="48958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9D6FC"/>
                </a:solidFill>
                <a:latin typeface="Helvetica Neue"/>
                <a:ea typeface="Helvetica Neue"/>
                <a:cs typeface="Helvetica Neue"/>
              </a:defRPr>
            </a:pPr>
            <a:r>
              <a:rPr sz="2025" b="0">
                <a:solidFill>
                  <a:srgbClr val="B9D6FC"/>
                </a:solidFill>
                <a:latin typeface="Helvetica Neue"/>
                <a:ea typeface="Helvetica Neue"/>
                <a:cs typeface="Helvetica Neue"/>
              </a:rPr>
              <a:t>Solved in all three attempts: graph 10/12 tasks, single 7/12.</a:t>
            </a:r>
          </a:p>
        </p:txBody>
      </p:sp>
      <p:sp>
        <p:nvSpPr>
          <p:cNvPr id="11" name="text-10">
            <a:extLst xmlns:a="http://schemas.openxmlformats.org/drawingml/2006/main">
              <a:ext uri="{FF2B5EF4-FFF2-40B4-BE49-F238E27FC236}">
                <a16:creationId xmlns:a16="http://schemas.microsoft.com/office/drawing/2014/main" id="{B927FF77-5263-4B77-A4B9-9C19F44ECF9F}"/>
              </a:ext>
            </a:extLst>
          </p:cNvPr>
          <p:cNvSpPr>
            <a:spLocks xmlns:a="http://schemas.openxmlformats.org/drawingml/2006/main" noGrp="1"/>
          </p:cNvSpPr>
          <p:nvPr/>
        </p:nvSpPr>
        <p:spPr>
          <a:xfrm xmlns:a="http://schemas.openxmlformats.org/drawingml/2006/main">
            <a:off x="685800" y="52863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Both solve the same 11 tasks at least once. Graph cost/success: +20.5%.</a:t>
            </a:r>
          </a:p>
        </p:txBody>
      </p:sp>
      <p:sp>
        <p:nvSpPr>
          <p:cNvPr id="12" name="text-11">
            <a:extLst xmlns:a="http://schemas.openxmlformats.org/drawingml/2006/main">
              <a:ext uri="{FF2B5EF4-FFF2-40B4-BE49-F238E27FC236}">
                <a16:creationId xmlns:a16="http://schemas.microsoft.com/office/drawing/2014/main" id="{FD1ACE9B-F980-46D7-B35B-D8008C2A74DE}"/>
              </a:ext>
            </a:extLst>
          </p:cNvPr>
          <p:cNvSpPr>
            <a:spLocks xmlns:a="http://schemas.openxmlformats.org/drawingml/2006/main" noGrp="1"/>
          </p:cNvSpPr>
          <p:nvPr/>
        </p:nvSpPr>
        <p:spPr>
          <a:xfrm xmlns:a="http://schemas.openxmlformats.org/drawingml/2006/main">
            <a:off x="685800" y="5915025"/>
            <a:ext cx="10715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9D6FC"/>
                </a:solidFill>
                <a:latin typeface="Helvetica Neue"/>
                <a:ea typeface="Helvetica Neue"/>
                <a:cs typeface="Helvetica Neue"/>
              </a:defRPr>
            </a:pPr>
            <a:r>
              <a:rPr sz="1575" b="0">
                <a:solidFill>
                  <a:srgbClr val="B9D6FC"/>
                </a:solidFill>
                <a:latin typeface="Helvetica Neue"/>
                <a:ea typeface="Helvetica Neue"/>
                <a:cs typeface="Helvetica Neue"/>
              </a:rPr>
              <a:t>Scope: 12 familiar tasks in repeats. Larger master blocks use unequal budgets.</a:t>
            </a:r>
          </a:p>
          <a:p xmlns:a="http://schemas.openxmlformats.org/drawingml/2006/main">
            <a:pPr algn="l">
              <a:defRPr sz="1575" b="0">
                <a:solidFill>
                  <a:srgbClr val="B9D6FC"/>
                </a:solidFill>
                <a:latin typeface="Helvetica Neue"/>
                <a:ea typeface="Helvetica Neue"/>
                <a:cs typeface="Helvetica Neue"/>
              </a:defRPr>
            </a:pPr>
            <a:r>
              <a:rPr sz="1575" b="0">
                <a:solidFill>
                  <a:srgbClr val="B9D6FC"/>
                </a:solidFill>
                <a:latin typeface="Helvetica Neue"/>
                <a:ea typeface="Helvetica Neue"/>
                <a:cs typeface="Helvetica Neue"/>
              </a:rPr>
              <a:t>Repository size only approximates task complexity.</a:t>
            </a:r>
          </a:p>
        </p:txBody>
      </p:sp>
    </p:spTree>
    <p:extLst>
      <p:ext uri="{BB962C8B-B14F-4D97-AF65-F5344CB8AC3E}">
        <p14:creationId xmlns:p14="http://schemas.microsoft.com/office/powerpoint/2010/main" val="243856481"/>
      </p:ext>
    </p:extLst>
  </p:cSld>
</p:sld>
</file>

<file path=ppt/slides/slide2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44D44827-15D9-4DF7-8E5D-3A78D4377A91}"/>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Dataset definitions and scope changes</a:t>
            </a:r>
          </a:p>
        </p:txBody>
      </p:sp>
      <p:sp>
        <p:nvSpPr>
          <p:cNvPr id="2" name="slide-number">
            <a:extLst xmlns:a="http://schemas.openxmlformats.org/drawingml/2006/main">
              <a:ext uri="{FF2B5EF4-FFF2-40B4-BE49-F238E27FC236}">
                <a16:creationId xmlns:a16="http://schemas.microsoft.com/office/drawing/2014/main" id="{6C0BDB1D-EADE-475B-BC1F-D41F01CB835B}"/>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24</a:t>
            </a:r>
          </a:p>
        </p:txBody>
      </p:sp>
      <p:sp>
        <p:nvSpPr>
          <p:cNvPr id="3" name="appendix-label">
            <a:extLst xmlns:a="http://schemas.openxmlformats.org/drawingml/2006/main">
              <a:ext uri="{FF2B5EF4-FFF2-40B4-BE49-F238E27FC236}">
                <a16:creationId xmlns:a16="http://schemas.microsoft.com/office/drawing/2014/main" id="{D85FD678-43CE-4799-A6CA-51A2372A468D}"/>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graphicFrame>
        <p:nvGraphicFramePr>
          <p:cNvPr id="10" name=""/>
          <p:cNvGraphicFramePr/>
          <p:nvPr/>
        </p:nvGraphicFramePr>
        <p:xfrm>
          <a:off xmlns:a="http://schemas.openxmlformats.org/drawingml/2006/main" x="685800" y="1838325"/>
          <a:ext xmlns:a="http://schemas.openxmlformats.org/drawingml/2006/main" cx="10820400" cy="2286000"/>
        </p:xfrm>
        <a:graphic xmlns:a="http://schemas.openxmlformats.org/drawingml/2006/main">
          <a:graphicData uri="http://schemas.openxmlformats.org/drawingml/2006/table">
            <a:tbl>
              <a:tblPr firstRow="0" bandRow="0"/>
              <a:tblGrid>
                <a:gridCol w="3581400"/>
                <a:gridCol w="3810000"/>
                <a:gridCol w="3429000"/>
              </a:tblGrid>
              <a:tr h="619125">
                <a:tc>
                  <a:txBody>
                    <a:bodyPr>
                      <a:noAutofit/>
                    </a:bodyPr>
                    <a:lstStyle/>
                    <a:p>
                      <a:pPr algn="l"/>
                      <a:r>
                        <a:rPr sz="1950" b="1">
                          <a:solidFill>
                            <a:srgbClr val="FFFFFF"/>
                          </a:solidFill>
                          <a:latin typeface="Helvetica Neue"/>
                          <a:ea typeface="Helvetica Neue"/>
                          <a:cs typeface="Helvetica Neue"/>
                        </a:rPr>
                        <a:t>Group</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Original source LOC</a:t>
                      </a:r>
                    </a:p>
                  </a:txBody>
                  <a:tcPr marL="152400" marR="114300" marT="123825" marB="114300" anchor="ctr">
                    <a:solidFill>
                      <a:srgbClr val="17283D"/>
                    </a:solidFill>
                  </a:tcPr>
                </a:tc>
                <a:tc>
                  <a:txBody>
                    <a:bodyPr>
                      <a:noAutofit/>
                    </a:bodyPr>
                    <a:lstStyle/>
                    <a:p>
                      <a:pPr algn="l"/>
                      <a:r>
                        <a:rPr sz="1950" b="1">
                          <a:solidFill>
                            <a:srgbClr val="FFFFFF"/>
                          </a:solidFill>
                          <a:latin typeface="Helvetica Neue"/>
                          <a:ea typeface="Helvetica Neue"/>
                          <a:cs typeface="Helvetica Neue"/>
                        </a:rPr>
                        <a:t>Original files</a:t>
                      </a:r>
                    </a:p>
                  </a:txBody>
                  <a:tcPr marL="152400" marR="114300" marT="123825" marB="114300" anchor="ctr">
                    <a:solidFill>
                      <a:srgbClr val="17283D"/>
                    </a:solidFill>
                  </a:tcPr>
                </a:tc>
              </a:tr>
              <a:tr h="781050">
                <a:tc>
                  <a:txBody>
                    <a:bodyPr>
                      <a:noAutofit/>
                    </a:bodyPr>
                    <a:lstStyle/>
                    <a:p>
                      <a:pPr algn="l"/>
                      <a:r>
                        <a:rPr sz="2025" b="0">
                          <a:solidFill>
                            <a:srgbClr val="17283D"/>
                          </a:solidFill>
                          <a:latin typeface="Helvetica Neue"/>
                          <a:ea typeface="Helvetica Neue"/>
                          <a:cs typeface="Helvetica Neue"/>
                        </a:rPr>
                        <a:t>Small</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500–3,000</a:t>
                      </a:r>
                    </a:p>
                  </a:txBody>
                  <a:tcPr marL="152400" marR="114300" marT="123825" marB="114300" anchor="ctr">
                    <a:solidFill>
                      <a:srgbClr val="FFFFFF"/>
                    </a:solidFill>
                  </a:tcPr>
                </a:tc>
                <a:tc>
                  <a:txBody>
                    <a:bodyPr>
                      <a:noAutofit/>
                    </a:bodyPr>
                    <a:lstStyle/>
                    <a:p>
                      <a:pPr algn="l"/>
                      <a:r>
                        <a:rPr sz="2025" b="0">
                          <a:solidFill>
                            <a:srgbClr val="17283D"/>
                          </a:solidFill>
                          <a:latin typeface="Helvetica Neue"/>
                          <a:ea typeface="Helvetica Neue"/>
                          <a:cs typeface="Helvetica Neue"/>
                        </a:rPr>
                        <a:t>5–30</a:t>
                      </a:r>
                    </a:p>
                  </a:txBody>
                  <a:tcPr marL="152400" marR="114300" marT="123825" marB="114300" anchor="ctr">
                    <a:solidFill>
                      <a:srgbClr val="FFFFFF"/>
                    </a:solidFill>
                  </a:tcPr>
                </a:tc>
              </a:tr>
              <a:tr h="781050">
                <a:tc>
                  <a:txBody>
                    <a:bodyPr>
                      <a:noAutofit/>
                    </a:bodyPr>
                    <a:lstStyle/>
                    <a:p>
                      <a:pPr algn="l"/>
                      <a:r>
                        <a:rPr sz="2025" b="0">
                          <a:solidFill>
                            <a:srgbClr val="17283D"/>
                          </a:solidFill>
                          <a:latin typeface="Helvetica Neue"/>
                          <a:ea typeface="Helvetica Neue"/>
                          <a:cs typeface="Helvetica Neue"/>
                        </a:rPr>
                        <a:t>Medium</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3,001–15,000</a:t>
                      </a:r>
                    </a:p>
                  </a:txBody>
                  <a:tcPr marL="152400" marR="114300" marT="123825" marB="114300" anchor="ctr">
                    <a:solidFill>
                      <a:srgbClr val="EFF2F6"/>
                    </a:solidFill>
                  </a:tcPr>
                </a:tc>
                <a:tc>
                  <a:txBody>
                    <a:bodyPr>
                      <a:noAutofit/>
                    </a:bodyPr>
                    <a:lstStyle/>
                    <a:p>
                      <a:pPr algn="l"/>
                      <a:r>
                        <a:rPr sz="2025" b="0">
                          <a:solidFill>
                            <a:srgbClr val="17283D"/>
                          </a:solidFill>
                          <a:latin typeface="Helvetica Neue"/>
                          <a:ea typeface="Helvetica Neue"/>
                          <a:cs typeface="Helvetica Neue"/>
                        </a:rPr>
                        <a:t>31–120</a:t>
                      </a:r>
                    </a:p>
                  </a:txBody>
                  <a:tcPr marL="152400" marR="114300" marT="123825" marB="114300"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1D34D8DE-F1D5-4A6B-BD13-606772489E88}"/>
              </a:ext>
            </a:extLst>
          </p:cNvPr>
          <p:cNvSpPr>
            <a:spLocks xmlns:a="http://schemas.openxmlformats.org/drawingml/2006/main" noGrp="1"/>
          </p:cNvSpPr>
          <p:nvPr/>
        </p:nvSpPr>
        <p:spPr>
          <a:xfrm xmlns:a="http://schemas.openxmlformats.org/drawingml/2006/main">
            <a:off x="685800" y="4543425"/>
            <a:ext cx="106203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3D"/>
                </a:solidFill>
                <a:latin typeface="Helvetica Neue"/>
                <a:ea typeface="Helvetica Neue"/>
                <a:cs typeface="Helvetica Neue"/>
              </a:defRPr>
            </a:pPr>
            <a:r>
              <a:rPr sz="2175" b="1">
                <a:solidFill>
                  <a:srgbClr val="17283D"/>
                </a:solidFill>
                <a:latin typeface="Helvetica Neue"/>
                <a:ea typeface="Helvetica Neue"/>
                <a:cs typeface="Helvetica Neue"/>
              </a:rPr>
              <a:t>Final core: 12 tasks per group, from 11 small and 6 medium repositories.</a:t>
            </a:r>
          </a:p>
        </p:txBody>
      </p:sp>
      <p:sp>
        <p:nvSpPr>
          <p:cNvPr id="6" name="text-4">
            <a:extLst xmlns:a="http://schemas.openxmlformats.org/drawingml/2006/main">
              <a:ext uri="{FF2B5EF4-FFF2-40B4-BE49-F238E27FC236}">
                <a16:creationId xmlns:a16="http://schemas.microsoft.com/office/drawing/2014/main" id="{E840D310-0644-4A01-BA95-E14583188D32}"/>
              </a:ext>
            </a:extLst>
          </p:cNvPr>
          <p:cNvSpPr>
            <a:spLocks xmlns:a="http://schemas.openxmlformats.org/drawingml/2006/main" noGrp="1"/>
          </p:cNvSpPr>
          <p:nvPr/>
        </p:nvSpPr>
        <p:spPr>
          <a:xfrm xmlns:a="http://schemas.openxmlformats.org/drawingml/2006/main">
            <a:off x="685800" y="55626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174"/>
                </a:solidFill>
                <a:latin typeface="Helvetica Neue"/>
                <a:ea typeface="Helvetica Neue"/>
                <a:cs typeface="Helvetica Neue"/>
              </a:defRPr>
            </a:pPr>
            <a:r>
              <a:rPr sz="1875" b="0">
                <a:solidFill>
                  <a:srgbClr val="516174"/>
                </a:solidFill>
                <a:latin typeface="Helvetica Neue"/>
                <a:ea typeface="Helvetica Neue"/>
                <a:cs typeface="Helvetica Neue"/>
              </a:rPr>
              <a:t>Later rules prioritize LOC. Physical and nonblank counts leave two medium labels ambiguous.</a:t>
            </a:r>
          </a:p>
        </p:txBody>
      </p:sp>
    </p:spTree>
    <p:extLst>
      <p:ext uri="{BB962C8B-B14F-4D97-AF65-F5344CB8AC3E}">
        <p14:creationId xmlns:p14="http://schemas.microsoft.com/office/powerpoint/2010/main" val="80373922"/>
      </p:ext>
    </p:extLst>
  </p:cSld>
</p:sld>
</file>

<file path=ppt/slides/slide2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CE49541-5DD3-4E87-84E6-43E1E36A2EC4}"/>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Operational definitions of AI metrics</a:t>
            </a:r>
          </a:p>
        </p:txBody>
      </p:sp>
      <p:sp>
        <p:nvSpPr>
          <p:cNvPr id="2" name="slide-number">
            <a:extLst xmlns:a="http://schemas.openxmlformats.org/drawingml/2006/main">
              <a:ext uri="{FF2B5EF4-FFF2-40B4-BE49-F238E27FC236}">
                <a16:creationId xmlns:a16="http://schemas.microsoft.com/office/drawing/2014/main" id="{59A29338-B5AE-404A-9457-9E1C5B4654B4}"/>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25</a:t>
            </a:r>
          </a:p>
        </p:txBody>
      </p:sp>
      <p:sp>
        <p:nvSpPr>
          <p:cNvPr id="3" name="appendix-label">
            <a:extLst xmlns:a="http://schemas.openxmlformats.org/drawingml/2006/main">
              <a:ext uri="{FF2B5EF4-FFF2-40B4-BE49-F238E27FC236}">
                <a16:creationId xmlns:a16="http://schemas.microsoft.com/office/drawing/2014/main" id="{67BADC62-578D-428D-B4FA-20F793F25B4A}"/>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graphicFrame>
        <p:nvGraphicFramePr>
          <p:cNvPr id="9" name=""/>
          <p:cNvGraphicFramePr/>
          <p:nvPr/>
        </p:nvGraphicFramePr>
        <p:xfrm>
          <a:off xmlns:a="http://schemas.openxmlformats.org/drawingml/2006/main" x="685800" y="1809750"/>
          <a:ext xmlns:a="http://schemas.openxmlformats.org/drawingml/2006/main" cx="10820400" cy="3743325"/>
        </p:xfrm>
        <a:graphic xmlns:a="http://schemas.openxmlformats.org/drawingml/2006/main">
          <a:graphicData uri="http://schemas.openxmlformats.org/drawingml/2006/table">
            <a:tbl>
              <a:tblPr firstRow="0" bandRow="0"/>
              <a:tblGrid>
                <a:gridCol w="4152900"/>
                <a:gridCol w="6667500"/>
              </a:tblGrid>
              <a:tr h="619125">
                <a:tc>
                  <a:txBody>
                    <a:bodyPr>
                      <a:noAutofit/>
                    </a:bodyPr>
                    <a:lstStyle/>
                    <a:p>
                      <a:pPr algn="l"/>
                      <a:r>
                        <a:rPr sz="1800" b="1">
                          <a:solidFill>
                            <a:srgbClr val="FFFFFF"/>
                          </a:solidFill>
                          <a:latin typeface="Helvetica Neue"/>
                          <a:ea typeface="Helvetica Neue"/>
                          <a:cs typeface="Helvetica Neue"/>
                        </a:rPr>
                        <a:t>Recorded metric</a:t>
                      </a:r>
                    </a:p>
                  </a:txBody>
                  <a:tcPr marL="152400" marR="114300" marT="123825" marB="114300" anchor="ctr">
                    <a:solidFill>
                      <a:srgbClr val="17283D"/>
                    </a:solidFill>
                  </a:tcPr>
                </a:tc>
                <a:tc>
                  <a:txBody>
                    <a:bodyPr>
                      <a:noAutofit/>
                    </a:bodyPr>
                    <a:lstStyle/>
                    <a:p>
                      <a:pPr algn="l"/>
                      <a:r>
                        <a:rPr sz="1800" b="1">
                          <a:solidFill>
                            <a:srgbClr val="FFFFFF"/>
                          </a:solidFill>
                          <a:latin typeface="Helvetica Neue"/>
                          <a:ea typeface="Helvetica Neue"/>
                          <a:cs typeface="Helvetica Neue"/>
                        </a:rPr>
                        <a:t>Implemented proxy</a:t>
                      </a:r>
                    </a:p>
                  </a:txBody>
                  <a:tcPr marL="152400" marR="114300" marT="123825" marB="114300" anchor="ctr">
                    <a:solidFill>
                      <a:srgbClr val="17283D"/>
                    </a:solidFill>
                  </a:tcPr>
                </a:tc>
              </a:tr>
              <a:tr h="781050">
                <a:tc>
                  <a:txBody>
                    <a:bodyPr>
                      <a:noAutofit/>
                    </a:bodyPr>
                    <a:lstStyle/>
                    <a:p>
                      <a:pPr algn="l"/>
                      <a:r>
                        <a:rPr sz="1875" b="0">
                          <a:solidFill>
                            <a:srgbClr val="17283D"/>
                          </a:solidFill>
                          <a:latin typeface="Helvetica Neue"/>
                          <a:ea typeface="Helvetica Neue"/>
                          <a:cs typeface="Helvetica Neue"/>
                        </a:rPr>
                        <a:t>Patch validity</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Nonempty changed-files list</a:t>
                      </a:r>
                    </a:p>
                  </a:txBody>
                  <a:tcPr marL="152400" marR="114300" marT="123825" marB="114300" anchor="ctr">
                    <a:solidFill>
                      <a:srgbClr val="FFFFFF"/>
                    </a:solidFill>
                  </a:tcPr>
                </a:tc>
              </a:tr>
              <a:tr h="781050">
                <a:tc>
                  <a:txBody>
                    <a:bodyPr>
                      <a:noAutofit/>
                    </a:bodyPr>
                    <a:lstStyle/>
                    <a:p>
                      <a:pPr algn="l"/>
                      <a:r>
                        <a:rPr sz="1875" b="0">
                          <a:solidFill>
                            <a:srgbClr val="17283D"/>
                          </a:solidFill>
                          <a:latin typeface="Helvetica Neue"/>
                          <a:ea typeface="Helvetica Neue"/>
                          <a:cs typeface="Helvetica Neue"/>
                        </a:rPr>
                        <a:t>Hallucinated references</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Invalid, malformed, or missing actions</a:t>
                      </a:r>
                    </a:p>
                  </a:txBody>
                  <a:tcPr marL="152400" marR="114300" marT="123825" marB="114300" anchor="ctr">
                    <a:solidFill>
                      <a:srgbClr val="EFF2F6"/>
                    </a:solidFill>
                  </a:tcPr>
                </a:tc>
              </a:tr>
              <a:tr h="781050">
                <a:tc>
                  <a:txBody>
                    <a:bodyPr>
                      <a:noAutofit/>
                    </a:bodyPr>
                    <a:lstStyle/>
                    <a:p>
                      <a:pPr algn="l"/>
                      <a:r>
                        <a:rPr sz="1875" b="0">
                          <a:solidFill>
                            <a:srgbClr val="17283D"/>
                          </a:solidFill>
                          <a:latin typeface="Helvetica Neue"/>
                          <a:ea typeface="Helvetica Neue"/>
                          <a:cs typeface="Helvetica Neue"/>
                        </a:rPr>
                        <a:t>Repair success</a:t>
                      </a:r>
                    </a:p>
                  </a:txBody>
                  <a:tcPr marL="152400" marR="114300" marT="123825" marB="114300" anchor="ctr">
                    <a:solidFill>
                      <a:srgbClr val="FFFFFF"/>
                    </a:solidFill>
                  </a:tcPr>
                </a:tc>
                <a:tc>
                  <a:txBody>
                    <a:bodyPr>
                      <a:noAutofit/>
                    </a:bodyPr>
                    <a:lstStyle/>
                    <a:p>
                      <a:pPr algn="l"/>
                      <a:r>
                        <a:rPr sz="1875" b="0">
                          <a:solidFill>
                            <a:srgbClr val="17283D"/>
                          </a:solidFill>
                          <a:latin typeface="Helvetica Neue"/>
                          <a:ea typeface="Helvetica Neue"/>
                          <a:cs typeface="Helvetica Neue"/>
                        </a:rPr>
                        <a:t>Visible pass with more than one test iteration</a:t>
                      </a:r>
                    </a:p>
                  </a:txBody>
                  <a:tcPr marL="152400" marR="114300" marT="123825" marB="114300" anchor="ctr">
                    <a:solidFill>
                      <a:srgbClr val="FFFFFF"/>
                    </a:solidFill>
                  </a:tcPr>
                </a:tc>
              </a:tr>
              <a:tr h="781050">
                <a:tc>
                  <a:txBody>
                    <a:bodyPr>
                      <a:noAutofit/>
                    </a:bodyPr>
                    <a:lstStyle/>
                    <a:p>
                      <a:pPr algn="l"/>
                      <a:r>
                        <a:rPr sz="1875" b="0">
                          <a:solidFill>
                            <a:srgbClr val="17283D"/>
                          </a:solidFill>
                          <a:latin typeface="Helvetica Neue"/>
                          <a:ea typeface="Helvetica Neue"/>
                          <a:cs typeface="Helvetica Neue"/>
                        </a:rPr>
                        <a:t>Test overfitting</a:t>
                      </a:r>
                    </a:p>
                  </a:txBody>
                  <a:tcPr marL="152400" marR="114300" marT="123825" marB="114300" anchor="ctr">
                    <a:solidFill>
                      <a:srgbClr val="EFF2F6"/>
                    </a:solidFill>
                  </a:tcPr>
                </a:tc>
                <a:tc>
                  <a:txBody>
                    <a:bodyPr>
                      <a:noAutofit/>
                    </a:bodyPr>
                    <a:lstStyle/>
                    <a:p>
                      <a:pPr algn="l"/>
                      <a:r>
                        <a:rPr sz="1875" b="0">
                          <a:solidFill>
                            <a:srgbClr val="17283D"/>
                          </a:solidFill>
                          <a:latin typeface="Helvetica Neue"/>
                          <a:ea typeface="Helvetica Neue"/>
                          <a:cs typeface="Helvetica Neue"/>
                        </a:rPr>
                        <a:t>Final failure despite visible tests passing</a:t>
                      </a:r>
                    </a:p>
                  </a:txBody>
                  <a:tcPr marL="152400" marR="114300" marT="123825" marB="114300" anchor="ctr">
                    <a:solidFill>
                      <a:srgbClr val="EFF2F6"/>
                    </a:solidFill>
                  </a:tcPr>
                </a:tc>
              </a:tr>
            </a:tbl>
          </a:graphicData>
        </a:graphic>
      </p:graphicFrame>
      <p:sp>
        <p:nvSpPr>
          <p:cNvPr id="5" name="text-3">
            <a:extLst xmlns:a="http://schemas.openxmlformats.org/drawingml/2006/main">
              <a:ext uri="{FF2B5EF4-FFF2-40B4-BE49-F238E27FC236}">
                <a16:creationId xmlns:a16="http://schemas.microsoft.com/office/drawing/2014/main" id="{E7816739-A226-415B-AE87-42D0FB55C55C}"/>
              </a:ext>
            </a:extLst>
          </p:cNvPr>
          <p:cNvSpPr>
            <a:spLocks xmlns:a="http://schemas.openxmlformats.org/drawingml/2006/main" noGrp="1"/>
          </p:cNvSpPr>
          <p:nvPr/>
        </p:nvSpPr>
        <p:spPr>
          <a:xfrm xmlns:a="http://schemas.openxmlformats.org/drawingml/2006/main">
            <a:off x="685800" y="58769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468C9"/>
                </a:solidFill>
                <a:latin typeface="Helvetica Neue"/>
                <a:ea typeface="Helvetica Neue"/>
                <a:cs typeface="Helvetica Neue"/>
              </a:defRPr>
            </a:pPr>
            <a:r>
              <a:rPr sz="1875" b="1">
                <a:solidFill>
                  <a:srgbClr val="2468C9"/>
                </a:solidFill>
                <a:latin typeface="Helvetica Neue"/>
                <a:ea typeface="Helvetica Neue"/>
                <a:cs typeface="Helvetica Neue"/>
              </a:rPr>
              <a:t>Primary evidence: executable correctness, regressions, and resource cost.</a:t>
            </a:r>
          </a:p>
        </p:txBody>
      </p:sp>
    </p:spTree>
    <p:extLst>
      <p:ext uri="{BB962C8B-B14F-4D97-AF65-F5344CB8AC3E}">
        <p14:creationId xmlns:p14="http://schemas.microsoft.com/office/powerpoint/2010/main" val="1367187125"/>
      </p:ext>
    </p:extLst>
  </p:cSld>
</p:sld>
</file>

<file path=ppt/slides/slide2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8CDA2DA-3700-4354-84E6-0139448FE236}"/>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SWE Pro: quality and agent metrics</a:t>
            </a:r>
          </a:p>
        </p:txBody>
      </p:sp>
      <p:sp>
        <p:nvSpPr>
          <p:cNvPr id="2" name="slide-number">
            <a:extLst xmlns:a="http://schemas.openxmlformats.org/drawingml/2006/main">
              <a:ext uri="{FF2B5EF4-FFF2-40B4-BE49-F238E27FC236}">
                <a16:creationId xmlns:a16="http://schemas.microsoft.com/office/drawing/2014/main" id="{6B135BA9-CD55-487F-B405-D9FC0B7ED77D}"/>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26</a:t>
            </a:r>
          </a:p>
        </p:txBody>
      </p:sp>
      <p:sp>
        <p:nvSpPr>
          <p:cNvPr id="3" name="appendix-label">
            <a:extLst xmlns:a="http://schemas.openxmlformats.org/drawingml/2006/main">
              <a:ext uri="{FF2B5EF4-FFF2-40B4-BE49-F238E27FC236}">
                <a16:creationId xmlns:a16="http://schemas.microsoft.com/office/drawing/2014/main" id="{A118A8B6-3984-44E7-84B6-435C16C65553}"/>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sp>
        <p:nvSpPr>
          <p:cNvPr id="4" name="text-3">
            <a:extLst xmlns:a="http://schemas.openxmlformats.org/drawingml/2006/main">
              <a:ext uri="{FF2B5EF4-FFF2-40B4-BE49-F238E27FC236}">
                <a16:creationId xmlns:a16="http://schemas.microsoft.com/office/drawing/2014/main" id="{B3F7144B-8D67-4DCD-AE24-815629E6503D}"/>
              </a:ext>
            </a:extLst>
          </p:cNvPr>
          <p:cNvSpPr>
            <a:spLocks xmlns:a="http://schemas.openxmlformats.org/drawingml/2006/main" noGrp="1"/>
          </p:cNvSpPr>
          <p:nvPr/>
        </p:nvSpPr>
        <p:spPr>
          <a:xfrm xmlns:a="http://schemas.openxmlformats.org/drawingml/2006/main">
            <a:off x="685800" y="14382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174"/>
                </a:solidFill>
                <a:latin typeface="Helvetica Neue"/>
                <a:ea typeface="Helvetica Neue"/>
                <a:cs typeface="Helvetica Neue"/>
              </a:defRPr>
            </a:pPr>
            <a:r>
              <a:rPr sz="2025" b="0">
                <a:solidFill>
                  <a:srgbClr val="516174"/>
                </a:solidFill>
                <a:latin typeface="Helvetica Neue"/>
                <a:ea typeface="Helvetica Neue"/>
                <a:cs typeface="Helvetica Neue"/>
              </a:rPr>
              <a:t>15 tasks per architecture. Single: 50 steps. Graph: 75 steps.</a:t>
            </a:r>
          </a:p>
        </p:txBody>
      </p:sp>
      <p:graphicFrame>
        <p:nvGraphicFramePr>
          <p:cNvPr id="11" name=""/>
          <p:cNvGraphicFramePr/>
          <p:nvPr/>
        </p:nvGraphicFramePr>
        <p:xfrm>
          <a:off xmlns:a="http://schemas.openxmlformats.org/drawingml/2006/main" x="685800" y="2009775"/>
          <a:ext xmlns:a="http://schemas.openxmlformats.org/drawingml/2006/main" cx="10820400" cy="3895725"/>
        </p:xfrm>
        <a:graphic xmlns:a="http://schemas.openxmlformats.org/drawingml/2006/main">
          <a:graphicData uri="http://schemas.openxmlformats.org/drawingml/2006/table">
            <a:tbl>
              <a:tblPr firstRow="0" bandRow="0"/>
              <a:tblGrid>
                <a:gridCol w="5334000"/>
                <a:gridCol w="2743200"/>
                <a:gridCol w="2743200"/>
              </a:tblGrid>
              <a:tr h="561975">
                <a:tc>
                  <a:txBody>
                    <a:bodyPr>
                      <a:noAutofit/>
                    </a:bodyPr>
                    <a:lstStyle/>
                    <a:p>
                      <a:pPr algn="l"/>
                      <a:r>
                        <a:rPr sz="1650" b="1">
                          <a:solidFill>
                            <a:srgbClr val="FFFFFF"/>
                          </a:solidFill>
                          <a:latin typeface="Helvetica Neue"/>
                          <a:ea typeface="Helvetica Neue"/>
                          <a:cs typeface="Helvetica Neue"/>
                        </a:rPr>
                        <a:t>Metric</a:t>
                      </a:r>
                    </a:p>
                  </a:txBody>
                  <a:tcPr marL="152400" marR="114300" marT="76200" marB="76200"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76200" marB="76200"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76200" marB="76200" anchor="ctr">
                    <a:solidFill>
                      <a:srgbClr val="17283D"/>
                    </a:solidFill>
                  </a:tcPr>
                </a:tc>
              </a:tr>
              <a:tr h="476250">
                <a:tc>
                  <a:txBody>
                    <a:bodyPr>
                      <a:noAutofit/>
                    </a:bodyPr>
                    <a:lstStyle/>
                    <a:p>
                      <a:pPr algn="l"/>
                      <a:r>
                        <a:rPr sz="1725" b="0">
                          <a:solidFill>
                            <a:srgbClr val="17283D"/>
                          </a:solidFill>
                          <a:latin typeface="Helvetica Neue"/>
                          <a:ea typeface="Helvetica Neue"/>
                          <a:cs typeface="Helvetica Neue"/>
                        </a:rPr>
                        <a:t>Resolved@1 / required hidden pass</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60% (9/15)</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60% (9/15)</a:t>
                      </a:r>
                    </a:p>
                  </a:txBody>
                  <a:tcPr marL="152400" marR="114300" marT="76200" marB="76200"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Visible suite pass rate</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100% (15/15)</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100% (15/15)</a:t>
                      </a:r>
                    </a:p>
                  </a:txBody>
                  <a:tcPr marL="152400" marR="114300" marT="76200" marB="76200"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Runs with regressions</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0% (0/15)</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0% (0/15)</a:t>
                      </a:r>
                    </a:p>
                  </a:txBody>
                  <a:tcPr marL="152400" marR="114300" marT="76200" marB="76200"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Tool-use validity</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95.6% (390/408)</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96.7% (639/661)</a:t>
                      </a:r>
                    </a:p>
                  </a:txBody>
                  <a:tcPr marL="152400" marR="114300" marT="76200" marB="76200"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Hallucinated refs / run*</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1.13</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1.20</a:t>
                      </a:r>
                    </a:p>
                  </a:txBody>
                  <a:tcPr marL="152400" marR="114300" marT="76200" marB="76200"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Test overfitting*</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40% (6/15)</a:t>
                      </a:r>
                    </a:p>
                  </a:txBody>
                  <a:tcPr marL="152400" marR="114300" marT="76200" marB="76200" anchor="ctr">
                    <a:solidFill>
                      <a:srgbClr val="EFF2F6"/>
                    </a:solidFill>
                  </a:tcPr>
                </a:tc>
                <a:tc>
                  <a:txBody>
                    <a:bodyPr>
                      <a:noAutofit/>
                    </a:bodyPr>
                    <a:lstStyle/>
                    <a:p>
                      <a:pPr algn="l"/>
                      <a:r>
                        <a:rPr sz="1725" b="0">
                          <a:solidFill>
                            <a:srgbClr val="17283D"/>
                          </a:solidFill>
                          <a:latin typeface="Helvetica Neue"/>
                          <a:ea typeface="Helvetica Neue"/>
                          <a:cs typeface="Helvetica Neue"/>
                        </a:rPr>
                        <a:t>40% (6/15)</a:t>
                      </a:r>
                    </a:p>
                  </a:txBody>
                  <a:tcPr marL="152400" marR="114300" marT="76200" marB="76200"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Repair success*</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(14/14)</a:t>
                      </a:r>
                    </a:p>
                  </a:txBody>
                  <a:tcPr marL="152400" marR="114300" marT="76200" marB="76200" anchor="ctr">
                    <a:solidFill>
                      <a:srgbClr val="FFFFFF"/>
                    </a:solidFill>
                  </a:tcPr>
                </a:tc>
                <a:tc>
                  <a:txBody>
                    <a:bodyPr>
                      <a:noAutofit/>
                    </a:bodyPr>
                    <a:lstStyle/>
                    <a:p>
                      <a:pPr algn="l"/>
                      <a:r>
                        <a:rPr sz="1725" b="0">
                          <a:solidFill>
                            <a:srgbClr val="17283D"/>
                          </a:solidFill>
                          <a:latin typeface="Helvetica Neue"/>
                          <a:ea typeface="Helvetica Neue"/>
                          <a:cs typeface="Helvetica Neue"/>
                        </a:rPr>
                        <a:t>100% (15/15)</a:t>
                      </a:r>
                    </a:p>
                  </a:txBody>
                  <a:tcPr marL="152400" marR="114300" marT="76200" marB="762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D1279E2E-6F7F-48F4-9382-E934647668B4}"/>
              </a:ext>
            </a:extLst>
          </p:cNvPr>
          <p:cNvSpPr>
            <a:spLocks xmlns:a="http://schemas.openxmlformats.org/drawingml/2006/main" noGrp="1"/>
          </p:cNvSpPr>
          <p:nvPr/>
        </p:nvSpPr>
        <p:spPr>
          <a:xfrm xmlns:a="http://schemas.openxmlformats.org/drawingml/2006/main">
            <a:off x="685800" y="60293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468C9"/>
                </a:solidFill>
                <a:latin typeface="Helvetica Neue"/>
                <a:ea typeface="Helvetica Neue"/>
                <a:cs typeface="Helvetica Neue"/>
              </a:defRPr>
            </a:pPr>
            <a:r>
              <a:rPr sz="1725" b="1">
                <a:solidFill>
                  <a:srgbClr val="2468C9"/>
                </a:solidFill>
                <a:latin typeface="Helvetica Neue"/>
                <a:ea typeface="Helvetica Neue"/>
                <a:cs typeface="Helvetica Neue"/>
              </a:rPr>
              <a:t>*Same proxy definitions as core. Visible passes do not guarantee final success.</a:t>
            </a:r>
          </a:p>
        </p:txBody>
      </p:sp>
    </p:spTree>
    <p:extLst>
      <p:ext uri="{BB962C8B-B14F-4D97-AF65-F5344CB8AC3E}">
        <p14:creationId xmlns:p14="http://schemas.microsoft.com/office/powerpoint/2010/main" val="690868728"/>
      </p:ext>
    </p:extLst>
  </p:cSld>
</p:sld>
</file>

<file path=ppt/slides/slide2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8FA"/>
        </a:solidFill>
      </p:bgPr>
    </p:bg>
    <p:spTree>
      <p:nvGrpSpPr>
        <p:cNvPr id="1" name=""/>
        <p:cNvGrpSpPr/>
        <p:nvPr/>
      </p:nvGrpSpPr>
      <p:grpSpPr>
        <a:xfrm/>
      </p:grpSpPr>
      <p:sp>
        <p:nvSpPr>
          <p:cNvPr id="13" name="slide-title">
            <a:extLst>
              <a:ext uri="{FF2B5EF4-FFF2-40B4-BE49-F238E27FC236}">
                <ns2:creationId id="{26A98B03-AD6C-4497-A42A-2BC4D27C55D0}"/>
              </a:ext>
            </a:extLst>
          </p:cNvPr>
          <p:cNvSpPr>
            <a:spLocks noGrp="1"/>
          </p:cNvSpPr>
          <p:nvPr/>
        </p:nvSpPr>
        <p:spPr>
          <a:xfrm>
            <a:off x="685800" y="476250"/>
            <a:ext cx="10715625" cy="952500"/>
          </a:xfrm>
          <a:prstGeom prst="rect">
            <a:avLst/>
          </a:prstGeom>
          <a:noFill/>
          <a:ln w="0">
            <a:noFill/>
          </a:ln>
        </p:spPr>
        <p:txBody>
          <a:bodyPr wrap="square" lIns="0" tIns="0" rIns="0" bIns="0" anchor="t">
            <a:noAutofit/>
          </a:bodyPr>
          <a:lstStyle/>
          <a:p>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Related work and scope</a:t>
            </a:r>
          </a:p>
        </p:txBody>
      </p:sp>
      <p:sp>
        <p:nvSpPr>
          <p:cNvPr id="2" name="slide-number">
            <a:extLst>
              <a:ext uri="{FF2B5EF4-FFF2-40B4-BE49-F238E27FC236}">
                <ns2:creationId id="{766D1AF2-E378-476A-A08C-C7DCEBFF6514}"/>
              </a:ext>
            </a:extLst>
          </p:cNvPr>
          <p:cNvSpPr>
            <a:spLocks noGrp="1"/>
          </p:cNvSpPr>
          <p:nvPr/>
        </p:nvSpPr>
        <p:spPr>
          <a:xfrm>
            <a:off x="11239500" y="6381750"/>
            <a:ext cx="381000" cy="228600"/>
          </a:xfrm>
          <a:prstGeom prst="rect">
            <a:avLst/>
          </a:prstGeom>
          <a:noFill/>
          <a:ln w="0">
            <a:noFill/>
          </a:ln>
        </p:spPr>
        <p:txBody>
          <a:bodyPr wrap="square" lIns="0" tIns="0" rIns="0" bIns="0" anchor="t">
            <a:noAutofit/>
          </a:bodyPr>
          <a:lstStyle/>
          <a:p>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27</a:t>
            </a:r>
          </a:p>
        </p:txBody>
      </p:sp>
      <p:sp>
        <p:nvSpPr>
          <p:cNvPr id="3" name="appendix-label">
            <a:extLst>
              <a:ext uri="{FF2B5EF4-FFF2-40B4-BE49-F238E27FC236}">
                <ns2:creationId id="{CBBD6F9A-A909-4E1C-AE7E-F3C9D318A8D4}"/>
              </a:ext>
            </a:extLst>
          </p:cNvPr>
          <p:cNvSpPr>
            <a:spLocks noGrp="1"/>
          </p:cNvSpPr>
          <p:nvPr/>
        </p:nvSpPr>
        <p:spPr>
          <a:xfrm>
            <a:off x="685800" y="6381750"/>
            <a:ext cx="1428750" cy="228600"/>
          </a:xfrm>
          <a:prstGeom prst="rect">
            <a:avLst/>
          </a:prstGeom>
          <a:noFill/>
          <a:ln w="0">
            <a:noFill/>
          </a:ln>
        </p:spPr>
        <p:txBody>
          <a:bodyPr wrap="square" lIns="0" tIns="0" rIns="0" bIns="0" anchor="t">
            <a:noAutofit/>
          </a:bodyPr>
          <a:lstStyle/>
          <a:p>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sp>
        <p:nvSpPr>
          <p:cNvPr id="4" name="text-3">
            <a:extLst>
              <a:ext uri="{FF2B5EF4-FFF2-40B4-BE49-F238E27FC236}">
                <ns2:creationId id="{1C232A4C-0417-49A8-A629-EB83E2C3DD2C}"/>
              </a:ext>
            </a:extLst>
          </p:cNvPr>
          <p:cNvSpPr>
            <a:spLocks noGrp="1"/>
          </p:cNvSpPr>
          <p:nvPr/>
        </p:nvSpPr>
        <p:spPr>
          <a:xfrm>
            <a:off x="685800" y="1533525"/>
            <a:ext cx="10763250" cy="390525"/>
          </a:xfrm>
          <a:prstGeom prst="rect">
            <a:avLst/>
          </a:prstGeom>
          <a:noFill/>
          <a:ln w="0">
            <a:noFill/>
          </a:ln>
        </p:spPr>
        <p:txBody>
          <a:bodyPr wrap="square" lIns="0" tIns="0" rIns="0" bIns="0" anchor="t">
            <a:noAutofit/>
          </a:bodyPr>
          <a:lstStyle/>
          <a:p>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Xu et al. (2026): OneFlow</a:t>
            </a:r>
          </a:p>
        </p:txBody>
      </p:sp>
      <p:sp>
        <p:nvSpPr>
          <p:cNvPr id="5" name="text-4">
            <a:extLst>
              <a:ext uri="{FF2B5EF4-FFF2-40B4-BE49-F238E27FC236}">
                <ns2:creationId id="{57DCE574-F984-44F2-9B59-CD7E6CBE6A5C}"/>
              </a:ext>
            </a:extLst>
          </p:cNvPr>
          <p:cNvSpPr>
            <a:spLocks noGrp="1"/>
          </p:cNvSpPr>
          <p:nvPr/>
        </p:nvSpPr>
        <p:spPr>
          <a:xfrm>
            <a:off x="685800" y="1971675"/>
            <a:ext cx="10763250" cy="676275"/>
          </a:xfrm>
          <a:prstGeom prst="rect">
            <a:avLst/>
          </a:prstGeom>
          <a:noFill/>
          <a:ln w="0">
            <a:noFill/>
          </a:ln>
        </p:spPr>
        <p:txBody>
          <a:bodyPr wrap="square" lIns="0" tIns="0" rIns="0" bIns="0" anchor="t">
            <a:noAutofit/>
          </a:bodyPr>
          <a:lstStyle/>
          <a:p>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Homogeneous workflow simulation. Our study compares</a:t>
            </a:r>
          </a:p>
          <a:p>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separately designed repository agents.</a:t>
            </a:r>
          </a:p>
        </p:txBody>
      </p:sp>
      <p:sp>
        <p:nvSpPr>
          <p:cNvPr id="6" name="citation-3">
            <a:extLst>
              <a:ext uri="{FF2B5EF4-FFF2-40B4-BE49-F238E27FC236}">
                <ns2:creationId id="{8BF3CD1D-56B4-483E-A0ED-259310B3A0A1}"/>
              </a:ext>
            </a:extLst>
            <a:hlinkClick r:id="rIdCitation1" tooltip="Open the cited paper"/>
          </p:cNvPr>
          <p:cNvSpPr>
            <a:spLocks noGrp="1"/>
          </p:cNvSpPr>
          <p:nvPr/>
        </p:nvSpPr>
        <p:spPr>
          <a:xfrm>
            <a:off x="685800" y="2686050"/>
            <a:ext cx="10820400" cy="285750"/>
          </a:xfrm>
          <a:prstGeom prst="rect">
            <a:avLst/>
          </a:prstGeom>
          <a:noFill/>
          <a:ln w="0">
            <a:noFill/>
          </a:ln>
        </p:spPr>
        <p:txBody>
          <a:bodyPr wrap="square" lIns="0" tIns="0" rIns="0" bIns="0" anchor="t">
            <a:noAutofit/>
          </a:bodyPr>
          <a:lstStyle/>
          <a:p>
            <a:pPr algn="l">
              <a:defRPr sz="1575" b="0">
                <a:solidFill>
                  <a:srgbClr val="2468C9"/>
                </a:solidFill>
                <a:latin typeface="Helvetica Neue"/>
                <a:ea typeface="Helvetica Neue"/>
                <a:cs typeface="Helvetica Neue"/>
              </a:defRPr>
            </a:pPr>
            <a:r>
              <a:rPr sz="1575" b="0">
                <a:solidFill>
                  <a:srgbClr val="2468C9"/>
                </a:solidFill>
                <a:latin typeface="Helvetica Neue"/>
                <a:ea typeface="Helvetica Neue"/>
                <a:cs typeface="Helvetica Neue"/>
              </a:rPr>
              <a:t>arxiv.org/abs/2601.12307  (§§3.2, 4.1 and 6)</a:t>
            </a:r>
          </a:p>
        </p:txBody>
      </p:sp>
      <p:sp>
        <p:nvSpPr>
          <p:cNvPr id="7" name="text-6">
            <a:extLst>
              <a:ext uri="{FF2B5EF4-FFF2-40B4-BE49-F238E27FC236}">
                <ns2:creationId id="{BA37613A-8709-4F6A-B607-80A6405D713C}"/>
              </a:ext>
            </a:extLst>
          </p:cNvPr>
          <p:cNvSpPr>
            <a:spLocks noGrp="1"/>
          </p:cNvSpPr>
          <p:nvPr/>
        </p:nvSpPr>
        <p:spPr>
          <a:xfrm>
            <a:off x="685800" y="3181350"/>
            <a:ext cx="10763250" cy="390525"/>
          </a:xfrm>
          <a:prstGeom prst="rect">
            <a:avLst/>
          </a:prstGeom>
          <a:noFill/>
          <a:ln w="0">
            <a:noFill/>
          </a:ln>
        </p:spPr>
        <p:txBody>
          <a:bodyPr wrap="square" lIns="0" tIns="0" rIns="0" bIns="0" anchor="t">
            <a:noAutofit/>
          </a:bodyPr>
          <a:lstStyle/>
          <a:p>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Tran and Kiela (2026): thinking-token budgets</a:t>
            </a:r>
          </a:p>
        </p:txBody>
      </p:sp>
      <p:sp>
        <p:nvSpPr>
          <p:cNvPr id="8" name="text-7">
            <a:extLst>
              <a:ext uri="{FF2B5EF4-FFF2-40B4-BE49-F238E27FC236}">
                <ns2:creationId id="{42046E78-1B19-480E-9712-1ECCD68FE165}"/>
              </a:ext>
            </a:extLst>
          </p:cNvPr>
          <p:cNvSpPr>
            <a:spLocks noGrp="1"/>
          </p:cNvSpPr>
          <p:nvPr/>
        </p:nvSpPr>
        <p:spPr>
          <a:xfrm>
            <a:off x="685800" y="3619500"/>
            <a:ext cx="10763250" cy="676275"/>
          </a:xfrm>
          <a:prstGeom prst="rect">
            <a:avLst/>
          </a:prstGeom>
          <a:noFill/>
          <a:ln w="0">
            <a:noFill/>
          </a:ln>
        </p:spPr>
        <p:txBody>
          <a:bodyPr wrap="square" lIns="0" tIns="0" rIns="0" bIns="0" anchor="t">
            <a:noAutofit/>
          </a:bodyPr>
          <a:lstStyle/>
          <a:p>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Text-only multi-hop QA. Requested thinking caps exclude</a:t>
            </a:r>
          </a:p>
          <a:p>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prompts and final answers. Our step limits control a different resource.</a:t>
            </a:r>
          </a:p>
        </p:txBody>
      </p:sp>
      <p:sp>
        <p:nvSpPr>
          <p:cNvPr id="9" name="citation-4">
            <a:extLst>
              <a:ext uri="{FF2B5EF4-FFF2-40B4-BE49-F238E27FC236}">
                <ns2:creationId id="{1E95F1AF-DAC0-4C7F-8DAA-5C36DB494BA6}"/>
              </a:ext>
            </a:extLst>
            <a:hlinkClick r:id="rIdCitation2" tooltip="Open the cited paper"/>
          </p:cNvPr>
          <p:cNvSpPr>
            <a:spLocks noGrp="1"/>
          </p:cNvSpPr>
          <p:nvPr/>
        </p:nvSpPr>
        <p:spPr>
          <a:xfrm>
            <a:off x="685800" y="4324350"/>
            <a:ext cx="10820400" cy="285750"/>
          </a:xfrm>
          <a:prstGeom prst="rect">
            <a:avLst/>
          </a:prstGeom>
          <a:noFill/>
          <a:ln w="0">
            <a:noFill/>
          </a:ln>
        </p:spPr>
        <p:txBody>
          <a:bodyPr wrap="square" lIns="0" tIns="0" rIns="0" bIns="0" anchor="t">
            <a:noAutofit/>
          </a:bodyPr>
          <a:lstStyle/>
          <a:p>
            <a:pPr algn="l">
              <a:defRPr sz="1575" b="0">
                <a:solidFill>
                  <a:srgbClr val="2468C9"/>
                </a:solidFill>
                <a:latin typeface="Helvetica Neue"/>
                <a:ea typeface="Helvetica Neue"/>
                <a:cs typeface="Helvetica Neue"/>
              </a:defRPr>
            </a:pPr>
            <a:r>
              <a:rPr sz="1575" b="0">
                <a:solidFill>
                  <a:srgbClr val="2468C9"/>
                </a:solidFill>
                <a:latin typeface="Helvetica Neue"/>
                <a:ea typeface="Helvetica Neue"/>
                <a:cs typeface="Helvetica Neue"/>
              </a:rPr>
              <a:t>arxiv.org/abs/2604.02460  (§4 and Appendix C)</a:t>
            </a:r>
          </a:p>
        </p:txBody>
      </p:sp>
      <p:sp>
        <p:nvSpPr>
          <p:cNvPr id="10" name="text-9">
            <a:extLst>
              <a:ext uri="{FF2B5EF4-FFF2-40B4-BE49-F238E27FC236}">
                <ns2:creationId id="{9137A4B1-B5AF-48E9-9724-223D1FA56CFA}"/>
              </a:ext>
            </a:extLst>
          </p:cNvPr>
          <p:cNvSpPr>
            <a:spLocks noGrp="1"/>
          </p:cNvSpPr>
          <p:nvPr/>
        </p:nvSpPr>
        <p:spPr>
          <a:xfrm>
            <a:off x="685800" y="4819650"/>
            <a:ext cx="10763250" cy="390525"/>
          </a:xfrm>
          <a:prstGeom prst="rect">
            <a:avLst/>
          </a:prstGeom>
          <a:noFill/>
          <a:ln w="0">
            <a:noFill/>
          </a:ln>
        </p:spPr>
        <p:txBody>
          <a:bodyPr wrap="square" lIns="0" tIns="0" rIns="0" bIns="0" anchor="t">
            <a:noAutofit/>
          </a:bodyPr>
          <a:lstStyle/>
          <a:p>
            <a:pPr algn="l">
              <a:defRPr sz="2250" b="1">
                <a:solidFill>
                  <a:srgbClr val="17283D"/>
                </a:solidFill>
                <a:latin typeface="Helvetica Neue"/>
                <a:ea typeface="Helvetica Neue"/>
                <a:cs typeface="Helvetica Neue"/>
              </a:defRPr>
            </a:pPr>
            <a:r>
              <a:rPr sz="2250" b="1">
                <a:solidFill>
                  <a:srgbClr val="17283D"/>
                </a:solidFill>
                <a:latin typeface="Helvetica Neue"/>
                <a:ea typeface="Helvetica Neue"/>
                <a:cs typeface="Helvetica Neue"/>
              </a:rPr>
              <a:t>Xia et al. (2024): Agentless</a:t>
            </a:r>
          </a:p>
        </p:txBody>
      </p:sp>
      <p:sp>
        <p:nvSpPr>
          <p:cNvPr id="11" name="text-10">
            <a:extLst>
              <a:ext uri="{FF2B5EF4-FFF2-40B4-BE49-F238E27FC236}">
                <ns2:creationId id="{30CEFB67-D987-4E46-88F0-3BBE92C2D1F2}"/>
              </a:ext>
            </a:extLst>
          </p:cNvPr>
          <p:cNvSpPr>
            <a:spLocks noGrp="1"/>
          </p:cNvSpPr>
          <p:nvPr/>
        </p:nvSpPr>
        <p:spPr>
          <a:xfrm>
            <a:off x="685800" y="5257800"/>
            <a:ext cx="10763250" cy="676275"/>
          </a:xfrm>
          <a:prstGeom prst="rect">
            <a:avLst/>
          </a:prstGeom>
          <a:noFill/>
          <a:ln w="0">
            <a:noFill/>
          </a:ln>
        </p:spPr>
        <p:txBody>
          <a:bodyPr wrap="square" lIns="0" tIns="0" rIns="0" bIns="0" anchor="t">
            <a:noAutofit/>
          </a:bodyPr>
          <a:lstStyle/>
          <a:p>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Fixed repair pipeline with tests. Its baseline differs from</a:t>
            </a:r>
          </a:p>
          <a:p>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our autonomous agent loop.</a:t>
            </a:r>
          </a:p>
        </p:txBody>
      </p:sp>
      <p:sp>
        <p:nvSpPr>
          <p:cNvPr id="12" name="citation-5">
            <a:extLst>
              <a:ext uri="{FF2B5EF4-FFF2-40B4-BE49-F238E27FC236}">
                <ns2:creationId id="{CF261C1A-B7F3-4EDC-9250-C22F9F44CEFB}"/>
              </a:ext>
            </a:extLst>
            <a:hlinkClick r:id="rIdCitation3" tooltip="Open the cited paper"/>
          </p:cNvPr>
          <p:cNvSpPr>
            <a:spLocks noGrp="1"/>
          </p:cNvSpPr>
          <p:nvPr/>
        </p:nvSpPr>
        <p:spPr>
          <a:xfrm>
            <a:off x="685800" y="5962650"/>
            <a:ext cx="10820400" cy="285750"/>
          </a:xfrm>
          <a:prstGeom prst="rect">
            <a:avLst/>
          </a:prstGeom>
          <a:noFill/>
          <a:ln w="0">
            <a:noFill/>
          </a:ln>
        </p:spPr>
        <p:txBody>
          <a:bodyPr wrap="square" lIns="0" tIns="0" rIns="0" bIns="0" anchor="t">
            <a:noAutofit/>
          </a:bodyPr>
          <a:lstStyle/>
          <a:p>
            <a:pPr algn="l">
              <a:defRPr sz="1575" b="0">
                <a:solidFill>
                  <a:srgbClr val="2468C9"/>
                </a:solidFill>
                <a:latin typeface="Helvetica Neue"/>
                <a:ea typeface="Helvetica Neue"/>
                <a:cs typeface="Helvetica Neue"/>
              </a:defRPr>
            </a:pPr>
            <a:r>
              <a:rPr sz="1575" b="0">
                <a:solidFill>
                  <a:srgbClr val="2468C9"/>
                </a:solidFill>
                <a:latin typeface="Helvetica Neue"/>
                <a:ea typeface="Helvetica Neue"/>
                <a:cs typeface="Helvetica Neue"/>
              </a:rPr>
              <a:t>arxiv.org/abs/2407.01489  (§3)</a:t>
            </a:r>
          </a:p>
        </p:txBody>
      </p:sp>
    </p:spTree>
    <p:extLst>
      <p:ext uri="{BB962C8B-B14F-4D97-AF65-F5344CB8AC3E}">
        <ns4:creationId val="1308555370"/>
      </p:ext>
    </p:extLst>
  </p:cSld>
</p:sld>
</file>

<file path=ppt/slides/slide2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E9EDF56B-F770-422F-A2D8-92D15E87B701}"/>
              </a:ext>
            </a:extLst>
          </p:cNvPr>
          <p:cNvSpPr>
            <a:spLocks xmlns:a="http://schemas.openxmlformats.org/drawingml/2006/main" noGrp="1"/>
          </p:cNvSpPr>
          <p:nvPr/>
        </p:nvSpPr>
        <p:spPr>
          <a:xfrm xmlns:a="http://schemas.openxmlformats.org/drawingml/2006/main">
            <a:off x="6858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83D"/>
                </a:solidFill>
                <a:latin typeface="Helvetica Neue"/>
                <a:ea typeface="Helvetica Neue"/>
                <a:cs typeface="Helvetica Neue"/>
              </a:defRPr>
            </a:pPr>
            <a:r>
              <a:rPr sz="3450" b="1">
                <a:solidFill>
                  <a:srgbClr val="17283D"/>
                </a:solidFill>
                <a:latin typeface="Helvetica Neue"/>
                <a:ea typeface="Helvetica Neue"/>
                <a:cs typeface="Helvetica Neue"/>
              </a:rPr>
              <a:t>Task outcomes across three attempts</a:t>
            </a:r>
          </a:p>
        </p:txBody>
      </p:sp>
      <p:sp>
        <p:nvSpPr>
          <p:cNvPr id="2" name="slide-number">
            <a:extLst xmlns:a="http://schemas.openxmlformats.org/drawingml/2006/main">
              <a:ext uri="{FF2B5EF4-FFF2-40B4-BE49-F238E27FC236}">
                <a16:creationId xmlns:a16="http://schemas.microsoft.com/office/drawing/2014/main" id="{E7499DF8-231D-4C86-AF10-09D023A0916A}"/>
              </a:ext>
            </a:extLst>
          </p:cNvPr>
          <p:cNvSpPr>
            <a:spLocks xmlns:a="http://schemas.openxmlformats.org/drawingml/2006/main" noGrp="1"/>
          </p:cNvSpPr>
          <p:nvPr/>
        </p:nvSpPr>
        <p:spPr>
          <a:xfrm xmlns:a="http://schemas.openxmlformats.org/drawingml/2006/main">
            <a:off x="1123950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28</a:t>
            </a:r>
          </a:p>
        </p:txBody>
      </p:sp>
      <p:sp>
        <p:nvSpPr>
          <p:cNvPr id="3" name="appendix-label">
            <a:extLst xmlns:a="http://schemas.openxmlformats.org/drawingml/2006/main">
              <a:ext uri="{FF2B5EF4-FFF2-40B4-BE49-F238E27FC236}">
                <a16:creationId xmlns:a16="http://schemas.microsoft.com/office/drawing/2014/main" id="{C02D43F0-E598-4FC7-BAED-D35BDEFCC6AB}"/>
              </a:ext>
            </a:extLst>
          </p:cNvPr>
          <p:cNvSpPr>
            <a:spLocks xmlns:a="http://schemas.openxmlformats.org/drawingml/2006/main" noGrp="1"/>
          </p:cNvSpPr>
          <p:nvPr/>
        </p:nvSpPr>
        <p:spPr>
          <a:xfrm xmlns:a="http://schemas.openxmlformats.org/drawingml/2006/main">
            <a:off x="685800" y="63817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16174"/>
                </a:solidFill>
                <a:latin typeface="Helvetica Neue"/>
                <a:ea typeface="Helvetica Neue"/>
                <a:cs typeface="Helvetica Neue"/>
              </a:defRPr>
            </a:pPr>
            <a:r>
              <a:rPr sz="1275" b="0">
                <a:solidFill>
                  <a:srgbClr val="516174"/>
                </a:solidFill>
                <a:latin typeface="Helvetica Neue"/>
                <a:ea typeface="Helvetica Neue"/>
                <a:cs typeface="Helvetica Neue"/>
              </a:rPr>
              <a:t>APPENDIX</a:t>
            </a:r>
          </a:p>
        </p:txBody>
      </p:sp>
      <p:sp>
        <p:nvSpPr>
          <p:cNvPr id="4" name="text-3">
            <a:extLst xmlns:a="http://schemas.openxmlformats.org/drawingml/2006/main">
              <a:ext uri="{FF2B5EF4-FFF2-40B4-BE49-F238E27FC236}">
                <a16:creationId xmlns:a16="http://schemas.microsoft.com/office/drawing/2014/main" id="{143CBA44-ABA2-445C-A4E5-5A614F03CB61}"/>
              </a:ext>
            </a:extLst>
          </p:cNvPr>
          <p:cNvSpPr>
            <a:spLocks xmlns:a="http://schemas.openxmlformats.org/drawingml/2006/main" noGrp="1"/>
          </p:cNvSpPr>
          <p:nvPr/>
        </p:nvSpPr>
        <p:spPr>
          <a:xfrm xmlns:a="http://schemas.openxmlformats.org/drawingml/2006/main">
            <a:off x="685800" y="14001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Helvetica Neue"/>
                <a:ea typeface="Helvetica Neue"/>
                <a:cs typeface="Helvetica Neue"/>
              </a:defRPr>
            </a:pPr>
            <a:r>
              <a:rPr sz="1950" b="0">
                <a:solidFill>
                  <a:srgbClr val="516174"/>
                </a:solidFill>
                <a:latin typeface="Helvetica Neue"/>
                <a:ea typeface="Helvetica Neue"/>
                <a:cs typeface="Helvetica Neue"/>
              </a:rPr>
              <a:t>Order within each cell: original, repeat 1, repeat 2</a:t>
            </a:r>
          </a:p>
        </p:txBody>
      </p:sp>
      <p:graphicFrame>
        <p:nvGraphicFramePr>
          <p:cNvPr id="12" name=""/>
          <p:cNvGraphicFramePr/>
          <p:nvPr/>
        </p:nvGraphicFramePr>
        <p:xfrm>
          <a:off xmlns:a="http://schemas.openxmlformats.org/drawingml/2006/main" x="685800" y="2076450"/>
          <a:ext xmlns:a="http://schemas.openxmlformats.org/drawingml/2006/main" cx="5219700" cy="3333750"/>
        </p:xfrm>
        <a:graphic xmlns:a="http://schemas.openxmlformats.org/drawingml/2006/main">
          <a:graphicData uri="http://schemas.openxmlformats.org/drawingml/2006/table">
            <a:tbl>
              <a:tblPr firstRow="0" bandRow="0"/>
              <a:tblGrid>
                <a:gridCol w="2667000"/>
                <a:gridCol w="1276350"/>
                <a:gridCol w="1276350"/>
              </a:tblGrid>
              <a:tr h="476250">
                <a:tc>
                  <a:txBody>
                    <a:bodyPr>
                      <a:noAutofit/>
                    </a:bodyPr>
                    <a:lstStyle/>
                    <a:p>
                      <a:pPr algn="l"/>
                      <a:r>
                        <a:rPr sz="1650" b="1">
                          <a:solidFill>
                            <a:srgbClr val="FFFFFF"/>
                          </a:solidFill>
                          <a:latin typeface="Helvetica Neue"/>
                          <a:ea typeface="Helvetica Neue"/>
                          <a:cs typeface="Helvetica Neue"/>
                        </a:rPr>
                        <a:t>Task</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66675" marB="66675" anchor="ctr">
                    <a:solidFill>
                      <a:srgbClr val="17283D"/>
                    </a:solidFill>
                  </a:tcPr>
                </a:tc>
              </a:tr>
              <a:tr h="476250">
                <a:tc>
                  <a:txBody>
                    <a:bodyPr>
                      <a:noAutofit/>
                    </a:bodyPr>
                    <a:lstStyle/>
                    <a:p>
                      <a:pPr algn="l"/>
                      <a:r>
                        <a:rPr sz="1725" b="0">
                          <a:solidFill>
                            <a:srgbClr val="17283D"/>
                          </a:solidFill>
                          <a:latin typeface="Helvetica Neue"/>
                          <a:ea typeface="Helvetica Neue"/>
                          <a:cs typeface="Helvetica Neue"/>
                        </a:rPr>
                        <a:t>h11 #181</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F/P/P</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humanize #329</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P/F/P</a:t>
                      </a:r>
                    </a:p>
                  </a:txBody>
                  <a:tcPr marL="152400" marR="114300" marT="66675" marB="66675"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pluggy #646</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F/P/P</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w3lib #272</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P/F/P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parse #165</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F/F/F</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F/F/F</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parse #227</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bl>
          </a:graphicData>
        </a:graphic>
      </p:graphicFrame>
      <p:graphicFrame>
        <p:nvGraphicFramePr>
          <p:cNvPr id="13" name=""/>
          <p:cNvGraphicFramePr/>
          <p:nvPr/>
        </p:nvGraphicFramePr>
        <p:xfrm>
          <a:off xmlns:a="http://schemas.openxmlformats.org/drawingml/2006/main" x="6286500" y="2076450"/>
          <a:ext xmlns:a="http://schemas.openxmlformats.org/drawingml/2006/main" cx="5219700" cy="3333750"/>
        </p:xfrm>
        <a:graphic xmlns:a="http://schemas.openxmlformats.org/drawingml/2006/main">
          <a:graphicData uri="http://schemas.openxmlformats.org/drawingml/2006/table">
            <a:tbl>
              <a:tblPr firstRow="0" bandRow="0"/>
              <a:tblGrid>
                <a:gridCol w="2667000"/>
                <a:gridCol w="1276350"/>
                <a:gridCol w="1276350"/>
              </a:tblGrid>
              <a:tr h="476250">
                <a:tc>
                  <a:txBody>
                    <a:bodyPr>
                      <a:noAutofit/>
                    </a:bodyPr>
                    <a:lstStyle/>
                    <a:p>
                      <a:pPr algn="l"/>
                      <a:r>
                        <a:rPr sz="1650" b="1">
                          <a:solidFill>
                            <a:srgbClr val="FFFFFF"/>
                          </a:solidFill>
                          <a:latin typeface="Helvetica Neue"/>
                          <a:ea typeface="Helvetica Neue"/>
                          <a:cs typeface="Helvetica Neue"/>
                        </a:rPr>
                        <a:t>Task</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Single</a:t>
                      </a:r>
                    </a:p>
                  </a:txBody>
                  <a:tcPr marL="152400" marR="114300" marT="66675" marB="66675" anchor="ctr">
                    <a:solidFill>
                      <a:srgbClr val="17283D"/>
                    </a:solidFill>
                  </a:tcPr>
                </a:tc>
                <a:tc>
                  <a:txBody>
                    <a:bodyPr>
                      <a:noAutofit/>
                    </a:bodyPr>
                    <a:lstStyle/>
                    <a:p>
                      <a:pPr algn="l"/>
                      <a:r>
                        <a:rPr sz="1650" b="1">
                          <a:solidFill>
                            <a:srgbClr val="FFFFFF"/>
                          </a:solidFill>
                          <a:latin typeface="Helvetica Neue"/>
                          <a:ea typeface="Helvetica Neue"/>
                          <a:cs typeface="Helvetica Neue"/>
                        </a:rPr>
                        <a:t>Graph</a:t>
                      </a:r>
                    </a:p>
                  </a:txBody>
                  <a:tcPr marL="152400" marR="114300" marT="66675" marB="66675" anchor="ctr">
                    <a:solidFill>
                      <a:srgbClr val="17283D"/>
                    </a:solidFill>
                  </a:tcPr>
                </a:tc>
              </a:tr>
              <a:tr h="476250">
                <a:tc>
                  <a:txBody>
                    <a:bodyPr>
                      <a:noAutofit/>
                    </a:bodyPr>
                    <a:lstStyle/>
                    <a:p>
                      <a:pPr algn="l"/>
                      <a:r>
                        <a:rPr sz="1725" b="0">
                          <a:solidFill>
                            <a:srgbClr val="17283D"/>
                          </a:solidFill>
                          <a:latin typeface="Helvetica Neue"/>
                          <a:ea typeface="Helvetica Neue"/>
                          <a:cs typeface="Helvetica Neue"/>
                        </a:rPr>
                        <a:t>cachetools 57d2e48</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P/P/F</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tinydb #616</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python-dotenv #640</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tenacity #628</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r h="476250">
                <a:tc>
                  <a:txBody>
                    <a:bodyPr>
                      <a:noAutofit/>
                    </a:bodyPr>
                    <a:lstStyle/>
                    <a:p>
                      <a:pPr algn="l"/>
                      <a:r>
                        <a:rPr sz="1725" b="0">
                          <a:solidFill>
                            <a:srgbClr val="17283D"/>
                          </a:solidFill>
                          <a:latin typeface="Helvetica Neue"/>
                          <a:ea typeface="Helvetica Neue"/>
                          <a:cs typeface="Helvetica Neue"/>
                        </a:rPr>
                        <a:t>freezegun #546</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FFFFFF"/>
                    </a:solidFill>
                  </a:tcPr>
                </a:tc>
              </a:tr>
              <a:tr h="476250">
                <a:tc>
                  <a:txBody>
                    <a:bodyPr>
                      <a:noAutofit/>
                    </a:bodyPr>
                    <a:lstStyle/>
                    <a:p>
                      <a:pPr algn="l"/>
                      <a:r>
                        <a:rPr sz="1725" b="0">
                          <a:solidFill>
                            <a:srgbClr val="17283D"/>
                          </a:solidFill>
                          <a:latin typeface="Helvetica Neue"/>
                          <a:ea typeface="Helvetica Neue"/>
                          <a:cs typeface="Helvetica Neue"/>
                        </a:rPr>
                        <a:t>croniter #235</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c>
                  <a:txBody>
                    <a:bodyPr>
                      <a:noAutofit/>
                    </a:bodyPr>
                    <a:lstStyle/>
                    <a:p>
                      <a:pPr algn="l"/>
                      <a:r>
                        <a:rPr sz="1725" b="0">
                          <a:solidFill>
                            <a:srgbClr val="17283D"/>
                          </a:solidFill>
                          <a:latin typeface="Helvetica Neue"/>
                          <a:ea typeface="Helvetica Neue"/>
                          <a:cs typeface="Helvetica Neue"/>
                        </a:rPr>
                        <a:t>P/P/P</a:t>
                      </a:r>
                    </a:p>
                  </a:txBody>
                  <a:tcPr marL="152400" marR="114300" marT="66675" marB="66675" anchor="ctr">
                    <a:solidFill>
                      <a:srgbClr val="EFF2F6"/>
                    </a:solidFill>
                  </a:tcPr>
                </a:tc>
              </a:tr>
            </a:tbl>
          </a:graphicData>
        </a:graphic>
      </p:graphicFrame>
      <p:sp>
        <p:nvSpPr>
          <p:cNvPr id="7" name="text-4">
            <a:extLst xmlns:a="http://schemas.openxmlformats.org/drawingml/2006/main">
              <a:ext uri="{FF2B5EF4-FFF2-40B4-BE49-F238E27FC236}">
                <a16:creationId xmlns:a16="http://schemas.microsoft.com/office/drawing/2014/main" id="{446A4B0E-83DA-4F41-86BF-A46FE565534E}"/>
              </a:ext>
            </a:extLst>
          </p:cNvPr>
          <p:cNvSpPr>
            <a:spLocks xmlns:a="http://schemas.openxmlformats.org/drawingml/2006/main" noGrp="1"/>
          </p:cNvSpPr>
          <p:nvPr/>
        </p:nvSpPr>
        <p:spPr>
          <a:xfrm xmlns:a="http://schemas.openxmlformats.org/drawingml/2006/main">
            <a:off x="685800" y="58293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Helvetica Neue"/>
                <a:ea typeface="Helvetica Neue"/>
                <a:cs typeface="Helvetica Neue"/>
              </a:defRPr>
            </a:pPr>
            <a:r>
              <a:rPr sz="1800" b="0">
                <a:solidFill>
                  <a:srgbClr val="516174"/>
                </a:solidFill>
                <a:latin typeface="Helvetica Neue"/>
                <a:ea typeface="Helvetica Neue"/>
                <a:cs typeface="Helvetica Neue"/>
              </a:rPr>
              <a:t>P = required evaluation passed. F = final task failure.</a:t>
            </a:r>
          </a:p>
        </p:txBody>
      </p:sp>
    </p:spTree>
    <p:extLst>
      <p:ext uri="{BB962C8B-B14F-4D97-AF65-F5344CB8AC3E}">
        <p14:creationId xmlns:p14="http://schemas.microsoft.com/office/powerpoint/2010/main" val="389798119"/>
      </p:ext>
    </p:extLst>
  </p:cSld>
</p:sld>
</file>

<file path=ppt/theme/theme1.xml><?xml version="1.0" encoding="utf-8"?>
<a:theme xmlns:a="http://schemas.openxmlformats.org/drawingml/2006/main" name="ChatGPT">
  <a:themeElements>
    <a:clrScheme name="Research">
      <a:dk1>
        <a:srgbClr val="000000"/>
      </a:dk1>
      <a:lt1>
        <a:srgbClr val="FFFFFF"/>
      </a:lt1>
      <a:dk2>
        <a:srgbClr val="14243A"/>
      </a:dk2>
      <a:lt2>
        <a:srgbClr val="DCE2E9"/>
      </a:lt2>
      <a:accent1>
        <a:srgbClr val="2468C9"/>
      </a:accent1>
      <a:accent2>
        <a:srgbClr val="D27820"/>
      </a:accent2>
      <a:accent3>
        <a:srgbClr val="147D75"/>
      </a:accent3>
      <a:accent4>
        <a:srgbClr val="A44D51"/>
      </a:accent4>
      <a:accent5>
        <a:srgbClr val="705DA6"/>
      </a:accent5>
      <a:accent6>
        <a:srgbClr val="8093A8"/>
      </a:accent6>
      <a:hlink>
        <a:srgbClr val="2468C9"/>
      </a:hlink>
      <a:folHlink>
        <a:srgbClr val="705DA6"/>
      </a:folHlink>
    </a:clrScheme>
    <a:fontScheme name="Office">
      <a:majorFont>
        <a:latin typeface="Calibri Light"/>
        <a:ea typeface="Calibri Light"/>
        <a:cs typeface="Calibri Light"/>
      </a:majorFont>
      <a:minorFont>
        <a:latin typeface="Calibri"/>
        <a:ea typeface="Calibri"/>
        <a:cs typeface="Calibri"/>
      </a:minorFont>
    </a:fontScheme>
    <a:fmtScheme name="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2026-09-05T06:55:26.0870000Z</dcterms:created>
  <dcterms:modified xsi:type="dcterms:W3CDTF">2026-09-05T06:55:26.0870000Z</dcterms:modified>
</coreProperties>
</file>